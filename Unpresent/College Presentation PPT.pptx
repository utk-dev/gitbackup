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05" r:id="rId1"/>
  </p:sldMasterIdLst>
  <p:notesMasterIdLst>
    <p:notesMasterId r:id="rId31"/>
  </p:notesMasterIdLst>
  <p:sldIdLst>
    <p:sldId id="256" r:id="rId2"/>
    <p:sldId id="257" r:id="rId3"/>
    <p:sldId id="261" r:id="rId4"/>
    <p:sldId id="262" r:id="rId5"/>
    <p:sldId id="263" r:id="rId6"/>
    <p:sldId id="264" r:id="rId7"/>
    <p:sldId id="265" r:id="rId8"/>
    <p:sldId id="267" r:id="rId9"/>
    <p:sldId id="290" r:id="rId10"/>
    <p:sldId id="268" r:id="rId11"/>
    <p:sldId id="269" r:id="rId12"/>
    <p:sldId id="271" r:id="rId13"/>
    <p:sldId id="273" r:id="rId14"/>
    <p:sldId id="270" r:id="rId15"/>
    <p:sldId id="272" r:id="rId16"/>
    <p:sldId id="274" r:id="rId17"/>
    <p:sldId id="275" r:id="rId18"/>
    <p:sldId id="276" r:id="rId19"/>
    <p:sldId id="277" r:id="rId20"/>
    <p:sldId id="278" r:id="rId21"/>
    <p:sldId id="279" r:id="rId22"/>
    <p:sldId id="280" r:id="rId23"/>
    <p:sldId id="281" r:id="rId24"/>
    <p:sldId id="282" r:id="rId25"/>
    <p:sldId id="284" r:id="rId26"/>
    <p:sldId id="286" r:id="rId27"/>
    <p:sldId id="287" r:id="rId28"/>
    <p:sldId id="288" r:id="rId29"/>
    <p:sldId id="289" r:id="rId30"/>
  </p:sldIdLst>
  <p:sldSz cx="12192000" cy="6858000"/>
  <p:notesSz cx="7315200" cy="12344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23047"/>
    <a:srgbClr val="219EBC"/>
    <a:srgbClr val="FB8500"/>
    <a:srgbClr val="FFB703"/>
    <a:srgbClr val="8ECA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0637" autoAdjust="0"/>
  </p:normalViewPr>
  <p:slideViewPr>
    <p:cSldViewPr snapToGrid="0">
      <p:cViewPr varScale="1">
        <p:scale>
          <a:sx n="78" d="100"/>
          <a:sy n="78" d="100"/>
        </p:scale>
        <p:origin x="87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619363"/>
          </a:xfrm>
          <a:prstGeom prst="rect">
            <a:avLst/>
          </a:prstGeom>
        </p:spPr>
        <p:txBody>
          <a:bodyPr vert="horz" lIns="96661" tIns="48331" rIns="96661" bIns="48331" rtlCol="0"/>
          <a:lstStyle>
            <a:lvl1pPr algn="l">
              <a:defRPr sz="1300"/>
            </a:lvl1pPr>
          </a:lstStyle>
          <a:p>
            <a:endParaRPr lang="en-IN"/>
          </a:p>
        </p:txBody>
      </p:sp>
      <p:sp>
        <p:nvSpPr>
          <p:cNvPr id="3" name="Date Placeholder 2"/>
          <p:cNvSpPr>
            <a:spLocks noGrp="1"/>
          </p:cNvSpPr>
          <p:nvPr>
            <p:ph type="dt" idx="1"/>
          </p:nvPr>
        </p:nvSpPr>
        <p:spPr>
          <a:xfrm>
            <a:off x="4143587" y="1"/>
            <a:ext cx="3169920" cy="619363"/>
          </a:xfrm>
          <a:prstGeom prst="rect">
            <a:avLst/>
          </a:prstGeom>
        </p:spPr>
        <p:txBody>
          <a:bodyPr vert="horz" lIns="96661" tIns="48331" rIns="96661" bIns="48331" rtlCol="0"/>
          <a:lstStyle>
            <a:lvl1pPr algn="r">
              <a:defRPr sz="1300"/>
            </a:lvl1pPr>
          </a:lstStyle>
          <a:p>
            <a:fld id="{7BECF176-D9D8-493F-BD7B-01C4FA1EC7A1}" type="datetimeFigureOut">
              <a:rPr lang="en-IN" smtClean="0"/>
              <a:t>07-05-2022</a:t>
            </a:fld>
            <a:endParaRPr lang="en-IN"/>
          </a:p>
        </p:txBody>
      </p:sp>
      <p:sp>
        <p:nvSpPr>
          <p:cNvPr id="4" name="Slide Image Placeholder 3"/>
          <p:cNvSpPr>
            <a:spLocks noGrp="1" noRot="1" noChangeAspect="1"/>
          </p:cNvSpPr>
          <p:nvPr>
            <p:ph type="sldImg" idx="2"/>
          </p:nvPr>
        </p:nvSpPr>
        <p:spPr>
          <a:xfrm>
            <a:off x="-44450" y="1543050"/>
            <a:ext cx="7404100" cy="4165600"/>
          </a:xfrm>
          <a:prstGeom prst="rect">
            <a:avLst/>
          </a:prstGeom>
          <a:noFill/>
          <a:ln w="12700">
            <a:solidFill>
              <a:prstClr val="black"/>
            </a:solidFill>
          </a:ln>
        </p:spPr>
        <p:txBody>
          <a:bodyPr vert="horz" lIns="96661" tIns="48331" rIns="96661" bIns="48331" rtlCol="0" anchor="ctr"/>
          <a:lstStyle/>
          <a:p>
            <a:endParaRPr lang="en-IN"/>
          </a:p>
        </p:txBody>
      </p:sp>
      <p:sp>
        <p:nvSpPr>
          <p:cNvPr id="5" name="Notes Placeholder 4"/>
          <p:cNvSpPr>
            <a:spLocks noGrp="1"/>
          </p:cNvSpPr>
          <p:nvPr>
            <p:ph type="body" sz="quarter" idx="3"/>
          </p:nvPr>
        </p:nvSpPr>
        <p:spPr>
          <a:xfrm>
            <a:off x="731520" y="5940743"/>
            <a:ext cx="5852160" cy="4860608"/>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11725038"/>
            <a:ext cx="3169920" cy="619362"/>
          </a:xfrm>
          <a:prstGeom prst="rect">
            <a:avLst/>
          </a:prstGeom>
        </p:spPr>
        <p:txBody>
          <a:bodyPr vert="horz" lIns="96661" tIns="48331" rIns="96661" bIns="48331" rtlCol="0" anchor="b"/>
          <a:lstStyle>
            <a:lvl1pPr algn="l">
              <a:defRPr sz="1300"/>
            </a:lvl1pPr>
          </a:lstStyle>
          <a:p>
            <a:endParaRPr lang="en-IN"/>
          </a:p>
        </p:txBody>
      </p:sp>
      <p:sp>
        <p:nvSpPr>
          <p:cNvPr id="7" name="Slide Number Placeholder 6"/>
          <p:cNvSpPr>
            <a:spLocks noGrp="1"/>
          </p:cNvSpPr>
          <p:nvPr>
            <p:ph type="sldNum" sz="quarter" idx="5"/>
          </p:nvPr>
        </p:nvSpPr>
        <p:spPr>
          <a:xfrm>
            <a:off x="4143587" y="11725038"/>
            <a:ext cx="3169920" cy="619362"/>
          </a:xfrm>
          <a:prstGeom prst="rect">
            <a:avLst/>
          </a:prstGeom>
        </p:spPr>
        <p:txBody>
          <a:bodyPr vert="horz" lIns="96661" tIns="48331" rIns="96661" bIns="48331" rtlCol="0" anchor="b"/>
          <a:lstStyle>
            <a:lvl1pPr algn="r">
              <a:defRPr sz="1300"/>
            </a:lvl1pPr>
          </a:lstStyle>
          <a:p>
            <a:fld id="{901FF5B7-121C-4E64-9301-0370C3E1FD3E}" type="slidenum">
              <a:rPr lang="en-IN" smtClean="0"/>
              <a:t>‹#›</a:t>
            </a:fld>
            <a:endParaRPr lang="en-IN"/>
          </a:p>
        </p:txBody>
      </p:sp>
    </p:spTree>
    <p:extLst>
      <p:ext uri="{BB962C8B-B14F-4D97-AF65-F5344CB8AC3E}">
        <p14:creationId xmlns:p14="http://schemas.microsoft.com/office/powerpoint/2010/main" val="29623112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morning/afternoon/evening! I am pleased to present my major project for 6</a:t>
            </a:r>
            <a:r>
              <a:rPr lang="en-US" baseline="30000" dirty="0"/>
              <a:t>th</a:t>
            </a:r>
            <a:r>
              <a:rPr lang="en-US" dirty="0"/>
              <a:t> semester, titled Certificate Generator. This is a part of my internship at Truminds Software Systems for past 5 months.</a:t>
            </a:r>
            <a:endParaRPr lang="en-IN" dirty="0"/>
          </a:p>
        </p:txBody>
      </p:sp>
      <p:sp>
        <p:nvSpPr>
          <p:cNvPr id="4" name="Slide Number Placeholder 3"/>
          <p:cNvSpPr>
            <a:spLocks noGrp="1"/>
          </p:cNvSpPr>
          <p:nvPr>
            <p:ph type="sldNum" sz="quarter" idx="5"/>
          </p:nvPr>
        </p:nvSpPr>
        <p:spPr/>
        <p:txBody>
          <a:bodyPr/>
          <a:lstStyle/>
          <a:p>
            <a:fld id="{901FF5B7-121C-4E64-9301-0370C3E1FD3E}" type="slidenum">
              <a:rPr lang="en-IN" smtClean="0"/>
              <a:t>1</a:t>
            </a:fld>
            <a:endParaRPr lang="en-IN"/>
          </a:p>
        </p:txBody>
      </p:sp>
    </p:spTree>
    <p:extLst>
      <p:ext uri="{BB962C8B-B14F-4D97-AF65-F5344CB8AC3E}">
        <p14:creationId xmlns:p14="http://schemas.microsoft.com/office/powerpoint/2010/main" val="15181250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 briefly talk about our company. We are mostly a Business-to-Business company and we make Licensable Software of all kinds. Truminds specializes in </a:t>
            </a:r>
            <a:r>
              <a:rPr lang="en-US" dirty="0" err="1"/>
              <a:t>Netowkring</a:t>
            </a:r>
            <a:r>
              <a:rPr lang="en-US" dirty="0"/>
              <a:t>, Augmented Reality and Artificial Intelligence. Here are some of the types of software Truminds has made for its clients, which include some big names like Panasonic, Qualcomm, Ikea and Vodafone. My project is intended for internal use at Truminds, and it is about…..</a:t>
            </a:r>
            <a:endParaRPr lang="en-IN" dirty="0"/>
          </a:p>
        </p:txBody>
      </p:sp>
      <p:sp>
        <p:nvSpPr>
          <p:cNvPr id="4" name="Slide Number Placeholder 3"/>
          <p:cNvSpPr>
            <a:spLocks noGrp="1"/>
          </p:cNvSpPr>
          <p:nvPr>
            <p:ph type="sldNum" sz="quarter" idx="5"/>
          </p:nvPr>
        </p:nvSpPr>
        <p:spPr/>
        <p:txBody>
          <a:bodyPr/>
          <a:lstStyle/>
          <a:p>
            <a:fld id="{901FF5B7-121C-4E64-9301-0370C3E1FD3E}" type="slidenum">
              <a:rPr lang="en-IN" smtClean="0"/>
              <a:t>2</a:t>
            </a:fld>
            <a:endParaRPr lang="en-IN"/>
          </a:p>
        </p:txBody>
      </p:sp>
    </p:spTree>
    <p:extLst>
      <p:ext uri="{BB962C8B-B14F-4D97-AF65-F5344CB8AC3E}">
        <p14:creationId xmlns:p14="http://schemas.microsoft.com/office/powerpoint/2010/main" val="36678415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Digital Certificates. Let me give you a small example of what digital certificates are. There are two people, Smriti and Utkarsh. Utkarsh has Smriti’s signature and he trusts smriti.</a:t>
            </a:r>
            <a:endParaRPr lang="en-IN" dirty="0"/>
          </a:p>
        </p:txBody>
      </p:sp>
      <p:sp>
        <p:nvSpPr>
          <p:cNvPr id="4" name="Slide Number Placeholder 3"/>
          <p:cNvSpPr>
            <a:spLocks noGrp="1"/>
          </p:cNvSpPr>
          <p:nvPr>
            <p:ph type="sldNum" sz="quarter" idx="5"/>
          </p:nvPr>
        </p:nvSpPr>
        <p:spPr/>
        <p:txBody>
          <a:bodyPr/>
          <a:lstStyle/>
          <a:p>
            <a:fld id="{901FF5B7-121C-4E64-9301-0370C3E1FD3E}" type="slidenum">
              <a:rPr lang="en-IN" smtClean="0"/>
              <a:t>3</a:t>
            </a:fld>
            <a:endParaRPr lang="en-IN"/>
          </a:p>
        </p:txBody>
      </p:sp>
    </p:spTree>
    <p:extLst>
      <p:ext uri="{BB962C8B-B14F-4D97-AF65-F5344CB8AC3E}">
        <p14:creationId xmlns:p14="http://schemas.microsoft.com/office/powerpoint/2010/main" val="10384219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someone by the name of Hero comes along and says “Hello Utkarsh! I am Saurabh”, naturally, utkarsh will reply with:</a:t>
            </a:r>
            <a:endParaRPr lang="en-IN" dirty="0"/>
          </a:p>
        </p:txBody>
      </p:sp>
      <p:sp>
        <p:nvSpPr>
          <p:cNvPr id="4" name="Slide Number Placeholder 3"/>
          <p:cNvSpPr>
            <a:spLocks noGrp="1"/>
          </p:cNvSpPr>
          <p:nvPr>
            <p:ph type="sldNum" sz="quarter" idx="5"/>
          </p:nvPr>
        </p:nvSpPr>
        <p:spPr/>
        <p:txBody>
          <a:bodyPr/>
          <a:lstStyle/>
          <a:p>
            <a:fld id="{901FF5B7-121C-4E64-9301-0370C3E1FD3E}" type="slidenum">
              <a:rPr lang="en-IN" smtClean="0"/>
              <a:t>4</a:t>
            </a:fld>
            <a:endParaRPr lang="en-IN"/>
          </a:p>
        </p:txBody>
      </p:sp>
    </p:spTree>
    <p:extLst>
      <p:ext uri="{BB962C8B-B14F-4D97-AF65-F5344CB8AC3E}">
        <p14:creationId xmlns:p14="http://schemas.microsoft.com/office/powerpoint/2010/main" val="9156741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don’t trust you!</a:t>
            </a:r>
            <a:endParaRPr lang="en-IN" dirty="0"/>
          </a:p>
        </p:txBody>
      </p:sp>
      <p:sp>
        <p:nvSpPr>
          <p:cNvPr id="4" name="Slide Number Placeholder 3"/>
          <p:cNvSpPr>
            <a:spLocks noGrp="1"/>
          </p:cNvSpPr>
          <p:nvPr>
            <p:ph type="sldNum" sz="quarter" idx="5"/>
          </p:nvPr>
        </p:nvSpPr>
        <p:spPr/>
        <p:txBody>
          <a:bodyPr/>
          <a:lstStyle/>
          <a:p>
            <a:fld id="{901FF5B7-121C-4E64-9301-0370C3E1FD3E}" type="slidenum">
              <a:rPr lang="en-IN" smtClean="0"/>
              <a:t>5</a:t>
            </a:fld>
            <a:endParaRPr lang="en-IN"/>
          </a:p>
        </p:txBody>
      </p:sp>
    </p:spTree>
    <p:extLst>
      <p:ext uri="{BB962C8B-B14F-4D97-AF65-F5344CB8AC3E}">
        <p14:creationId xmlns:p14="http://schemas.microsoft.com/office/powerpoint/2010/main" val="22065296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Saurabh hands over a certificate to utkarsh and says that smriti signed this certificate and it says that Hero is the real Saurabh.</a:t>
            </a:r>
            <a:endParaRPr lang="en-IN" dirty="0"/>
          </a:p>
        </p:txBody>
      </p:sp>
      <p:sp>
        <p:nvSpPr>
          <p:cNvPr id="4" name="Slide Number Placeholder 3"/>
          <p:cNvSpPr>
            <a:spLocks noGrp="1"/>
          </p:cNvSpPr>
          <p:nvPr>
            <p:ph type="sldNum" sz="quarter" idx="5"/>
          </p:nvPr>
        </p:nvSpPr>
        <p:spPr/>
        <p:txBody>
          <a:bodyPr/>
          <a:lstStyle/>
          <a:p>
            <a:fld id="{901FF5B7-121C-4E64-9301-0370C3E1FD3E}" type="slidenum">
              <a:rPr lang="en-IN" smtClean="0"/>
              <a:t>6</a:t>
            </a:fld>
            <a:endParaRPr lang="en-IN"/>
          </a:p>
        </p:txBody>
      </p:sp>
    </p:spTree>
    <p:extLst>
      <p:ext uri="{BB962C8B-B14F-4D97-AF65-F5344CB8AC3E}">
        <p14:creationId xmlns:p14="http://schemas.microsoft.com/office/powerpoint/2010/main" val="25278230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Utkarsh now takes that certificate and compares its signature with the one he has.</a:t>
            </a:r>
            <a:endParaRPr lang="en-IN" dirty="0"/>
          </a:p>
        </p:txBody>
      </p:sp>
      <p:sp>
        <p:nvSpPr>
          <p:cNvPr id="4" name="Slide Number Placeholder 3"/>
          <p:cNvSpPr>
            <a:spLocks noGrp="1"/>
          </p:cNvSpPr>
          <p:nvPr>
            <p:ph type="sldNum" sz="quarter" idx="5"/>
          </p:nvPr>
        </p:nvSpPr>
        <p:spPr/>
        <p:txBody>
          <a:bodyPr/>
          <a:lstStyle/>
          <a:p>
            <a:fld id="{901FF5B7-121C-4E64-9301-0370C3E1FD3E}" type="slidenum">
              <a:rPr lang="en-IN" smtClean="0"/>
              <a:t>7</a:t>
            </a:fld>
            <a:endParaRPr lang="en-IN"/>
          </a:p>
        </p:txBody>
      </p:sp>
    </p:spTree>
    <p:extLst>
      <p:ext uri="{BB962C8B-B14F-4D97-AF65-F5344CB8AC3E}">
        <p14:creationId xmlns:p14="http://schemas.microsoft.com/office/powerpoint/2010/main" val="24040848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 concludes that the signatures match and since he trusts smriti he now also trusts this certificate, which means, this guy is indeed Saurabh. And that is more or less how digital certificates work.</a:t>
            </a:r>
            <a:endParaRPr lang="en-IN" dirty="0"/>
          </a:p>
        </p:txBody>
      </p:sp>
      <p:sp>
        <p:nvSpPr>
          <p:cNvPr id="4" name="Slide Number Placeholder 3"/>
          <p:cNvSpPr>
            <a:spLocks noGrp="1"/>
          </p:cNvSpPr>
          <p:nvPr>
            <p:ph type="sldNum" sz="quarter" idx="5"/>
          </p:nvPr>
        </p:nvSpPr>
        <p:spPr/>
        <p:txBody>
          <a:bodyPr/>
          <a:lstStyle/>
          <a:p>
            <a:fld id="{901FF5B7-121C-4E64-9301-0370C3E1FD3E}" type="slidenum">
              <a:rPr lang="en-IN" smtClean="0"/>
              <a:t>8</a:t>
            </a:fld>
            <a:endParaRPr lang="en-IN"/>
          </a:p>
        </p:txBody>
      </p:sp>
    </p:spTree>
    <p:extLst>
      <p:ext uri="{BB962C8B-B14F-4D97-AF65-F5344CB8AC3E}">
        <p14:creationId xmlns:p14="http://schemas.microsoft.com/office/powerpoint/2010/main" val="27595208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They are a document that identifies a person or a website or whatever the certificate has been issued to. The signature is just a metaphor. Nobody is scribbling down with a pen anywhere. They are actually a pair of encryption keys, aptly known as a private &amp; a public key. There is no concept of forging a signature and “pretending” to be someone else. You can’t sign a certificate pretending to be someone if you don’t have their private key.</a:t>
            </a:r>
            <a:endParaRPr lang="en-IN" dirty="0"/>
          </a:p>
        </p:txBody>
      </p:sp>
      <p:sp>
        <p:nvSpPr>
          <p:cNvPr id="4" name="Slide Number Placeholder 3"/>
          <p:cNvSpPr>
            <a:spLocks noGrp="1"/>
          </p:cNvSpPr>
          <p:nvPr>
            <p:ph type="sldNum" sz="quarter" idx="5"/>
          </p:nvPr>
        </p:nvSpPr>
        <p:spPr/>
        <p:txBody>
          <a:bodyPr/>
          <a:lstStyle/>
          <a:p>
            <a:fld id="{901FF5B7-121C-4E64-9301-0370C3E1FD3E}" type="slidenum">
              <a:rPr lang="en-IN" smtClean="0"/>
              <a:t>9</a:t>
            </a:fld>
            <a:endParaRPr lang="en-IN"/>
          </a:p>
        </p:txBody>
      </p:sp>
    </p:spTree>
    <p:extLst>
      <p:ext uri="{BB962C8B-B14F-4D97-AF65-F5344CB8AC3E}">
        <p14:creationId xmlns:p14="http://schemas.microsoft.com/office/powerpoint/2010/main" val="6953320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project aims to make the process of creating and singing certificates easy by default and customizable if required.</a:t>
            </a:r>
            <a:endParaRPr lang="en-IN" dirty="0"/>
          </a:p>
        </p:txBody>
      </p:sp>
      <p:sp>
        <p:nvSpPr>
          <p:cNvPr id="4" name="Slide Number Placeholder 3"/>
          <p:cNvSpPr>
            <a:spLocks noGrp="1"/>
          </p:cNvSpPr>
          <p:nvPr>
            <p:ph type="sldNum" sz="quarter" idx="5"/>
          </p:nvPr>
        </p:nvSpPr>
        <p:spPr/>
        <p:txBody>
          <a:bodyPr/>
          <a:lstStyle/>
          <a:p>
            <a:fld id="{901FF5B7-121C-4E64-9301-0370C3E1FD3E}" type="slidenum">
              <a:rPr lang="en-IN" smtClean="0"/>
              <a:t>10</a:t>
            </a:fld>
            <a:endParaRPr lang="en-IN"/>
          </a:p>
        </p:txBody>
      </p:sp>
    </p:spTree>
    <p:extLst>
      <p:ext uri="{BB962C8B-B14F-4D97-AF65-F5344CB8AC3E}">
        <p14:creationId xmlns:p14="http://schemas.microsoft.com/office/powerpoint/2010/main" val="32800704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a collection of three toolsets – A graphical UI, A console program and a python library that allows people of all skill levels to easily create &amp; sign digital certificates. Speaking of skill levels, that is how we started with the development of this software.</a:t>
            </a:r>
            <a:endParaRPr lang="en-IN" dirty="0"/>
          </a:p>
        </p:txBody>
      </p:sp>
      <p:sp>
        <p:nvSpPr>
          <p:cNvPr id="4" name="Slide Number Placeholder 3"/>
          <p:cNvSpPr>
            <a:spLocks noGrp="1"/>
          </p:cNvSpPr>
          <p:nvPr>
            <p:ph type="sldNum" sz="quarter" idx="5"/>
          </p:nvPr>
        </p:nvSpPr>
        <p:spPr/>
        <p:txBody>
          <a:bodyPr/>
          <a:lstStyle/>
          <a:p>
            <a:fld id="{901FF5B7-121C-4E64-9301-0370C3E1FD3E}" type="slidenum">
              <a:rPr lang="en-IN" smtClean="0"/>
              <a:t>11</a:t>
            </a:fld>
            <a:endParaRPr lang="en-IN"/>
          </a:p>
        </p:txBody>
      </p:sp>
    </p:spTree>
    <p:extLst>
      <p:ext uri="{BB962C8B-B14F-4D97-AF65-F5344CB8AC3E}">
        <p14:creationId xmlns:p14="http://schemas.microsoft.com/office/powerpoint/2010/main" val="35380106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sat down with a senior executive who has not studied any computer science and just wants an easy way to sign certificates, a project manager who knows shell scripting and might need to sign a large number of certificates at once and a backend developer who might want to include these features into his own application and can do with as much customization as possible, and listed all their requirements. </a:t>
            </a:r>
            <a:r>
              <a:rPr lang="en-IN" dirty="0"/>
              <a:t>We further broke down all these requirements into small tasks with one person responsible for each task.</a:t>
            </a:r>
            <a:endParaRPr lang="en-US" dirty="0"/>
          </a:p>
        </p:txBody>
      </p:sp>
      <p:sp>
        <p:nvSpPr>
          <p:cNvPr id="4" name="Slide Number Placeholder 3"/>
          <p:cNvSpPr>
            <a:spLocks noGrp="1"/>
          </p:cNvSpPr>
          <p:nvPr>
            <p:ph type="sldNum" sz="quarter" idx="5"/>
          </p:nvPr>
        </p:nvSpPr>
        <p:spPr/>
        <p:txBody>
          <a:bodyPr/>
          <a:lstStyle/>
          <a:p>
            <a:fld id="{901FF5B7-121C-4E64-9301-0370C3E1FD3E}" type="slidenum">
              <a:rPr lang="en-IN" smtClean="0"/>
              <a:t>12</a:t>
            </a:fld>
            <a:endParaRPr lang="en-IN"/>
          </a:p>
        </p:txBody>
      </p:sp>
    </p:spTree>
    <p:extLst>
      <p:ext uri="{BB962C8B-B14F-4D97-AF65-F5344CB8AC3E}">
        <p14:creationId xmlns:p14="http://schemas.microsoft.com/office/powerpoint/2010/main" val="28175498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since Truminds is an “Agile Company”, we divided all those tasks into sprints, where each sprint lasts about 2 weeks and results in some meaningful work. Each sprint involves the whole development cycle – planning, coding and testing – all of it. </a:t>
            </a:r>
            <a:endParaRPr lang="en-IN" dirty="0"/>
          </a:p>
        </p:txBody>
      </p:sp>
      <p:sp>
        <p:nvSpPr>
          <p:cNvPr id="4" name="Slide Number Placeholder 3"/>
          <p:cNvSpPr>
            <a:spLocks noGrp="1"/>
          </p:cNvSpPr>
          <p:nvPr>
            <p:ph type="sldNum" sz="quarter" idx="5"/>
          </p:nvPr>
        </p:nvSpPr>
        <p:spPr/>
        <p:txBody>
          <a:bodyPr/>
          <a:lstStyle/>
          <a:p>
            <a:fld id="{901FF5B7-121C-4E64-9301-0370C3E1FD3E}" type="slidenum">
              <a:rPr lang="en-IN" smtClean="0"/>
              <a:t>13</a:t>
            </a:fld>
            <a:endParaRPr lang="en-IN"/>
          </a:p>
        </p:txBody>
      </p:sp>
    </p:spTree>
    <p:extLst>
      <p:ext uri="{BB962C8B-B14F-4D97-AF65-F5344CB8AC3E}">
        <p14:creationId xmlns:p14="http://schemas.microsoft.com/office/powerpoint/2010/main" val="34551375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also tracked the progress of each task using a Kanban board to make sure we’re not stuck somewhere. A Kanban board is made up of columns representing the state of the tasks - a card moves from first to the last column throughout its cycle. The project is considered complete when all cards have reached the “DONE” column.</a:t>
            </a:r>
            <a:endParaRPr lang="en-IN" dirty="0"/>
          </a:p>
        </p:txBody>
      </p:sp>
      <p:sp>
        <p:nvSpPr>
          <p:cNvPr id="4" name="Slide Number Placeholder 3"/>
          <p:cNvSpPr>
            <a:spLocks noGrp="1"/>
          </p:cNvSpPr>
          <p:nvPr>
            <p:ph type="sldNum" sz="quarter" idx="5"/>
          </p:nvPr>
        </p:nvSpPr>
        <p:spPr/>
        <p:txBody>
          <a:bodyPr/>
          <a:lstStyle/>
          <a:p>
            <a:fld id="{901FF5B7-121C-4E64-9301-0370C3E1FD3E}" type="slidenum">
              <a:rPr lang="en-IN" smtClean="0"/>
              <a:t>14</a:t>
            </a:fld>
            <a:endParaRPr lang="en-IN"/>
          </a:p>
        </p:txBody>
      </p:sp>
    </p:spTree>
    <p:extLst>
      <p:ext uri="{BB962C8B-B14F-4D97-AF65-F5344CB8AC3E}">
        <p14:creationId xmlns:p14="http://schemas.microsoft.com/office/powerpoint/2010/main" val="16657943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important task was coming up with a modular architecture of the application. Our system is divided into fairly independent components. The CLI and GUI are the primary ways to use Certificate Generator. Logger simply logs any interesting events or errors so that if the user finds a bug, they can send us this log file and we’ll know what went wrong.</a:t>
            </a:r>
            <a:endParaRPr lang="en-IN" dirty="0"/>
          </a:p>
        </p:txBody>
      </p:sp>
      <p:sp>
        <p:nvSpPr>
          <p:cNvPr id="4" name="Slide Number Placeholder 3"/>
          <p:cNvSpPr>
            <a:spLocks noGrp="1"/>
          </p:cNvSpPr>
          <p:nvPr>
            <p:ph type="sldNum" sz="quarter" idx="5"/>
          </p:nvPr>
        </p:nvSpPr>
        <p:spPr/>
        <p:txBody>
          <a:bodyPr/>
          <a:lstStyle/>
          <a:p>
            <a:fld id="{901FF5B7-121C-4E64-9301-0370C3E1FD3E}" type="slidenum">
              <a:rPr lang="en-IN" smtClean="0"/>
              <a:t>15</a:t>
            </a:fld>
            <a:endParaRPr lang="en-IN"/>
          </a:p>
        </p:txBody>
      </p:sp>
    </p:spTree>
    <p:extLst>
      <p:ext uri="{BB962C8B-B14F-4D97-AF65-F5344CB8AC3E}">
        <p14:creationId xmlns:p14="http://schemas.microsoft.com/office/powerpoint/2010/main" val="1839780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of the Core component, it is what drives the system. It interacts with the encryption algorithms, the x.509 loader – x.509 is the standard specification of a Digital Certificate and it also interacts with the file system to load certificates, keys and other things.</a:t>
            </a:r>
            <a:endParaRPr lang="en-IN" dirty="0"/>
          </a:p>
        </p:txBody>
      </p:sp>
      <p:sp>
        <p:nvSpPr>
          <p:cNvPr id="4" name="Slide Number Placeholder 3"/>
          <p:cNvSpPr>
            <a:spLocks noGrp="1"/>
          </p:cNvSpPr>
          <p:nvPr>
            <p:ph type="sldNum" sz="quarter" idx="5"/>
          </p:nvPr>
        </p:nvSpPr>
        <p:spPr/>
        <p:txBody>
          <a:bodyPr/>
          <a:lstStyle/>
          <a:p>
            <a:fld id="{901FF5B7-121C-4E64-9301-0370C3E1FD3E}" type="slidenum">
              <a:rPr lang="en-IN" smtClean="0"/>
              <a:t>16</a:t>
            </a:fld>
            <a:endParaRPr lang="en-IN"/>
          </a:p>
        </p:txBody>
      </p:sp>
    </p:spTree>
    <p:extLst>
      <p:ext uri="{BB962C8B-B14F-4D97-AF65-F5344CB8AC3E}">
        <p14:creationId xmlns:p14="http://schemas.microsoft.com/office/powerpoint/2010/main" val="15291418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Lastly, Core library has very primitive operations; the Common module abstracts some of this verbosity so that Console application and the Graphical application are easier to write.</a:t>
            </a:r>
            <a:endParaRPr lang="en-IN" dirty="0"/>
          </a:p>
        </p:txBody>
      </p:sp>
      <p:sp>
        <p:nvSpPr>
          <p:cNvPr id="4" name="Slide Number Placeholder 3"/>
          <p:cNvSpPr>
            <a:spLocks noGrp="1"/>
          </p:cNvSpPr>
          <p:nvPr>
            <p:ph type="sldNum" sz="quarter" idx="5"/>
          </p:nvPr>
        </p:nvSpPr>
        <p:spPr/>
        <p:txBody>
          <a:bodyPr/>
          <a:lstStyle/>
          <a:p>
            <a:fld id="{901FF5B7-121C-4E64-9301-0370C3E1FD3E}" type="slidenum">
              <a:rPr lang="en-IN" smtClean="0"/>
              <a:t>17</a:t>
            </a:fld>
            <a:endParaRPr lang="en-IN"/>
          </a:p>
        </p:txBody>
      </p:sp>
    </p:spTree>
    <p:extLst>
      <p:ext uri="{BB962C8B-B14F-4D97-AF65-F5344CB8AC3E}">
        <p14:creationId xmlns:p14="http://schemas.microsoft.com/office/powerpoint/2010/main" val="814796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of the implementation, of-course the software is closed source. But I can certainly discuss all the libraries that went into building it. Starting with </a:t>
            </a:r>
            <a:r>
              <a:rPr lang="en-US" dirty="0" err="1"/>
              <a:t>pyCA</a:t>
            </a:r>
            <a:r>
              <a:rPr lang="en-US" dirty="0"/>
              <a:t>/cryptography. It provides us encryption algorithms and methods to access X.509 certificates. However it is very low level, which requires us to build a proper object-oriented core library on top of it.</a:t>
            </a:r>
            <a:endParaRPr lang="en-IN" dirty="0"/>
          </a:p>
        </p:txBody>
      </p:sp>
      <p:sp>
        <p:nvSpPr>
          <p:cNvPr id="4" name="Slide Number Placeholder 3"/>
          <p:cNvSpPr>
            <a:spLocks noGrp="1"/>
          </p:cNvSpPr>
          <p:nvPr>
            <p:ph type="sldNum" sz="quarter" idx="5"/>
          </p:nvPr>
        </p:nvSpPr>
        <p:spPr/>
        <p:txBody>
          <a:bodyPr/>
          <a:lstStyle/>
          <a:p>
            <a:fld id="{901FF5B7-121C-4E64-9301-0370C3E1FD3E}" type="slidenum">
              <a:rPr lang="en-IN" smtClean="0"/>
              <a:t>18</a:t>
            </a:fld>
            <a:endParaRPr lang="en-IN"/>
          </a:p>
        </p:txBody>
      </p:sp>
    </p:spTree>
    <p:extLst>
      <p:ext uri="{BB962C8B-B14F-4D97-AF65-F5344CB8AC3E}">
        <p14:creationId xmlns:p14="http://schemas.microsoft.com/office/powerpoint/2010/main" val="10720801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CLI, we have </a:t>
            </a:r>
            <a:r>
              <a:rPr lang="en-US" dirty="0" err="1"/>
              <a:t>argparse</a:t>
            </a:r>
            <a:r>
              <a:rPr lang="en-US" dirty="0"/>
              <a:t> library, it takes a console command and returns the command-line arguments as values in a python dictionary.</a:t>
            </a:r>
            <a:endParaRPr lang="en-IN" dirty="0"/>
          </a:p>
        </p:txBody>
      </p:sp>
      <p:sp>
        <p:nvSpPr>
          <p:cNvPr id="4" name="Slide Number Placeholder 3"/>
          <p:cNvSpPr>
            <a:spLocks noGrp="1"/>
          </p:cNvSpPr>
          <p:nvPr>
            <p:ph type="sldNum" sz="quarter" idx="5"/>
          </p:nvPr>
        </p:nvSpPr>
        <p:spPr/>
        <p:txBody>
          <a:bodyPr/>
          <a:lstStyle/>
          <a:p>
            <a:fld id="{901FF5B7-121C-4E64-9301-0370C3E1FD3E}" type="slidenum">
              <a:rPr lang="en-IN" smtClean="0"/>
              <a:t>19</a:t>
            </a:fld>
            <a:endParaRPr lang="en-IN"/>
          </a:p>
        </p:txBody>
      </p:sp>
    </p:spTree>
    <p:extLst>
      <p:ext uri="{BB962C8B-B14F-4D97-AF65-F5344CB8AC3E}">
        <p14:creationId xmlns:p14="http://schemas.microsoft.com/office/powerpoint/2010/main" val="13555627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GUI, we are using </a:t>
            </a:r>
            <a:r>
              <a:rPr lang="en-US" dirty="0" err="1"/>
              <a:t>PySimpleGUI</a:t>
            </a:r>
            <a:r>
              <a:rPr lang="en-US" dirty="0"/>
              <a:t> due to its cross-platform nature. It also separates UI from behavior very well, which is something other python graphical libraries struggle to do.</a:t>
            </a:r>
            <a:endParaRPr lang="en-IN" dirty="0"/>
          </a:p>
        </p:txBody>
      </p:sp>
      <p:sp>
        <p:nvSpPr>
          <p:cNvPr id="4" name="Slide Number Placeholder 3"/>
          <p:cNvSpPr>
            <a:spLocks noGrp="1"/>
          </p:cNvSpPr>
          <p:nvPr>
            <p:ph type="sldNum" sz="quarter" idx="5"/>
          </p:nvPr>
        </p:nvSpPr>
        <p:spPr/>
        <p:txBody>
          <a:bodyPr/>
          <a:lstStyle/>
          <a:p>
            <a:fld id="{901FF5B7-121C-4E64-9301-0370C3E1FD3E}" type="slidenum">
              <a:rPr lang="en-IN" smtClean="0"/>
              <a:t>20</a:t>
            </a:fld>
            <a:endParaRPr lang="en-IN"/>
          </a:p>
        </p:txBody>
      </p:sp>
    </p:spTree>
    <p:extLst>
      <p:ext uri="{BB962C8B-B14F-4D97-AF65-F5344CB8AC3E}">
        <p14:creationId xmlns:p14="http://schemas.microsoft.com/office/powerpoint/2010/main" val="21318292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I’d like to showcase some important features of the software. A more comprehensive set of screenshots can be found in my project report. Our command-line tool is called “</a:t>
            </a:r>
            <a:r>
              <a:rPr lang="en-US" dirty="0" err="1"/>
              <a:t>certgen</a:t>
            </a:r>
            <a:r>
              <a:rPr lang="en-US" dirty="0"/>
              <a:t>”. </a:t>
            </a:r>
            <a:r>
              <a:rPr lang="en-US" dirty="0" err="1"/>
              <a:t>Certgen</a:t>
            </a:r>
            <a:r>
              <a:rPr lang="en-US" dirty="0"/>
              <a:t> has these useful --help commands which display everything that can be done via command-line.</a:t>
            </a:r>
            <a:endParaRPr lang="en-IN" dirty="0"/>
          </a:p>
        </p:txBody>
      </p:sp>
      <p:sp>
        <p:nvSpPr>
          <p:cNvPr id="4" name="Slide Number Placeholder 3"/>
          <p:cNvSpPr>
            <a:spLocks noGrp="1"/>
          </p:cNvSpPr>
          <p:nvPr>
            <p:ph type="sldNum" sz="quarter" idx="5"/>
          </p:nvPr>
        </p:nvSpPr>
        <p:spPr/>
        <p:txBody>
          <a:bodyPr/>
          <a:lstStyle/>
          <a:p>
            <a:fld id="{901FF5B7-121C-4E64-9301-0370C3E1FD3E}" type="slidenum">
              <a:rPr lang="en-IN" smtClean="0"/>
              <a:t>21</a:t>
            </a:fld>
            <a:endParaRPr lang="en-IN"/>
          </a:p>
        </p:txBody>
      </p:sp>
    </p:spTree>
    <p:extLst>
      <p:ext uri="{BB962C8B-B14F-4D97-AF65-F5344CB8AC3E}">
        <p14:creationId xmlns:p14="http://schemas.microsoft.com/office/powerpoint/2010/main" val="12816070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an example of help regarding signing certificates. We can notice that there are two ways of doing the same thing. Indeed that is correct.</a:t>
            </a:r>
            <a:endParaRPr lang="en-IN" dirty="0"/>
          </a:p>
        </p:txBody>
      </p:sp>
      <p:sp>
        <p:nvSpPr>
          <p:cNvPr id="4" name="Slide Number Placeholder 3"/>
          <p:cNvSpPr>
            <a:spLocks noGrp="1"/>
          </p:cNvSpPr>
          <p:nvPr>
            <p:ph type="sldNum" sz="quarter" idx="5"/>
          </p:nvPr>
        </p:nvSpPr>
        <p:spPr/>
        <p:txBody>
          <a:bodyPr/>
          <a:lstStyle/>
          <a:p>
            <a:fld id="{901FF5B7-121C-4E64-9301-0370C3E1FD3E}" type="slidenum">
              <a:rPr lang="en-IN" smtClean="0"/>
              <a:t>22</a:t>
            </a:fld>
            <a:endParaRPr lang="en-IN"/>
          </a:p>
        </p:txBody>
      </p:sp>
    </p:spTree>
    <p:extLst>
      <p:ext uri="{BB962C8B-B14F-4D97-AF65-F5344CB8AC3E}">
        <p14:creationId xmlns:p14="http://schemas.microsoft.com/office/powerpoint/2010/main" val="87054255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a long form and a short form for every command. CLI is very well documented because this is the most common use-case of our Certificate Generator.</a:t>
            </a:r>
            <a:endParaRPr lang="en-IN" dirty="0"/>
          </a:p>
        </p:txBody>
      </p:sp>
      <p:sp>
        <p:nvSpPr>
          <p:cNvPr id="4" name="Slide Number Placeholder 3"/>
          <p:cNvSpPr>
            <a:spLocks noGrp="1"/>
          </p:cNvSpPr>
          <p:nvPr>
            <p:ph type="sldNum" sz="quarter" idx="5"/>
          </p:nvPr>
        </p:nvSpPr>
        <p:spPr/>
        <p:txBody>
          <a:bodyPr/>
          <a:lstStyle/>
          <a:p>
            <a:fld id="{901FF5B7-121C-4E64-9301-0370C3E1FD3E}" type="slidenum">
              <a:rPr lang="en-IN" smtClean="0"/>
              <a:t>23</a:t>
            </a:fld>
            <a:endParaRPr lang="en-IN"/>
          </a:p>
        </p:txBody>
      </p:sp>
    </p:spTree>
    <p:extLst>
      <p:ext uri="{BB962C8B-B14F-4D97-AF65-F5344CB8AC3E}">
        <p14:creationId xmlns:p14="http://schemas.microsoft.com/office/powerpoint/2010/main" val="429256290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GUI is built to be as easy as possible. The development of GUI went through multiple iterations to arrive at this simple user interface. Say, I am a senior executive and I just want to sign a certificate, I will go ahead and click on “Sign a Certificate”.</a:t>
            </a:r>
            <a:endParaRPr lang="en-IN" dirty="0"/>
          </a:p>
        </p:txBody>
      </p:sp>
      <p:sp>
        <p:nvSpPr>
          <p:cNvPr id="4" name="Slide Number Placeholder 3"/>
          <p:cNvSpPr>
            <a:spLocks noGrp="1"/>
          </p:cNvSpPr>
          <p:nvPr>
            <p:ph type="sldNum" sz="quarter" idx="5"/>
          </p:nvPr>
        </p:nvSpPr>
        <p:spPr/>
        <p:txBody>
          <a:bodyPr/>
          <a:lstStyle/>
          <a:p>
            <a:fld id="{901FF5B7-121C-4E64-9301-0370C3E1FD3E}" type="slidenum">
              <a:rPr lang="en-IN" smtClean="0"/>
              <a:t>24</a:t>
            </a:fld>
            <a:endParaRPr lang="en-IN"/>
          </a:p>
        </p:txBody>
      </p:sp>
    </p:spTree>
    <p:extLst>
      <p:ext uri="{BB962C8B-B14F-4D97-AF65-F5344CB8AC3E}">
        <p14:creationId xmlns:p14="http://schemas.microsoft.com/office/powerpoint/2010/main" val="2353616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get this very simple to use window, telling me exactly what all things are required to sign a certificate. There are almost no customization options through the GUI for the sake of simplicity.</a:t>
            </a:r>
            <a:endParaRPr lang="en-IN" dirty="0"/>
          </a:p>
        </p:txBody>
      </p:sp>
      <p:sp>
        <p:nvSpPr>
          <p:cNvPr id="4" name="Slide Number Placeholder 3"/>
          <p:cNvSpPr>
            <a:spLocks noGrp="1"/>
          </p:cNvSpPr>
          <p:nvPr>
            <p:ph type="sldNum" sz="quarter" idx="5"/>
          </p:nvPr>
        </p:nvSpPr>
        <p:spPr/>
        <p:txBody>
          <a:bodyPr/>
          <a:lstStyle/>
          <a:p>
            <a:fld id="{901FF5B7-121C-4E64-9301-0370C3E1FD3E}" type="slidenum">
              <a:rPr lang="en-IN" smtClean="0"/>
              <a:t>25</a:t>
            </a:fld>
            <a:endParaRPr lang="en-IN"/>
          </a:p>
        </p:txBody>
      </p:sp>
    </p:spTree>
    <p:extLst>
      <p:ext uri="{BB962C8B-B14F-4D97-AF65-F5344CB8AC3E}">
        <p14:creationId xmlns:p14="http://schemas.microsoft.com/office/powerpoint/2010/main" val="188585241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how do we know if our code is producing valid certificates? One common use-case of Digital Certificates is in the setup of a TLS Connection. TLS or Transport Layer Security is a protocol that is also the difference between HTTP and HTTPS. Security and identity management is something usually done at Session Layer, whereas this is done at a much lower level in the OSI model. So we cooked up a simple client and server connection using python-sockets and supplied it with certificates created using Certificate Generator. The connection was set up successfully. So how did we know it was actually TLS enabled.</a:t>
            </a:r>
            <a:endParaRPr lang="en-IN" dirty="0"/>
          </a:p>
        </p:txBody>
      </p:sp>
      <p:sp>
        <p:nvSpPr>
          <p:cNvPr id="4" name="Slide Number Placeholder 3"/>
          <p:cNvSpPr>
            <a:spLocks noGrp="1"/>
          </p:cNvSpPr>
          <p:nvPr>
            <p:ph type="sldNum" sz="quarter" idx="5"/>
          </p:nvPr>
        </p:nvSpPr>
        <p:spPr/>
        <p:txBody>
          <a:bodyPr/>
          <a:lstStyle/>
          <a:p>
            <a:fld id="{901FF5B7-121C-4E64-9301-0370C3E1FD3E}" type="slidenum">
              <a:rPr lang="en-IN" smtClean="0"/>
              <a:t>26</a:t>
            </a:fld>
            <a:endParaRPr lang="en-IN"/>
          </a:p>
        </p:txBody>
      </p:sp>
    </p:spTree>
    <p:extLst>
      <p:ext uri="{BB962C8B-B14F-4D97-AF65-F5344CB8AC3E}">
        <p14:creationId xmlns:p14="http://schemas.microsoft.com/office/powerpoint/2010/main" val="7043826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a packet capture software like </a:t>
            </a:r>
            <a:r>
              <a:rPr lang="en-US" dirty="0" err="1"/>
              <a:t>wireshark</a:t>
            </a:r>
            <a:r>
              <a:rPr lang="en-US" dirty="0"/>
              <a:t> comes. It intercepts all traffic going in and out of your system and we could clearly spot TLS packets being setup. Mission Accomplished.</a:t>
            </a:r>
            <a:endParaRPr lang="en-IN" dirty="0"/>
          </a:p>
        </p:txBody>
      </p:sp>
      <p:sp>
        <p:nvSpPr>
          <p:cNvPr id="4" name="Slide Number Placeholder 3"/>
          <p:cNvSpPr>
            <a:spLocks noGrp="1"/>
          </p:cNvSpPr>
          <p:nvPr>
            <p:ph type="sldNum" sz="quarter" idx="5"/>
          </p:nvPr>
        </p:nvSpPr>
        <p:spPr/>
        <p:txBody>
          <a:bodyPr/>
          <a:lstStyle/>
          <a:p>
            <a:fld id="{901FF5B7-121C-4E64-9301-0370C3E1FD3E}" type="slidenum">
              <a:rPr lang="en-IN" smtClean="0"/>
              <a:t>27</a:t>
            </a:fld>
            <a:endParaRPr lang="en-IN"/>
          </a:p>
        </p:txBody>
      </p:sp>
    </p:spTree>
    <p:extLst>
      <p:ext uri="{BB962C8B-B14F-4D97-AF65-F5344CB8AC3E}">
        <p14:creationId xmlns:p14="http://schemas.microsoft.com/office/powerpoint/2010/main" val="301303148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we started with the concept of digital certificates – we saw the different types of users who have different expectations from Certificate Generator – we took a brief look at the agile methodologies used – then we discussed the architecture of the application (Core, Logger, CLI, GUI and Common components). Finally we talked about the libraries used in the implementation of the software and took a quick look at some salient features of the Console &amp; Graphical Certificate Generator. We ended with testing our certificates in a TLS connection setup.</a:t>
            </a:r>
            <a:endParaRPr lang="en-IN" dirty="0"/>
          </a:p>
        </p:txBody>
      </p:sp>
      <p:sp>
        <p:nvSpPr>
          <p:cNvPr id="4" name="Slide Number Placeholder 3"/>
          <p:cNvSpPr>
            <a:spLocks noGrp="1"/>
          </p:cNvSpPr>
          <p:nvPr>
            <p:ph type="sldNum" sz="quarter" idx="5"/>
          </p:nvPr>
        </p:nvSpPr>
        <p:spPr/>
        <p:txBody>
          <a:bodyPr/>
          <a:lstStyle/>
          <a:p>
            <a:fld id="{901FF5B7-121C-4E64-9301-0370C3E1FD3E}" type="slidenum">
              <a:rPr lang="en-IN" smtClean="0"/>
              <a:t>28</a:t>
            </a:fld>
            <a:endParaRPr lang="en-IN"/>
          </a:p>
        </p:txBody>
      </p:sp>
    </p:spTree>
    <p:extLst>
      <p:ext uri="{BB962C8B-B14F-4D97-AF65-F5344CB8AC3E}">
        <p14:creationId xmlns:p14="http://schemas.microsoft.com/office/powerpoint/2010/main" val="264749958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this I conclude my presentation. </a:t>
            </a:r>
            <a:r>
              <a:rPr lang="en-US"/>
              <a:t>Thank you!</a:t>
            </a:r>
            <a:endParaRPr lang="en-IN" dirty="0"/>
          </a:p>
        </p:txBody>
      </p:sp>
      <p:sp>
        <p:nvSpPr>
          <p:cNvPr id="4" name="Slide Number Placeholder 3"/>
          <p:cNvSpPr>
            <a:spLocks noGrp="1"/>
          </p:cNvSpPr>
          <p:nvPr>
            <p:ph type="sldNum" sz="quarter" idx="5"/>
          </p:nvPr>
        </p:nvSpPr>
        <p:spPr/>
        <p:txBody>
          <a:bodyPr/>
          <a:lstStyle/>
          <a:p>
            <a:fld id="{901FF5B7-121C-4E64-9301-0370C3E1FD3E}" type="slidenum">
              <a:rPr lang="en-IN" smtClean="0"/>
              <a:t>29</a:t>
            </a:fld>
            <a:endParaRPr lang="en-IN"/>
          </a:p>
        </p:txBody>
      </p:sp>
    </p:spTree>
    <p:extLst>
      <p:ext uri="{BB962C8B-B14F-4D97-AF65-F5344CB8AC3E}">
        <p14:creationId xmlns:p14="http://schemas.microsoft.com/office/powerpoint/2010/main" val="17459853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65759" y="2166364"/>
            <a:ext cx="11471565" cy="1739347"/>
          </a:xfrm>
        </p:spPr>
        <p:txBody>
          <a:bodyPr tIns="45720" bIns="45720" anchor="ctr">
            <a:normAutofit/>
          </a:bodyPr>
          <a:lstStyle>
            <a:lvl1pPr algn="ctr">
              <a:lnSpc>
                <a:spcPct val="80000"/>
              </a:lnSpc>
              <a:defRPr sz="6000" spc="150" baseline="0"/>
            </a:lvl1pPr>
          </a:lstStyle>
          <a:p>
            <a:r>
              <a:rPr lang="en-US"/>
              <a:t>Click to edit Master title style</a:t>
            </a:r>
            <a:endParaRPr lang="en-US" dirty="0"/>
          </a:p>
        </p:txBody>
      </p:sp>
      <p:sp>
        <p:nvSpPr>
          <p:cNvPr id="3" name="Subtitle 2"/>
          <p:cNvSpPr>
            <a:spLocks noGrp="1"/>
          </p:cNvSpPr>
          <p:nvPr>
            <p:ph type="subTitle" idx="1"/>
          </p:nvPr>
        </p:nvSpPr>
        <p:spPr>
          <a:xfrm>
            <a:off x="1524000" y="3996250"/>
            <a:ext cx="9144000" cy="1309255"/>
          </a:xfrm>
        </p:spPr>
        <p:txBody>
          <a:bodyPr>
            <a:normAutofit/>
          </a:bodyPr>
          <a:lstStyle>
            <a:lvl1pPr marL="0" indent="0" algn="ctr">
              <a:buNone/>
              <a:defRPr sz="2000"/>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6890C15-12FF-4E0B-A864-7D56D6155E21}" type="datetimeFigureOut">
              <a:rPr lang="en-IN" smtClean="0"/>
              <a:t>07-05-2022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286558C-38F5-489D-ABDD-7BF02F74AA95}" type="slidenum">
              <a:rPr lang="en-IN" smtClean="0"/>
              <a:t>‹#›</a:t>
            </a:fld>
            <a:endParaRPr lang="en-IN"/>
          </a:p>
        </p:txBody>
      </p:sp>
    </p:spTree>
    <p:extLst>
      <p:ext uri="{BB962C8B-B14F-4D97-AF65-F5344CB8AC3E}">
        <p14:creationId xmlns:p14="http://schemas.microsoft.com/office/powerpoint/2010/main" val="6570294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890C15-12FF-4E0B-A864-7D56D6155E21}" type="datetimeFigureOut">
              <a:rPr lang="en-IN" smtClean="0"/>
              <a:t>07-05-2022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286558C-38F5-489D-ABDD-7BF02F74AA95}" type="slidenum">
              <a:rPr lang="en-IN" smtClean="0"/>
              <a:t>‹#›</a:t>
            </a:fld>
            <a:endParaRPr lang="en-IN"/>
          </a:p>
        </p:txBody>
      </p:sp>
    </p:spTree>
    <p:extLst>
      <p:ext uri="{BB962C8B-B14F-4D97-AF65-F5344CB8AC3E}">
        <p14:creationId xmlns:p14="http://schemas.microsoft.com/office/powerpoint/2010/main" val="34303015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191" y="2208879"/>
            <a:ext cx="10515600" cy="1676400"/>
          </a:xfrm>
        </p:spPr>
        <p:txBody>
          <a:bodyPr anchor="ctr">
            <a:noAutofit/>
          </a:bodyPr>
          <a:lstStyle>
            <a:lvl1pPr algn="ctr">
              <a:lnSpc>
                <a:spcPct val="80000"/>
              </a:lnSpc>
              <a:defRPr sz="6000" b="0" spc="150" baseline="0">
                <a:solidFill>
                  <a:schemeClr val="bg1"/>
                </a:solidFill>
              </a:defRPr>
            </a:lvl1pPr>
          </a:lstStyle>
          <a:p>
            <a:r>
              <a:rPr lang="en-US"/>
              <a:t>Click to edit Master title style</a:t>
            </a:r>
            <a:endParaRPr lang="en-US" dirty="0"/>
          </a:p>
        </p:txBody>
      </p:sp>
      <p:sp>
        <p:nvSpPr>
          <p:cNvPr id="3" name="Text Placeholder 2"/>
          <p:cNvSpPr>
            <a:spLocks noGrp="1"/>
          </p:cNvSpPr>
          <p:nvPr>
            <p:ph type="body" idx="1"/>
          </p:nvPr>
        </p:nvSpPr>
        <p:spPr>
          <a:xfrm>
            <a:off x="833191" y="4010334"/>
            <a:ext cx="10515600" cy="1174639"/>
          </a:xfrm>
        </p:spPr>
        <p:txBody>
          <a:bodyPr anchor="t">
            <a:normAutofit/>
          </a:bodyPr>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tx2"/>
                </a:solidFill>
              </a:defRPr>
            </a:lvl1pPr>
          </a:lstStyle>
          <a:p>
            <a:fld id="{96890C15-12FF-4E0B-A864-7D56D6155E21}" type="datetimeFigureOut">
              <a:rPr lang="en-IN" smtClean="0"/>
              <a:t>07-05-2022</a:t>
            </a:fld>
            <a:endParaRPr lang="en-IN"/>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3286558C-38F5-489D-ABDD-7BF02F74AA95}" type="slidenum">
              <a:rPr lang="en-IN" smtClean="0"/>
              <a:t>‹#›</a:t>
            </a:fld>
            <a:endParaRPr lang="en-IN"/>
          </a:p>
        </p:txBody>
      </p:sp>
    </p:spTree>
    <p:extLst>
      <p:ext uri="{BB962C8B-B14F-4D97-AF65-F5344CB8AC3E}">
        <p14:creationId xmlns:p14="http://schemas.microsoft.com/office/powerpoint/2010/main" val="2360326473"/>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05344"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30391"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6890C15-12FF-4E0B-A864-7D56D6155E21}" type="datetimeFigureOut">
              <a:rPr lang="en-IN" smtClean="0"/>
              <a:t>07-05-2022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286558C-38F5-489D-ABDD-7BF02F74AA95}" type="slidenum">
              <a:rPr lang="en-IN" smtClean="0"/>
              <a:t>‹#›</a:t>
            </a:fld>
            <a:endParaRPr lang="en-IN"/>
          </a:p>
        </p:txBody>
      </p:sp>
    </p:spTree>
    <p:extLst>
      <p:ext uri="{BB962C8B-B14F-4D97-AF65-F5344CB8AC3E}">
        <p14:creationId xmlns:p14="http://schemas.microsoft.com/office/powerpoint/2010/main" val="183735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07008"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07008" y="2656566"/>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31230"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31230" y="2656564"/>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6890C15-12FF-4E0B-A864-7D56D6155E21}" type="datetimeFigureOut">
              <a:rPr lang="en-IN" smtClean="0"/>
              <a:t>07-05-2022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286558C-38F5-489D-ABDD-7BF02F74AA95}" type="slidenum">
              <a:rPr lang="en-IN" smtClean="0"/>
              <a:t>‹#›</a:t>
            </a:fld>
            <a:endParaRPr lang="en-IN"/>
          </a:p>
        </p:txBody>
      </p:sp>
    </p:spTree>
    <p:extLst>
      <p:ext uri="{BB962C8B-B14F-4D97-AF65-F5344CB8AC3E}">
        <p14:creationId xmlns:p14="http://schemas.microsoft.com/office/powerpoint/2010/main" val="39947972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6890C15-12FF-4E0B-A864-7D56D6155E21}" type="datetimeFigureOut">
              <a:rPr lang="en-IN" smtClean="0"/>
              <a:t>07-05-2022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286558C-38F5-489D-ABDD-7BF02F74AA95}" type="slidenum">
              <a:rPr lang="en-IN" smtClean="0"/>
              <a:t>‹#›</a:t>
            </a:fld>
            <a:endParaRPr lang="en-IN"/>
          </a:p>
        </p:txBody>
      </p:sp>
    </p:spTree>
    <p:extLst>
      <p:ext uri="{BB962C8B-B14F-4D97-AF65-F5344CB8AC3E}">
        <p14:creationId xmlns:p14="http://schemas.microsoft.com/office/powerpoint/2010/main" val="12699082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890C15-12FF-4E0B-A864-7D56D6155E21}" type="datetimeFigureOut">
              <a:rPr lang="en-IN" smtClean="0"/>
              <a:t>07-05-2022</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286558C-38F5-489D-ABDD-7BF02F74AA95}" type="slidenum">
              <a:rPr lang="en-IN" smtClean="0"/>
              <a:t>‹#›</a:t>
            </a:fld>
            <a:endParaRPr lang="en-IN"/>
          </a:p>
        </p:txBody>
      </p:sp>
    </p:spTree>
    <p:extLst>
      <p:ext uri="{BB962C8B-B14F-4D97-AF65-F5344CB8AC3E}">
        <p14:creationId xmlns:p14="http://schemas.microsoft.com/office/powerpoint/2010/main" val="28910958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207008" y="2120054"/>
            <a:ext cx="6126480" cy="41148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789023" y="2147486"/>
            <a:ext cx="3200400" cy="3432319"/>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890C15-12FF-4E0B-A864-7D56D6155E21}" type="datetimeFigureOut">
              <a:rPr lang="en-IN" smtClean="0"/>
              <a:t>07-05-2022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286558C-38F5-489D-ABDD-7BF02F74AA95}" type="slidenum">
              <a:rPr lang="en-IN" smtClean="0"/>
              <a:t>‹#›</a:t>
            </a:fld>
            <a:endParaRPr lang="en-IN"/>
          </a:p>
        </p:txBody>
      </p:sp>
    </p:spTree>
    <p:extLst>
      <p:ext uri="{BB962C8B-B14F-4D97-AF65-F5344CB8AC3E}">
        <p14:creationId xmlns:p14="http://schemas.microsoft.com/office/powerpoint/2010/main" val="28413109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Picture Placeholder 2"/>
          <p:cNvSpPr>
            <a:spLocks noGrp="1" noChangeAspect="1"/>
          </p:cNvSpPr>
          <p:nvPr>
            <p:ph type="pic" idx="1"/>
          </p:nvPr>
        </p:nvSpPr>
        <p:spPr>
          <a:xfrm>
            <a:off x="1280160" y="2211494"/>
            <a:ext cx="6126480" cy="3931920"/>
          </a:xfrm>
          <a:solidFill>
            <a:schemeClr val="tx2">
              <a:lumMod val="60000"/>
              <a:lumOff val="40000"/>
            </a:schemeClr>
          </a:solidFill>
        </p:spPr>
        <p:txBody>
          <a:bodyPr tIns="365760" anchor="t"/>
          <a:lstStyle>
            <a:lvl1pPr marL="0" indent="0" algn="ctr">
              <a:buNone/>
              <a:defRPr sz="3200">
                <a:solidFill>
                  <a:schemeClr val="tx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790688" y="2150621"/>
            <a:ext cx="3200400" cy="3429000"/>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890C15-12FF-4E0B-A864-7D56D6155E21}" type="datetimeFigureOut">
              <a:rPr lang="en-IN" smtClean="0"/>
              <a:t>07-05-2022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286558C-38F5-489D-ABDD-7BF02F74AA95}" type="slidenum">
              <a:rPr lang="en-IN" smtClean="0"/>
              <a:t>‹#›</a:t>
            </a:fld>
            <a:endParaRPr lang="en-IN"/>
          </a:p>
        </p:txBody>
      </p:sp>
    </p:spTree>
    <p:extLst>
      <p:ext uri="{BB962C8B-B14F-4D97-AF65-F5344CB8AC3E}">
        <p14:creationId xmlns:p14="http://schemas.microsoft.com/office/powerpoint/2010/main" val="11775826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890C15-12FF-4E0B-A864-7D56D6155E21}" type="datetimeFigureOut">
              <a:rPr lang="en-IN" smtClean="0"/>
              <a:t>07-05-2022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286558C-38F5-489D-ABDD-7BF02F74AA95}" type="slidenum">
              <a:rPr lang="en-IN" smtClean="0"/>
              <a:t>‹#›</a:t>
            </a:fld>
            <a:endParaRPr lang="en-IN"/>
          </a:p>
        </p:txBody>
      </p:sp>
    </p:spTree>
    <p:extLst>
      <p:ext uri="{BB962C8B-B14F-4D97-AF65-F5344CB8AC3E}">
        <p14:creationId xmlns:p14="http://schemas.microsoft.com/office/powerpoint/2010/main" val="40520515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9019312" y="0"/>
            <a:ext cx="2743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9160624" y="274638"/>
            <a:ext cx="240238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274638"/>
            <a:ext cx="7973291"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0" y="6422854"/>
            <a:ext cx="2743196" cy="365125"/>
          </a:xfrm>
        </p:spPr>
        <p:txBody>
          <a:bodyPr/>
          <a:lstStyle/>
          <a:p>
            <a:fld id="{96890C15-12FF-4E0B-A864-7D56D6155E21}" type="datetimeFigureOut">
              <a:rPr lang="en-IN" smtClean="0"/>
              <a:t>07-05-2022</a:t>
            </a:fld>
            <a:endParaRPr lang="en-IN"/>
          </a:p>
        </p:txBody>
      </p:sp>
      <p:sp>
        <p:nvSpPr>
          <p:cNvPr id="5" name="Footer Placeholder 4"/>
          <p:cNvSpPr>
            <a:spLocks noGrp="1"/>
          </p:cNvSpPr>
          <p:nvPr>
            <p:ph type="ftr" sz="quarter" idx="11"/>
          </p:nvPr>
        </p:nvSpPr>
        <p:spPr>
          <a:xfrm>
            <a:off x="3776135" y="6422854"/>
            <a:ext cx="4279669" cy="365125"/>
          </a:xfrm>
        </p:spPr>
        <p:txBody>
          <a:bodyPr/>
          <a:lstStyle/>
          <a:p>
            <a:endParaRPr lang="en-IN"/>
          </a:p>
        </p:txBody>
      </p:sp>
      <p:sp>
        <p:nvSpPr>
          <p:cNvPr id="6" name="Slide Number Placeholder 5"/>
          <p:cNvSpPr>
            <a:spLocks noGrp="1"/>
          </p:cNvSpPr>
          <p:nvPr>
            <p:ph type="sldNum" sz="quarter" idx="12"/>
          </p:nvPr>
        </p:nvSpPr>
        <p:spPr>
          <a:xfrm>
            <a:off x="8073048" y="6422854"/>
            <a:ext cx="879759" cy="365125"/>
          </a:xfrm>
        </p:spPr>
        <p:txBody>
          <a:bodyPr/>
          <a:lstStyle/>
          <a:p>
            <a:fld id="{3286558C-38F5-489D-ABDD-7BF02F74AA95}" type="slidenum">
              <a:rPr lang="en-IN" smtClean="0"/>
              <a:t>‹#›</a:t>
            </a:fld>
            <a:endParaRPr lang="en-IN"/>
          </a:p>
        </p:txBody>
      </p:sp>
    </p:spTree>
    <p:extLst>
      <p:ext uri="{BB962C8B-B14F-4D97-AF65-F5344CB8AC3E}">
        <p14:creationId xmlns:p14="http://schemas.microsoft.com/office/powerpoint/2010/main" val="17095245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483" y="176109"/>
            <a:ext cx="12188952" cy="16459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02919" y="284176"/>
            <a:ext cx="9784080" cy="15087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02919" y="2011680"/>
            <a:ext cx="9784080" cy="420624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02266" y="6422854"/>
            <a:ext cx="3000894" cy="365125"/>
          </a:xfrm>
          <a:prstGeom prst="rect">
            <a:avLst/>
          </a:prstGeom>
        </p:spPr>
        <p:txBody>
          <a:bodyPr vert="horz" lIns="91440" tIns="45720" rIns="45720" bIns="45720" rtlCol="0" anchor="ctr"/>
          <a:lstStyle>
            <a:lvl1pPr algn="l">
              <a:defRPr sz="1050">
                <a:solidFill>
                  <a:schemeClr val="tx1"/>
                </a:solidFill>
              </a:defRPr>
            </a:lvl1pPr>
          </a:lstStyle>
          <a:p>
            <a:fld id="{96890C15-12FF-4E0B-A864-7D56D6155E21}" type="datetimeFigureOut">
              <a:rPr lang="en-IN" smtClean="0"/>
              <a:t>07-05-2022</a:t>
            </a:fld>
            <a:endParaRPr lang="en-IN"/>
          </a:p>
        </p:txBody>
      </p:sp>
      <p:sp>
        <p:nvSpPr>
          <p:cNvPr id="5" name="Footer Placeholder 4"/>
          <p:cNvSpPr>
            <a:spLocks noGrp="1"/>
          </p:cNvSpPr>
          <p:nvPr>
            <p:ph type="ftr" sz="quarter" idx="3"/>
          </p:nvPr>
        </p:nvSpPr>
        <p:spPr>
          <a:xfrm>
            <a:off x="5596471" y="6422854"/>
            <a:ext cx="5044440" cy="365125"/>
          </a:xfrm>
          <a:prstGeom prst="rect">
            <a:avLst/>
          </a:prstGeom>
        </p:spPr>
        <p:txBody>
          <a:bodyPr vert="horz" lIns="91440" tIns="45720" rIns="91440" bIns="45720" rtlCol="0" anchor="ctr"/>
          <a:lstStyle>
            <a:lvl1pPr algn="r">
              <a:defRPr sz="1050">
                <a:solidFill>
                  <a:schemeClr val="tx1"/>
                </a:solidFill>
              </a:defRPr>
            </a:lvl1pPr>
          </a:lstStyle>
          <a:p>
            <a:endParaRPr lang="en-IN"/>
          </a:p>
        </p:txBody>
      </p:sp>
      <p:sp>
        <p:nvSpPr>
          <p:cNvPr id="6" name="Slide Number Placeholder 5"/>
          <p:cNvSpPr>
            <a:spLocks noGrp="1"/>
          </p:cNvSpPr>
          <p:nvPr>
            <p:ph type="sldNum" sz="quarter" idx="4"/>
          </p:nvPr>
        </p:nvSpPr>
        <p:spPr>
          <a:xfrm>
            <a:off x="10658927" y="6422854"/>
            <a:ext cx="946264" cy="365125"/>
          </a:xfrm>
          <a:prstGeom prst="rect">
            <a:avLst/>
          </a:prstGeom>
        </p:spPr>
        <p:txBody>
          <a:bodyPr vert="horz" lIns="45720" tIns="45720" rIns="91440" bIns="45720" rtlCol="0" anchor="ctr"/>
          <a:lstStyle>
            <a:lvl1pPr algn="l">
              <a:defRPr sz="1200" b="0">
                <a:solidFill>
                  <a:schemeClr val="tx1"/>
                </a:solidFill>
              </a:defRPr>
            </a:lvl1pPr>
          </a:lstStyle>
          <a:p>
            <a:fld id="{3286558C-38F5-489D-ABDD-7BF02F74AA95}" type="slidenum">
              <a:rPr lang="en-IN" smtClean="0"/>
              <a:t>‹#›</a:t>
            </a:fld>
            <a:endParaRPr lang="en-IN"/>
          </a:p>
        </p:txBody>
      </p:sp>
    </p:spTree>
    <p:extLst>
      <p:ext uri="{BB962C8B-B14F-4D97-AF65-F5344CB8AC3E}">
        <p14:creationId xmlns:p14="http://schemas.microsoft.com/office/powerpoint/2010/main" val="3668216521"/>
      </p:ext>
    </p:extLst>
  </p:cSld>
  <p:clrMap bg1="dk1" tx1="lt1" bg2="dk2" tx2="lt2" accent1="accent1" accent2="accent2" accent3="accent3" accent4="accent4" accent5="accent5" accent6="accent6" hlink="hlink" folHlink="folHlink"/>
  <p:sldLayoutIdLst>
    <p:sldLayoutId id="2147484106" r:id="rId1"/>
    <p:sldLayoutId id="2147484107" r:id="rId2"/>
    <p:sldLayoutId id="2147484108" r:id="rId3"/>
    <p:sldLayoutId id="2147484109" r:id="rId4"/>
    <p:sldLayoutId id="2147484110" r:id="rId5"/>
    <p:sldLayoutId id="2147484111" r:id="rId6"/>
    <p:sldLayoutId id="2147484112" r:id="rId7"/>
    <p:sldLayoutId id="2147484113" r:id="rId8"/>
    <p:sldLayoutId id="2147484114" r:id="rId9"/>
    <p:sldLayoutId id="2147484115" r:id="rId10"/>
    <p:sldLayoutId id="2147484116" r:id="rId11"/>
  </p:sldLayoutIdLst>
  <p:txStyles>
    <p:titleStyle>
      <a:lvl1pPr algn="l" defTabSz="914400" rtl="0" eaLnBrk="1" latinLnBrk="0" hangingPunct="1">
        <a:lnSpc>
          <a:spcPct val="85000"/>
        </a:lnSpc>
        <a:spcBef>
          <a:spcPct val="0"/>
        </a:spcBef>
        <a:buNone/>
        <a:defRPr sz="4000" kern="1200" cap="all" baseline="0">
          <a:solidFill>
            <a:schemeClr val="bg2"/>
          </a:solidFill>
          <a:latin typeface="+mj-lt"/>
          <a:ea typeface="+mj-ea"/>
          <a:cs typeface="+mj-cs"/>
        </a:defRPr>
      </a:lvl1pPr>
    </p:titleStyle>
    <p:bodyStyle>
      <a:lvl1pPr marL="182880" indent="-182880" algn="l" defTabSz="914400" rtl="0" eaLnBrk="1" latinLnBrk="0" hangingPunct="1">
        <a:lnSpc>
          <a:spcPct val="90000"/>
        </a:lnSpc>
        <a:spcBef>
          <a:spcPts val="1200"/>
        </a:spcBef>
        <a:spcAft>
          <a:spcPts val="200"/>
        </a:spcAft>
        <a:buClr>
          <a:schemeClr val="tx1"/>
        </a:buClr>
        <a:buFont typeface="Wingdings" pitchFamily="2" charset="2"/>
        <a:buChar char=""/>
        <a:defRPr sz="2200" kern="1200">
          <a:solidFill>
            <a:schemeClr val="tx1"/>
          </a:solidFill>
          <a:latin typeface="+mn-lt"/>
          <a:ea typeface="+mn-ea"/>
          <a:cs typeface="+mn-cs"/>
        </a:defRPr>
      </a:lvl1pPr>
      <a:lvl2pPr marL="411480" indent="-182880" algn="l" defTabSz="914400" rtl="0" eaLnBrk="1" latinLnBrk="0" hangingPunct="1">
        <a:lnSpc>
          <a:spcPct val="90000"/>
        </a:lnSpc>
        <a:spcBef>
          <a:spcPts val="200"/>
        </a:spcBef>
        <a:spcAft>
          <a:spcPts val="400"/>
        </a:spcAft>
        <a:buClr>
          <a:schemeClr val="tx1"/>
        </a:buClr>
        <a:buFont typeface="Wingdings" pitchFamily="2" charset="2"/>
        <a:buChar char=""/>
        <a:defRPr sz="2000" kern="1200">
          <a:solidFill>
            <a:schemeClr val="tx1"/>
          </a:solidFill>
          <a:latin typeface="+mn-lt"/>
          <a:ea typeface="+mn-ea"/>
          <a:cs typeface="+mn-cs"/>
        </a:defRPr>
      </a:lvl2pPr>
      <a:lvl3pPr marL="640080" indent="-182880" algn="l" defTabSz="914400" rtl="0" eaLnBrk="1" latinLnBrk="0" hangingPunct="1">
        <a:lnSpc>
          <a:spcPct val="90000"/>
        </a:lnSpc>
        <a:spcBef>
          <a:spcPts val="200"/>
        </a:spcBef>
        <a:spcAft>
          <a:spcPts val="400"/>
        </a:spcAft>
        <a:buClr>
          <a:schemeClr val="tx1"/>
        </a:buClr>
        <a:buFont typeface="Wingdings" pitchFamily="2" charset="2"/>
        <a:buChar char=""/>
        <a:defRPr sz="1800" kern="1200">
          <a:solidFill>
            <a:schemeClr val="tx1"/>
          </a:solidFill>
          <a:latin typeface="+mn-lt"/>
          <a:ea typeface="+mn-ea"/>
          <a:cs typeface="+mn-cs"/>
        </a:defRPr>
      </a:lvl3pPr>
      <a:lvl4pPr marL="8686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4pPr>
      <a:lvl5pPr marL="10972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5pPr>
      <a:lvl6pPr marL="12846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6pPr>
      <a:lvl7pPr marL="14718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7pPr>
      <a:lvl8pPr marL="16290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8pPr>
      <a:lvl9pPr marL="18062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png"/><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svg"/><Relationship Id="rId5" Type="http://schemas.openxmlformats.org/officeDocument/2006/relationships/image" Target="../media/image5.png"/><Relationship Id="rId10" Type="http://schemas.openxmlformats.org/officeDocument/2006/relationships/image" Target="../media/image10.svg"/><Relationship Id="rId4" Type="http://schemas.microsoft.com/office/2007/relationships/hdphoto" Target="../media/hdphoto1.wdp"/><Relationship Id="rId9" Type="http://schemas.openxmlformats.org/officeDocument/2006/relationships/image" Target="../media/image9.png"/></Relationships>
</file>

<file path=ppt/slides/_rels/slide4.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6.svg"/><Relationship Id="rId5" Type="http://schemas.openxmlformats.org/officeDocument/2006/relationships/image" Target="../media/image5.png"/><Relationship Id="rId10" Type="http://schemas.openxmlformats.org/officeDocument/2006/relationships/image" Target="../media/image12.svg"/><Relationship Id="rId4" Type="http://schemas.microsoft.com/office/2007/relationships/hdphoto" Target="../media/hdphoto1.wdp"/><Relationship Id="rId9" Type="http://schemas.openxmlformats.org/officeDocument/2006/relationships/image" Target="../media/image11.png"/></Relationships>
</file>

<file path=ppt/slides/_rels/slide5.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6.svg"/><Relationship Id="rId5" Type="http://schemas.openxmlformats.org/officeDocument/2006/relationships/image" Target="../media/image5.png"/><Relationship Id="rId10" Type="http://schemas.openxmlformats.org/officeDocument/2006/relationships/image" Target="../media/image12.svg"/><Relationship Id="rId4" Type="http://schemas.microsoft.com/office/2007/relationships/hdphoto" Target="../media/hdphoto1.wdp"/><Relationship Id="rId9" Type="http://schemas.openxmlformats.org/officeDocument/2006/relationships/image" Target="../media/image11.png"/></Relationships>
</file>

<file path=ppt/slides/_rels/slide6.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6.svg"/><Relationship Id="rId5" Type="http://schemas.openxmlformats.org/officeDocument/2006/relationships/image" Target="../media/image5.png"/><Relationship Id="rId10" Type="http://schemas.openxmlformats.org/officeDocument/2006/relationships/image" Target="../media/image12.svg"/><Relationship Id="rId4" Type="http://schemas.microsoft.com/office/2007/relationships/hdphoto" Target="../media/hdphoto1.wdp"/><Relationship Id="rId9" Type="http://schemas.openxmlformats.org/officeDocument/2006/relationships/image" Target="../media/image11.png"/></Relationships>
</file>

<file path=ppt/slides/_rels/slide7.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6.svg"/><Relationship Id="rId5" Type="http://schemas.openxmlformats.org/officeDocument/2006/relationships/image" Target="../media/image5.png"/><Relationship Id="rId10" Type="http://schemas.openxmlformats.org/officeDocument/2006/relationships/image" Target="../media/image12.svg"/><Relationship Id="rId4" Type="http://schemas.microsoft.com/office/2007/relationships/hdphoto" Target="../media/hdphoto1.wdp"/><Relationship Id="rId9" Type="http://schemas.openxmlformats.org/officeDocument/2006/relationships/image" Target="../media/image11.png"/></Relationships>
</file>

<file path=ppt/slides/_rels/slide8.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6.svg"/><Relationship Id="rId5" Type="http://schemas.openxmlformats.org/officeDocument/2006/relationships/image" Target="../media/image5.png"/><Relationship Id="rId10" Type="http://schemas.openxmlformats.org/officeDocument/2006/relationships/image" Target="../media/image12.svg"/><Relationship Id="rId4" Type="http://schemas.microsoft.com/office/2007/relationships/hdphoto" Target="../media/hdphoto1.wdp"/><Relationship Id="rId9"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microsoft.com/office/2007/relationships/hdphoto" Target="../media/hdphoto1.wdp"/></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3.png"/><Relationship Id="rId4" Type="http://schemas.microsoft.com/office/2007/relationships/hdphoto" Target="../media/hdphoto1.wdp"/></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microsoft.com/office/2007/relationships/hdphoto" Target="../media/hdphoto1.wdp"/></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7.png"/><Relationship Id="rId4" Type="http://schemas.microsoft.com/office/2007/relationships/hdphoto" Target="../media/hdphoto1.wdp"/></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8.png"/><Relationship Id="rId4" Type="http://schemas.microsoft.com/office/2007/relationships/hdphoto" Target="../media/hdphoto1.wdp"/></Relationships>
</file>

<file path=ppt/slides/_rels/slide15.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3.png"/><Relationship Id="rId7"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0.svg"/><Relationship Id="rId5" Type="http://schemas.openxmlformats.org/officeDocument/2006/relationships/image" Target="../media/image19.png"/><Relationship Id="rId4" Type="http://schemas.microsoft.com/office/2007/relationships/hdphoto" Target="../media/hdphoto1.wdp"/></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23.png"/><Relationship Id="rId4" Type="http://schemas.microsoft.com/office/2007/relationships/hdphoto" Target="../media/hdphoto1.wdp"/></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microsoft.com/office/2007/relationships/hdphoto" Target="../media/hdphoto1.wdp"/></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4.png"/><Relationship Id="rId4" Type="http://schemas.microsoft.com/office/2007/relationships/hdphoto" Target="../media/hdphoto1.wdp"/></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25.png"/><Relationship Id="rId4" Type="http://schemas.microsoft.com/office/2007/relationships/hdphoto" Target="../media/hdphoto1.wdp"/></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26.png"/><Relationship Id="rId4" Type="http://schemas.microsoft.com/office/2007/relationships/hdphoto" Target="../media/hdphoto1.wdp"/></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27.png"/><Relationship Id="rId4" Type="http://schemas.microsoft.com/office/2007/relationships/hdphoto" Target="../media/hdphoto1.wdp"/></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28.png"/><Relationship Id="rId4" Type="http://schemas.microsoft.com/office/2007/relationships/hdphoto" Target="../media/hdphoto1.wdp"/></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29.png"/><Relationship Id="rId4" Type="http://schemas.microsoft.com/office/2007/relationships/hdphoto" Target="../media/hdphoto1.wdp"/></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30.png"/><Relationship Id="rId4" Type="http://schemas.microsoft.com/office/2007/relationships/hdphoto" Target="../media/hdphoto1.wdp"/></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31.png"/><Relationship Id="rId4" Type="http://schemas.microsoft.com/office/2007/relationships/hdphoto" Target="../media/hdphoto1.wdp"/></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32.png"/><Relationship Id="rId4" Type="http://schemas.microsoft.com/office/2007/relationships/hdphoto" Target="../media/hdphoto1.wdp"/></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33.png"/><Relationship Id="rId4" Type="http://schemas.microsoft.com/office/2007/relationships/hdphoto" Target="../media/hdphoto1.wdp"/></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microsoft.com/office/2007/relationships/hdphoto" Target="../media/hdphoto1.wdp"/></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19EB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5EB71-731A-0039-875B-4C692E6BED02}"/>
              </a:ext>
            </a:extLst>
          </p:cNvPr>
          <p:cNvSpPr>
            <a:spLocks noGrp="1"/>
          </p:cNvSpPr>
          <p:nvPr>
            <p:ph type="ctrTitle"/>
          </p:nvPr>
        </p:nvSpPr>
        <p:spPr>
          <a:xfrm>
            <a:off x="1524000" y="1854075"/>
            <a:ext cx="9144000" cy="2387600"/>
          </a:xfrm>
        </p:spPr>
        <p:txBody>
          <a:bodyPr/>
          <a:lstStyle/>
          <a:p>
            <a:r>
              <a:rPr lang="en-US" b="1" cap="none" dirty="0">
                <a:solidFill>
                  <a:srgbClr val="FB8500"/>
                </a:solidFill>
                <a:latin typeface="High Tower Text" panose="02040502050506030303" pitchFamily="18" charset="0"/>
              </a:rPr>
              <a:t>Certificate Generator</a:t>
            </a:r>
            <a:endParaRPr lang="en-IN" b="1" cap="none" dirty="0">
              <a:solidFill>
                <a:srgbClr val="FB8500"/>
              </a:solidFill>
              <a:latin typeface="High Tower Text" panose="02040502050506030303" pitchFamily="18" charset="0"/>
            </a:endParaRPr>
          </a:p>
        </p:txBody>
      </p:sp>
      <p:sp>
        <p:nvSpPr>
          <p:cNvPr id="4" name="Subtitle 2">
            <a:extLst>
              <a:ext uri="{FF2B5EF4-FFF2-40B4-BE49-F238E27FC236}">
                <a16:creationId xmlns:a16="http://schemas.microsoft.com/office/drawing/2014/main" id="{81CEDFE2-DBF6-A731-B91B-230C4F2C5B87}"/>
              </a:ext>
            </a:extLst>
          </p:cNvPr>
          <p:cNvSpPr txBox="1">
            <a:spLocks/>
          </p:cNvSpPr>
          <p:nvPr/>
        </p:nvSpPr>
        <p:spPr>
          <a:xfrm>
            <a:off x="174700" y="5425069"/>
            <a:ext cx="4004009" cy="1321435"/>
          </a:xfrm>
          <a:prstGeom prst="rect">
            <a:avLst/>
          </a:prstGeom>
        </p:spPr>
        <p:txBody>
          <a:bodyPr vert="horz" lIns="91440" tIns="45720" rIns="91440" bIns="4572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2200" dirty="0"/>
              <a:t>Internal Supervisor</a:t>
            </a:r>
          </a:p>
          <a:p>
            <a:pPr algn="l">
              <a:lnSpc>
                <a:spcPct val="110000"/>
              </a:lnSpc>
            </a:pPr>
            <a:r>
              <a:rPr lang="en-US" sz="2200" b="1" dirty="0"/>
              <a:t>Dr. Sanjay Sharma</a:t>
            </a:r>
          </a:p>
          <a:p>
            <a:pPr algn="l">
              <a:spcBef>
                <a:spcPts val="0"/>
              </a:spcBef>
            </a:pPr>
            <a:r>
              <a:rPr lang="en-IN" sz="1600" dirty="0"/>
              <a:t>Professor</a:t>
            </a:r>
          </a:p>
          <a:p>
            <a:pPr algn="l">
              <a:spcBef>
                <a:spcPts val="0"/>
              </a:spcBef>
            </a:pPr>
            <a:r>
              <a:rPr lang="en-IN" sz="1600" dirty="0"/>
              <a:t>Maulana Azad National Institute of Technology</a:t>
            </a:r>
          </a:p>
          <a:p>
            <a:pPr algn="l">
              <a:spcBef>
                <a:spcPts val="0"/>
              </a:spcBef>
            </a:pPr>
            <a:r>
              <a:rPr lang="en-IN" sz="1600" dirty="0"/>
              <a:t>Bhopal</a:t>
            </a:r>
          </a:p>
        </p:txBody>
      </p:sp>
      <p:sp>
        <p:nvSpPr>
          <p:cNvPr id="8" name="Rectangle 7">
            <a:extLst>
              <a:ext uri="{FF2B5EF4-FFF2-40B4-BE49-F238E27FC236}">
                <a16:creationId xmlns:a16="http://schemas.microsoft.com/office/drawing/2014/main" id="{C6581D3D-B79A-0EE9-C778-EB5CBF986067}"/>
              </a:ext>
            </a:extLst>
          </p:cNvPr>
          <p:cNvSpPr/>
          <p:nvPr/>
        </p:nvSpPr>
        <p:spPr>
          <a:xfrm>
            <a:off x="0" y="2018448"/>
            <a:ext cx="12192000" cy="94006"/>
          </a:xfrm>
          <a:prstGeom prst="rect">
            <a:avLst/>
          </a:prstGeom>
          <a:solidFill>
            <a:srgbClr val="0230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246A89CE-61F7-C954-5760-D4564EB5308A}"/>
              </a:ext>
            </a:extLst>
          </p:cNvPr>
          <p:cNvSpPr/>
          <p:nvPr/>
        </p:nvSpPr>
        <p:spPr>
          <a:xfrm>
            <a:off x="0" y="3857150"/>
            <a:ext cx="12192000" cy="94006"/>
          </a:xfrm>
          <a:prstGeom prst="rect">
            <a:avLst/>
          </a:prstGeom>
          <a:solidFill>
            <a:srgbClr val="0230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6" name="Picture 2" descr="Maulana Azad National Institute of Technology - Wikipedia">
            <a:extLst>
              <a:ext uri="{FF2B5EF4-FFF2-40B4-BE49-F238E27FC236}">
                <a16:creationId xmlns:a16="http://schemas.microsoft.com/office/drawing/2014/main" id="{441C09D3-0D5F-4B3C-B14F-B7FA85DE95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702" y="111496"/>
            <a:ext cx="1683595" cy="1776823"/>
          </a:xfrm>
          <a:prstGeom prst="rect">
            <a:avLst/>
          </a:prstGeom>
          <a:noFill/>
          <a:extLst>
            <a:ext uri="{909E8E84-426E-40DD-AFC4-6F175D3DCCD1}">
              <a14:hiddenFill xmlns:a14="http://schemas.microsoft.com/office/drawing/2010/main">
                <a:solidFill>
                  <a:srgbClr val="FFFFFF"/>
                </a:solidFill>
              </a14:hiddenFill>
            </a:ext>
          </a:extLst>
        </p:spPr>
      </p:pic>
      <p:sp>
        <p:nvSpPr>
          <p:cNvPr id="13" name="Subtitle 2">
            <a:extLst>
              <a:ext uri="{FF2B5EF4-FFF2-40B4-BE49-F238E27FC236}">
                <a16:creationId xmlns:a16="http://schemas.microsoft.com/office/drawing/2014/main" id="{CC6BFFFB-8EF1-ACF1-93F5-3207A066B11C}"/>
              </a:ext>
            </a:extLst>
          </p:cNvPr>
          <p:cNvSpPr txBox="1">
            <a:spLocks/>
          </p:cNvSpPr>
          <p:nvPr/>
        </p:nvSpPr>
        <p:spPr>
          <a:xfrm>
            <a:off x="9547123" y="527251"/>
            <a:ext cx="2470175" cy="1150374"/>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spcBef>
                <a:spcPts val="500"/>
              </a:spcBef>
            </a:pPr>
            <a:r>
              <a:rPr lang="en-US" sz="2000" dirty="0">
                <a:latin typeface="+mj-lt"/>
                <a:cs typeface="Times New Roman" panose="02020603050405020304" pitchFamily="18" charset="0"/>
              </a:rPr>
              <a:t>MCA-722</a:t>
            </a:r>
          </a:p>
          <a:p>
            <a:pPr algn="r">
              <a:spcBef>
                <a:spcPts val="500"/>
              </a:spcBef>
            </a:pPr>
            <a:r>
              <a:rPr lang="en-US" sz="2000" dirty="0">
                <a:latin typeface="+mj-lt"/>
                <a:cs typeface="Times New Roman" panose="02020603050405020304" pitchFamily="18" charset="0"/>
              </a:rPr>
              <a:t>Project Presentation</a:t>
            </a:r>
          </a:p>
          <a:p>
            <a:pPr algn="r">
              <a:spcBef>
                <a:spcPts val="500"/>
              </a:spcBef>
            </a:pPr>
            <a:r>
              <a:rPr lang="en-US" sz="2000" b="1" dirty="0">
                <a:latin typeface="+mj-lt"/>
                <a:cs typeface="Times New Roman" panose="02020603050405020304" pitchFamily="18" charset="0"/>
              </a:rPr>
              <a:t>MAY 2022</a:t>
            </a:r>
            <a:endParaRPr lang="en-IN" sz="2000" b="1" dirty="0">
              <a:latin typeface="+mj-lt"/>
              <a:cs typeface="Times New Roman" panose="02020603050405020304" pitchFamily="18" charset="0"/>
            </a:endParaRPr>
          </a:p>
        </p:txBody>
      </p:sp>
      <p:sp>
        <p:nvSpPr>
          <p:cNvPr id="3" name="Subtitle 2">
            <a:extLst>
              <a:ext uri="{FF2B5EF4-FFF2-40B4-BE49-F238E27FC236}">
                <a16:creationId xmlns:a16="http://schemas.microsoft.com/office/drawing/2014/main" id="{E56295D9-4C7C-76A6-7A33-373D08EADE89}"/>
              </a:ext>
            </a:extLst>
          </p:cNvPr>
          <p:cNvSpPr>
            <a:spLocks noGrp="1"/>
          </p:cNvSpPr>
          <p:nvPr>
            <p:ph type="subTitle" idx="1"/>
          </p:nvPr>
        </p:nvSpPr>
        <p:spPr>
          <a:xfrm>
            <a:off x="0" y="3964960"/>
            <a:ext cx="12191999" cy="544099"/>
          </a:xfrm>
          <a:solidFill>
            <a:srgbClr val="023047"/>
          </a:solidFill>
          <a:ln w="28575">
            <a:noFill/>
            <a:prstDash val="dash"/>
          </a:ln>
        </p:spPr>
        <p:txBody>
          <a:bodyPr anchor="ctr">
            <a:normAutofit/>
          </a:bodyPr>
          <a:lstStyle/>
          <a:p>
            <a:r>
              <a:rPr lang="en-US" sz="2400" b="1" dirty="0">
                <a:solidFill>
                  <a:srgbClr val="FFB703"/>
                </a:solidFill>
                <a:latin typeface="+mj-lt"/>
              </a:rPr>
              <a:t>Utkarsh Gupta (192120009)</a:t>
            </a:r>
            <a:endParaRPr lang="en-IN" sz="2400" b="1" dirty="0">
              <a:solidFill>
                <a:srgbClr val="FFB703"/>
              </a:solidFill>
              <a:latin typeface="+mj-lt"/>
            </a:endParaRPr>
          </a:p>
        </p:txBody>
      </p:sp>
      <p:sp>
        <p:nvSpPr>
          <p:cNvPr id="14" name="Subtitle 2">
            <a:extLst>
              <a:ext uri="{FF2B5EF4-FFF2-40B4-BE49-F238E27FC236}">
                <a16:creationId xmlns:a16="http://schemas.microsoft.com/office/drawing/2014/main" id="{8A99DBCF-0F80-59D4-0548-30D9D79D1AAA}"/>
              </a:ext>
            </a:extLst>
          </p:cNvPr>
          <p:cNvSpPr txBox="1">
            <a:spLocks/>
          </p:cNvSpPr>
          <p:nvPr/>
        </p:nvSpPr>
        <p:spPr>
          <a:xfrm>
            <a:off x="8013293" y="5425068"/>
            <a:ext cx="4004009" cy="1321435"/>
          </a:xfrm>
          <a:prstGeom prst="rect">
            <a:avLst/>
          </a:prstGeom>
        </p:spPr>
        <p:txBody>
          <a:bodyPr vert="horz" lIns="91440" tIns="45720" rIns="91440" bIns="4572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sz="2200" dirty="0"/>
              <a:t>External Supervisor</a:t>
            </a:r>
          </a:p>
          <a:p>
            <a:pPr algn="r"/>
            <a:r>
              <a:rPr lang="en-US" sz="2200" b="1" dirty="0"/>
              <a:t>Mr. Pankaj Choudhary</a:t>
            </a:r>
          </a:p>
          <a:p>
            <a:pPr algn="r">
              <a:spcBef>
                <a:spcPts val="0"/>
              </a:spcBef>
            </a:pPr>
            <a:r>
              <a:rPr lang="en-IN" sz="1600" dirty="0"/>
              <a:t>Senior Technical Lead</a:t>
            </a:r>
          </a:p>
          <a:p>
            <a:pPr algn="r">
              <a:spcBef>
                <a:spcPts val="0"/>
              </a:spcBef>
            </a:pPr>
            <a:r>
              <a:rPr lang="en-IN" sz="1600" dirty="0"/>
              <a:t>Truminds Software Systems</a:t>
            </a:r>
          </a:p>
          <a:p>
            <a:pPr algn="r">
              <a:spcBef>
                <a:spcPts val="0"/>
              </a:spcBef>
            </a:pPr>
            <a:r>
              <a:rPr lang="en-IN" sz="1600" dirty="0"/>
              <a:t>Gurugram</a:t>
            </a:r>
          </a:p>
        </p:txBody>
      </p:sp>
    </p:spTree>
    <p:extLst>
      <p:ext uri="{BB962C8B-B14F-4D97-AF65-F5344CB8AC3E}">
        <p14:creationId xmlns:p14="http://schemas.microsoft.com/office/powerpoint/2010/main" val="27538852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F8A85-B563-45E2-967A-8714968EAF51}"/>
              </a:ext>
            </a:extLst>
          </p:cNvPr>
          <p:cNvSpPr>
            <a:spLocks noGrp="1"/>
          </p:cNvSpPr>
          <p:nvPr>
            <p:ph type="title"/>
          </p:nvPr>
        </p:nvSpPr>
        <p:spPr/>
        <p:txBody>
          <a:bodyPr/>
          <a:lstStyle/>
          <a:p>
            <a:r>
              <a:rPr lang="en-US" cap="none" dirty="0">
                <a:solidFill>
                  <a:srgbClr val="FB8500"/>
                </a:solidFill>
                <a:latin typeface="High Tower Text" panose="02040502050506030303" pitchFamily="18" charset="0"/>
              </a:rPr>
              <a:t>Company Profile</a:t>
            </a:r>
            <a:endParaRPr lang="en-IN" cap="none" dirty="0">
              <a:solidFill>
                <a:srgbClr val="FB8500"/>
              </a:solidFill>
              <a:latin typeface="High Tower Text" panose="02040502050506030303" pitchFamily="18" charset="0"/>
            </a:endParaRPr>
          </a:p>
        </p:txBody>
      </p:sp>
      <p:sp>
        <p:nvSpPr>
          <p:cNvPr id="4" name="Rectangle 3">
            <a:extLst>
              <a:ext uri="{FF2B5EF4-FFF2-40B4-BE49-F238E27FC236}">
                <a16:creationId xmlns:a16="http://schemas.microsoft.com/office/drawing/2014/main" id="{75E0814E-F4C4-4A0F-CD76-6C7497AC8F34}"/>
              </a:ext>
            </a:extLst>
          </p:cNvPr>
          <p:cNvSpPr/>
          <p:nvPr/>
        </p:nvSpPr>
        <p:spPr>
          <a:xfrm>
            <a:off x="0" y="0"/>
            <a:ext cx="806245" cy="6858000"/>
          </a:xfrm>
          <a:prstGeom prst="rect">
            <a:avLst/>
          </a:prstGeom>
          <a:solidFill>
            <a:srgbClr val="219EBC"/>
          </a:solidFill>
          <a:ln>
            <a:solidFill>
              <a:srgbClr val="219E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rgbClr val="219EBC"/>
              </a:solidFill>
            </a:endParaRPr>
          </a:p>
        </p:txBody>
      </p:sp>
      <p:pic>
        <p:nvPicPr>
          <p:cNvPr id="2050" name="Picture 2" descr="Truminds Software Systems | LinkedIn">
            <a:extLst>
              <a:ext uri="{FF2B5EF4-FFF2-40B4-BE49-F238E27FC236}">
                <a16:creationId xmlns:a16="http://schemas.microsoft.com/office/drawing/2014/main" id="{074CEAAD-016E-FE56-B3FF-512C6E5054DE}"/>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28000" b="69500" l="1500" r="97000">
                        <a14:foregroundMark x1="11000" y1="53000" x2="11000" y2="53000"/>
                        <a14:foregroundMark x1="20000" y1="38500" x2="20000" y2="38500"/>
                        <a14:foregroundMark x1="6000" y1="40500" x2="6000" y2="40500"/>
                        <a14:foregroundMark x1="1500" y1="39500" x2="1500" y2="39500"/>
                        <a14:foregroundMark x1="23500" y1="39500" x2="23500" y2="39500"/>
                        <a14:foregroundMark x1="21000" y1="55500" x2="21000" y2="55500"/>
                        <a14:foregroundMark x1="31500" y1="61500" x2="31500" y2="61500"/>
                        <a14:foregroundMark x1="41500" y1="60000" x2="41500" y2="60000"/>
                        <a14:foregroundMark x1="61000" y1="60000" x2="61000" y2="60000"/>
                        <a14:foregroundMark x1="60500" y1="49000" x2="60500" y2="49000"/>
                        <a14:foregroundMark x1="66500" y1="57000" x2="66500" y2="57000"/>
                        <a14:foregroundMark x1="78000" y1="59000" x2="78000" y2="59000"/>
                        <a14:foregroundMark x1="93500" y1="57000" x2="93500" y2="57000"/>
                        <a14:foregroundMark x1="92500" y1="61500" x2="92500" y2="61500"/>
                        <a14:foregroundMark x1="97000" y1="59000" x2="97000" y2="59000"/>
                      </a14:backgroundRemoval>
                    </a14:imgEffect>
                  </a14:imgLayer>
                </a14:imgProps>
              </a:ext>
              <a:ext uri="{28A0092B-C50C-407E-A947-70E740481C1C}">
                <a14:useLocalDpi xmlns:a14="http://schemas.microsoft.com/office/drawing/2010/main" val="0"/>
              </a:ext>
            </a:extLst>
          </a:blip>
          <a:srcRect t="24194" b="24913"/>
          <a:stretch/>
        </p:blipFill>
        <p:spPr bwMode="auto">
          <a:xfrm>
            <a:off x="10890447" y="108178"/>
            <a:ext cx="1197765" cy="609577"/>
          </a:xfrm>
          <a:prstGeom prst="rect">
            <a:avLst/>
          </a:prstGeom>
          <a:noFill/>
          <a:effectLst>
            <a:glow rad="25400">
              <a:srgbClr val="8ECAE6">
                <a:alpha val="31000"/>
              </a:srgbClr>
            </a:glow>
          </a:effectLst>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3891D7D9-E2FD-C37F-547F-FF1079B3346D}"/>
              </a:ext>
            </a:extLst>
          </p:cNvPr>
          <p:cNvPicPr>
            <a:picLocks noChangeAspect="1"/>
          </p:cNvPicPr>
          <p:nvPr/>
        </p:nvPicPr>
        <p:blipFill>
          <a:blip r:embed="rId5"/>
          <a:stretch>
            <a:fillRect/>
          </a:stretch>
        </p:blipFill>
        <p:spPr>
          <a:xfrm>
            <a:off x="4149212" y="1645452"/>
            <a:ext cx="4463845" cy="2308773"/>
          </a:xfrm>
          <a:prstGeom prst="rect">
            <a:avLst/>
          </a:prstGeom>
        </p:spPr>
      </p:pic>
      <p:sp>
        <p:nvSpPr>
          <p:cNvPr id="11" name="Rectangle: Rounded Corners 10">
            <a:extLst>
              <a:ext uri="{FF2B5EF4-FFF2-40B4-BE49-F238E27FC236}">
                <a16:creationId xmlns:a16="http://schemas.microsoft.com/office/drawing/2014/main" id="{D9137FAD-C5CF-62A6-11D5-4F730A764FCD}"/>
              </a:ext>
            </a:extLst>
          </p:cNvPr>
          <p:cNvSpPr/>
          <p:nvPr/>
        </p:nvSpPr>
        <p:spPr>
          <a:xfrm>
            <a:off x="3165986" y="4198375"/>
            <a:ext cx="698089" cy="393290"/>
          </a:xfrm>
          <a:prstGeom prst="roundRect">
            <a:avLst/>
          </a:prstGeom>
          <a:solidFill>
            <a:srgbClr val="219E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Franklin Gothic Book" panose="020B0503020102020204" pitchFamily="34" charset="0"/>
              </a:rPr>
              <a:t>B2B</a:t>
            </a:r>
            <a:endParaRPr lang="en-IN" dirty="0">
              <a:latin typeface="Franklin Gothic Book" panose="020B0503020102020204" pitchFamily="34" charset="0"/>
            </a:endParaRPr>
          </a:p>
        </p:txBody>
      </p:sp>
      <p:sp>
        <p:nvSpPr>
          <p:cNvPr id="16" name="Rectangle: Rounded Corners 15">
            <a:extLst>
              <a:ext uri="{FF2B5EF4-FFF2-40B4-BE49-F238E27FC236}">
                <a16:creationId xmlns:a16="http://schemas.microsoft.com/office/drawing/2014/main" id="{4416FC75-96DA-3A4A-E947-77705DC6F5EE}"/>
              </a:ext>
            </a:extLst>
          </p:cNvPr>
          <p:cNvSpPr/>
          <p:nvPr/>
        </p:nvSpPr>
        <p:spPr>
          <a:xfrm>
            <a:off x="4045974" y="4198375"/>
            <a:ext cx="2295832" cy="393290"/>
          </a:xfrm>
          <a:prstGeom prst="roundRect">
            <a:avLst/>
          </a:prstGeom>
          <a:solidFill>
            <a:srgbClr val="219E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Franklin Gothic Book" panose="020B0503020102020204" pitchFamily="34" charset="0"/>
              </a:rPr>
              <a:t>Licensable Software</a:t>
            </a:r>
            <a:endParaRPr lang="en-IN" dirty="0">
              <a:latin typeface="Franklin Gothic Book" panose="020B0503020102020204" pitchFamily="34" charset="0"/>
            </a:endParaRPr>
          </a:p>
        </p:txBody>
      </p:sp>
      <p:sp>
        <p:nvSpPr>
          <p:cNvPr id="17" name="Rectangle: Rounded Corners 16">
            <a:extLst>
              <a:ext uri="{FF2B5EF4-FFF2-40B4-BE49-F238E27FC236}">
                <a16:creationId xmlns:a16="http://schemas.microsoft.com/office/drawing/2014/main" id="{0D8A40B1-1E9B-CF03-8CDB-1AA3D0E1A924}"/>
              </a:ext>
            </a:extLst>
          </p:cNvPr>
          <p:cNvSpPr/>
          <p:nvPr/>
        </p:nvSpPr>
        <p:spPr>
          <a:xfrm>
            <a:off x="6523705" y="4198375"/>
            <a:ext cx="1440423" cy="393290"/>
          </a:xfrm>
          <a:prstGeom prst="roundRect">
            <a:avLst/>
          </a:prstGeom>
          <a:solidFill>
            <a:srgbClr val="219E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Franklin Gothic Book" panose="020B0503020102020204" pitchFamily="34" charset="0"/>
              </a:rPr>
              <a:t>Networking</a:t>
            </a:r>
            <a:endParaRPr lang="en-IN" dirty="0">
              <a:latin typeface="Franklin Gothic Book" panose="020B0503020102020204" pitchFamily="34" charset="0"/>
            </a:endParaRPr>
          </a:p>
        </p:txBody>
      </p:sp>
      <p:sp>
        <p:nvSpPr>
          <p:cNvPr id="18" name="Rectangle: Rounded Corners 17">
            <a:extLst>
              <a:ext uri="{FF2B5EF4-FFF2-40B4-BE49-F238E27FC236}">
                <a16:creationId xmlns:a16="http://schemas.microsoft.com/office/drawing/2014/main" id="{92E63CF6-CF8D-1DEB-DAB1-0615877D5D74}"/>
              </a:ext>
            </a:extLst>
          </p:cNvPr>
          <p:cNvSpPr/>
          <p:nvPr/>
        </p:nvSpPr>
        <p:spPr>
          <a:xfrm>
            <a:off x="8146027" y="4198375"/>
            <a:ext cx="535856" cy="393290"/>
          </a:xfrm>
          <a:prstGeom prst="roundRect">
            <a:avLst/>
          </a:prstGeom>
          <a:solidFill>
            <a:srgbClr val="219E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Franklin Gothic Book" panose="020B0503020102020204" pitchFamily="34" charset="0"/>
              </a:rPr>
              <a:t>AR</a:t>
            </a:r>
            <a:endParaRPr lang="en-IN" dirty="0">
              <a:latin typeface="Franklin Gothic Book" panose="020B0503020102020204" pitchFamily="34" charset="0"/>
            </a:endParaRPr>
          </a:p>
        </p:txBody>
      </p:sp>
      <p:sp>
        <p:nvSpPr>
          <p:cNvPr id="19" name="Rectangle: Rounded Corners 18">
            <a:extLst>
              <a:ext uri="{FF2B5EF4-FFF2-40B4-BE49-F238E27FC236}">
                <a16:creationId xmlns:a16="http://schemas.microsoft.com/office/drawing/2014/main" id="{E0D1AF20-82F9-3B87-935A-B2F1A9FF7FC3}"/>
              </a:ext>
            </a:extLst>
          </p:cNvPr>
          <p:cNvSpPr/>
          <p:nvPr/>
        </p:nvSpPr>
        <p:spPr>
          <a:xfrm>
            <a:off x="8863782" y="4198375"/>
            <a:ext cx="535856" cy="393290"/>
          </a:xfrm>
          <a:prstGeom prst="roundRect">
            <a:avLst/>
          </a:prstGeom>
          <a:solidFill>
            <a:srgbClr val="219E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Franklin Gothic Book" panose="020B0503020102020204" pitchFamily="34" charset="0"/>
              </a:rPr>
              <a:t>AI</a:t>
            </a:r>
            <a:endParaRPr lang="en-IN" dirty="0">
              <a:latin typeface="Franklin Gothic Book" panose="020B0503020102020204" pitchFamily="34" charset="0"/>
            </a:endParaRPr>
          </a:p>
        </p:txBody>
      </p:sp>
      <p:sp>
        <p:nvSpPr>
          <p:cNvPr id="14" name="TextBox 13">
            <a:extLst>
              <a:ext uri="{FF2B5EF4-FFF2-40B4-BE49-F238E27FC236}">
                <a16:creationId xmlns:a16="http://schemas.microsoft.com/office/drawing/2014/main" id="{0AD9FA19-789E-CDF2-6F8C-E360A256226A}"/>
              </a:ext>
            </a:extLst>
          </p:cNvPr>
          <p:cNvSpPr txBox="1"/>
          <p:nvPr/>
        </p:nvSpPr>
        <p:spPr>
          <a:xfrm>
            <a:off x="953728" y="5858218"/>
            <a:ext cx="2467897" cy="646331"/>
          </a:xfrm>
          <a:prstGeom prst="rect">
            <a:avLst/>
          </a:prstGeom>
          <a:noFill/>
        </p:spPr>
        <p:txBody>
          <a:bodyPr wrap="square" rtlCol="0">
            <a:spAutoFit/>
          </a:bodyPr>
          <a:lstStyle/>
          <a:p>
            <a:pPr algn="ctr"/>
            <a:r>
              <a:rPr lang="en-US" dirty="0">
                <a:solidFill>
                  <a:schemeClr val="bg1"/>
                </a:solidFill>
              </a:rPr>
              <a:t>Video Conferencing Platform</a:t>
            </a:r>
          </a:p>
        </p:txBody>
      </p:sp>
      <p:sp>
        <p:nvSpPr>
          <p:cNvPr id="23" name="TextBox 22">
            <a:extLst>
              <a:ext uri="{FF2B5EF4-FFF2-40B4-BE49-F238E27FC236}">
                <a16:creationId xmlns:a16="http://schemas.microsoft.com/office/drawing/2014/main" id="{5F7F4CD9-A58A-C18B-0DD9-6D44A656075F}"/>
              </a:ext>
            </a:extLst>
          </p:cNvPr>
          <p:cNvSpPr txBox="1"/>
          <p:nvPr/>
        </p:nvSpPr>
        <p:spPr>
          <a:xfrm>
            <a:off x="3853013" y="5858215"/>
            <a:ext cx="2467897" cy="646331"/>
          </a:xfrm>
          <a:prstGeom prst="rect">
            <a:avLst/>
          </a:prstGeom>
          <a:noFill/>
        </p:spPr>
        <p:txBody>
          <a:bodyPr wrap="square" rtlCol="0">
            <a:spAutoFit/>
          </a:bodyPr>
          <a:lstStyle/>
          <a:p>
            <a:pPr algn="ctr"/>
            <a:r>
              <a:rPr lang="en-US" dirty="0">
                <a:solidFill>
                  <a:schemeClr val="bg1"/>
                </a:solidFill>
              </a:rPr>
              <a:t>Online Exams Proctoring System</a:t>
            </a:r>
          </a:p>
        </p:txBody>
      </p:sp>
      <p:sp>
        <p:nvSpPr>
          <p:cNvPr id="24" name="TextBox 23">
            <a:extLst>
              <a:ext uri="{FF2B5EF4-FFF2-40B4-BE49-F238E27FC236}">
                <a16:creationId xmlns:a16="http://schemas.microsoft.com/office/drawing/2014/main" id="{38C87ED6-3A41-6177-DBF5-D27E1B732073}"/>
              </a:ext>
            </a:extLst>
          </p:cNvPr>
          <p:cNvSpPr txBox="1"/>
          <p:nvPr/>
        </p:nvSpPr>
        <p:spPr>
          <a:xfrm>
            <a:off x="6610346" y="5858214"/>
            <a:ext cx="2467897" cy="646331"/>
          </a:xfrm>
          <a:prstGeom prst="rect">
            <a:avLst/>
          </a:prstGeom>
          <a:noFill/>
        </p:spPr>
        <p:txBody>
          <a:bodyPr wrap="square" rtlCol="0">
            <a:spAutoFit/>
          </a:bodyPr>
          <a:lstStyle/>
          <a:p>
            <a:pPr algn="ctr"/>
            <a:r>
              <a:rPr lang="en-US" dirty="0">
                <a:solidFill>
                  <a:schemeClr val="bg1"/>
                </a:solidFill>
              </a:rPr>
              <a:t>Large Scale Indoor Mapping</a:t>
            </a:r>
            <a:endParaRPr lang="en-IN" dirty="0">
              <a:solidFill>
                <a:schemeClr val="bg1"/>
              </a:solidFill>
            </a:endParaRPr>
          </a:p>
        </p:txBody>
      </p:sp>
      <p:sp>
        <p:nvSpPr>
          <p:cNvPr id="26" name="TextBox 25">
            <a:extLst>
              <a:ext uri="{FF2B5EF4-FFF2-40B4-BE49-F238E27FC236}">
                <a16:creationId xmlns:a16="http://schemas.microsoft.com/office/drawing/2014/main" id="{E2B85281-F1CC-B42C-568B-A6A985E47970}"/>
              </a:ext>
            </a:extLst>
          </p:cNvPr>
          <p:cNvSpPr txBox="1"/>
          <p:nvPr/>
        </p:nvSpPr>
        <p:spPr>
          <a:xfrm>
            <a:off x="9399638" y="5858213"/>
            <a:ext cx="2467897" cy="646331"/>
          </a:xfrm>
          <a:prstGeom prst="rect">
            <a:avLst/>
          </a:prstGeom>
          <a:noFill/>
        </p:spPr>
        <p:txBody>
          <a:bodyPr wrap="square" rtlCol="0">
            <a:spAutoFit/>
          </a:bodyPr>
          <a:lstStyle/>
          <a:p>
            <a:pPr algn="ctr"/>
            <a:r>
              <a:rPr lang="en-US" dirty="0">
                <a:solidFill>
                  <a:schemeClr val="bg1"/>
                </a:solidFill>
              </a:rPr>
              <a:t>Network Traffic Routing Solution </a:t>
            </a:r>
            <a:endParaRPr lang="en-IN" dirty="0">
              <a:solidFill>
                <a:schemeClr val="bg1"/>
              </a:solidFill>
            </a:endParaRPr>
          </a:p>
        </p:txBody>
      </p:sp>
    </p:spTree>
    <p:extLst>
      <p:ext uri="{BB962C8B-B14F-4D97-AF65-F5344CB8AC3E}">
        <p14:creationId xmlns:p14="http://schemas.microsoft.com/office/powerpoint/2010/main" val="30364795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F8A85-B563-45E2-967A-8714968EAF51}"/>
              </a:ext>
            </a:extLst>
          </p:cNvPr>
          <p:cNvSpPr>
            <a:spLocks noGrp="1"/>
          </p:cNvSpPr>
          <p:nvPr>
            <p:ph type="title"/>
          </p:nvPr>
        </p:nvSpPr>
        <p:spPr/>
        <p:txBody>
          <a:bodyPr/>
          <a:lstStyle/>
          <a:p>
            <a:r>
              <a:rPr lang="en-US" cap="none" dirty="0">
                <a:solidFill>
                  <a:srgbClr val="FB8500"/>
                </a:solidFill>
                <a:latin typeface="High Tower Text" panose="02040502050506030303" pitchFamily="18" charset="0"/>
              </a:rPr>
              <a:t>Digital Certificates</a:t>
            </a:r>
            <a:endParaRPr lang="en-IN" cap="none" dirty="0">
              <a:solidFill>
                <a:srgbClr val="FB8500"/>
              </a:solidFill>
              <a:latin typeface="High Tower Text" panose="02040502050506030303" pitchFamily="18" charset="0"/>
            </a:endParaRPr>
          </a:p>
        </p:txBody>
      </p:sp>
      <p:sp>
        <p:nvSpPr>
          <p:cNvPr id="3" name="Content Placeholder 2">
            <a:extLst>
              <a:ext uri="{FF2B5EF4-FFF2-40B4-BE49-F238E27FC236}">
                <a16:creationId xmlns:a16="http://schemas.microsoft.com/office/drawing/2014/main" id="{92A14478-519D-E75B-442C-7B3EEB98259D}"/>
              </a:ext>
            </a:extLst>
          </p:cNvPr>
          <p:cNvSpPr>
            <a:spLocks noGrp="1"/>
          </p:cNvSpPr>
          <p:nvPr>
            <p:ph idx="1"/>
          </p:nvPr>
        </p:nvSpPr>
        <p:spPr>
          <a:xfrm>
            <a:off x="1028122" y="1545731"/>
            <a:ext cx="2857804" cy="545642"/>
          </a:xfrm>
        </p:spPr>
        <p:txBody>
          <a:bodyPr/>
          <a:lstStyle/>
          <a:p>
            <a:r>
              <a:rPr lang="en-US" dirty="0">
                <a:solidFill>
                  <a:schemeClr val="bg1"/>
                </a:solidFill>
              </a:rPr>
              <a:t>Trust based identity </a:t>
            </a:r>
            <a:endParaRPr lang="en-IN" dirty="0">
              <a:solidFill>
                <a:schemeClr val="bg1"/>
              </a:solidFill>
            </a:endParaRPr>
          </a:p>
        </p:txBody>
      </p:sp>
      <p:sp>
        <p:nvSpPr>
          <p:cNvPr id="4" name="Rectangle 3">
            <a:extLst>
              <a:ext uri="{FF2B5EF4-FFF2-40B4-BE49-F238E27FC236}">
                <a16:creationId xmlns:a16="http://schemas.microsoft.com/office/drawing/2014/main" id="{75E0814E-F4C4-4A0F-CD76-6C7497AC8F34}"/>
              </a:ext>
            </a:extLst>
          </p:cNvPr>
          <p:cNvSpPr/>
          <p:nvPr/>
        </p:nvSpPr>
        <p:spPr>
          <a:xfrm>
            <a:off x="0" y="0"/>
            <a:ext cx="806245" cy="6858000"/>
          </a:xfrm>
          <a:prstGeom prst="rect">
            <a:avLst/>
          </a:prstGeom>
          <a:solidFill>
            <a:srgbClr val="219EBC"/>
          </a:solidFill>
          <a:ln>
            <a:solidFill>
              <a:srgbClr val="219E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rgbClr val="219EBC"/>
              </a:solidFill>
            </a:endParaRPr>
          </a:p>
        </p:txBody>
      </p:sp>
      <p:pic>
        <p:nvPicPr>
          <p:cNvPr id="2050" name="Picture 2" descr="Truminds Software Systems | LinkedIn">
            <a:extLst>
              <a:ext uri="{FF2B5EF4-FFF2-40B4-BE49-F238E27FC236}">
                <a16:creationId xmlns:a16="http://schemas.microsoft.com/office/drawing/2014/main" id="{074CEAAD-016E-FE56-B3FF-512C6E5054DE}"/>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28000" b="69500" l="1500" r="97000">
                        <a14:foregroundMark x1="11000" y1="53000" x2="11000" y2="53000"/>
                        <a14:foregroundMark x1="20000" y1="38500" x2="20000" y2="38500"/>
                        <a14:foregroundMark x1="6000" y1="40500" x2="6000" y2="40500"/>
                        <a14:foregroundMark x1="1500" y1="39500" x2="1500" y2="39500"/>
                        <a14:foregroundMark x1="23500" y1="39500" x2="23500" y2="39500"/>
                        <a14:foregroundMark x1="21000" y1="55500" x2="21000" y2="55500"/>
                        <a14:foregroundMark x1="31500" y1="61500" x2="31500" y2="61500"/>
                        <a14:foregroundMark x1="41500" y1="60000" x2="41500" y2="60000"/>
                        <a14:foregroundMark x1="61000" y1="60000" x2="61000" y2="60000"/>
                        <a14:foregroundMark x1="60500" y1="49000" x2="60500" y2="49000"/>
                        <a14:foregroundMark x1="66500" y1="57000" x2="66500" y2="57000"/>
                        <a14:foregroundMark x1="78000" y1="59000" x2="78000" y2="59000"/>
                        <a14:foregroundMark x1="93500" y1="57000" x2="93500" y2="57000"/>
                        <a14:foregroundMark x1="92500" y1="61500" x2="92500" y2="61500"/>
                        <a14:foregroundMark x1="97000" y1="59000" x2="97000" y2="59000"/>
                      </a14:backgroundRemoval>
                    </a14:imgEffect>
                  </a14:imgLayer>
                </a14:imgProps>
              </a:ext>
              <a:ext uri="{28A0092B-C50C-407E-A947-70E740481C1C}">
                <a14:useLocalDpi xmlns:a14="http://schemas.microsoft.com/office/drawing/2010/main" val="0"/>
              </a:ext>
            </a:extLst>
          </a:blip>
          <a:srcRect t="24194" b="24913"/>
          <a:stretch/>
        </p:blipFill>
        <p:spPr bwMode="auto">
          <a:xfrm>
            <a:off x="10890447" y="108178"/>
            <a:ext cx="1197765" cy="609577"/>
          </a:xfrm>
          <a:prstGeom prst="rect">
            <a:avLst/>
          </a:prstGeom>
          <a:noFill/>
          <a:effectLst>
            <a:glow rad="25400">
              <a:srgbClr val="8ECAE6">
                <a:alpha val="31000"/>
              </a:srgbClr>
            </a:glow>
          </a:effectLst>
          <a:extLst>
            <a:ext uri="{909E8E84-426E-40DD-AFC4-6F175D3DCCD1}">
              <a14:hiddenFill xmlns:a14="http://schemas.microsoft.com/office/drawing/2010/main">
                <a:solidFill>
                  <a:srgbClr val="FFFFFF"/>
                </a:solidFill>
              </a14:hiddenFill>
            </a:ext>
          </a:extLst>
        </p:spPr>
      </p:pic>
      <p:pic>
        <p:nvPicPr>
          <p:cNvPr id="77" name="Graphic 76" descr="Male profile with solid fill">
            <a:extLst>
              <a:ext uri="{FF2B5EF4-FFF2-40B4-BE49-F238E27FC236}">
                <a16:creationId xmlns:a16="http://schemas.microsoft.com/office/drawing/2014/main" id="{9CABF91B-1E7D-2EEB-0DEB-4BD375165C2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bwMode="auto">
          <a:xfrm>
            <a:off x="2318534" y="4517462"/>
            <a:ext cx="1351182" cy="1351182"/>
          </a:xfrm>
          <a:prstGeom prst="rect">
            <a:avLst/>
          </a:prstGeom>
        </p:spPr>
      </p:pic>
      <p:pic>
        <p:nvPicPr>
          <p:cNvPr id="78" name="Graphic 77" descr="Female Profile with solid fill">
            <a:extLst>
              <a:ext uri="{FF2B5EF4-FFF2-40B4-BE49-F238E27FC236}">
                <a16:creationId xmlns:a16="http://schemas.microsoft.com/office/drawing/2014/main" id="{69D7DF92-6ED9-8A40-2A4C-042FAE3E2FD2}"/>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bwMode="auto">
          <a:xfrm>
            <a:off x="5694020" y="2565876"/>
            <a:ext cx="1245840" cy="1245840"/>
          </a:xfrm>
          <a:prstGeom prst="rect">
            <a:avLst/>
          </a:prstGeom>
        </p:spPr>
      </p:pic>
      <p:sp>
        <p:nvSpPr>
          <p:cNvPr id="79" name="Speech Bubble: Rectangle 78">
            <a:extLst>
              <a:ext uri="{FF2B5EF4-FFF2-40B4-BE49-F238E27FC236}">
                <a16:creationId xmlns:a16="http://schemas.microsoft.com/office/drawing/2014/main" id="{D2E311F9-61F0-DA85-5B8F-0486B112BD04}"/>
              </a:ext>
            </a:extLst>
          </p:cNvPr>
          <p:cNvSpPr/>
          <p:nvPr/>
        </p:nvSpPr>
        <p:spPr bwMode="auto">
          <a:xfrm>
            <a:off x="2266093" y="3651747"/>
            <a:ext cx="1872817" cy="692244"/>
          </a:xfrm>
          <a:prstGeom prst="wedgeRectCallout">
            <a:avLst>
              <a:gd name="adj1" fmla="val -20833"/>
              <a:gd name="adj2" fmla="val 83793"/>
            </a:avLst>
          </a:prstGeom>
          <a:solidFill>
            <a:sysClr val="window" lastClr="FFFFFF"/>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cs typeface="Arial"/>
              </a:rPr>
              <a:t>I trust Smriti. I have her signature.</a:t>
            </a:r>
            <a:endParaRPr kumimoji="0" lang="en-IN" sz="1400" b="0" i="0" u="none" strike="noStrike" kern="0" cap="none" spc="0" normalizeH="0" baseline="0" noProof="0" dirty="0">
              <a:ln>
                <a:noFill/>
              </a:ln>
              <a:solidFill>
                <a:prstClr val="black"/>
              </a:solidFill>
              <a:effectLst/>
              <a:uLnTx/>
              <a:uFillTx/>
              <a:cs typeface="Arial"/>
            </a:endParaRPr>
          </a:p>
        </p:txBody>
      </p:sp>
      <p:sp>
        <p:nvSpPr>
          <p:cNvPr id="81" name="TextBox 80">
            <a:extLst>
              <a:ext uri="{FF2B5EF4-FFF2-40B4-BE49-F238E27FC236}">
                <a16:creationId xmlns:a16="http://schemas.microsoft.com/office/drawing/2014/main" id="{329779E4-2AE0-F214-2AC1-C12DE07F6D02}"/>
              </a:ext>
            </a:extLst>
          </p:cNvPr>
          <p:cNvSpPr txBox="1"/>
          <p:nvPr/>
        </p:nvSpPr>
        <p:spPr bwMode="auto">
          <a:xfrm>
            <a:off x="2458510" y="5766804"/>
            <a:ext cx="1071229" cy="369332"/>
          </a:xfrm>
          <a:prstGeom prst="rect">
            <a:avLst/>
          </a:prstGeom>
          <a:noFill/>
        </p:spPr>
        <p:txBody>
          <a:bodyPr wrap="square" rtlCol="0">
            <a:spAutoFit/>
          </a:bodyPr>
          <a:lstStyle/>
          <a:p>
            <a:pPr algn="ctr" defTabSz="914400"/>
            <a:r>
              <a:rPr lang="en-US" kern="0" dirty="0">
                <a:solidFill>
                  <a:prstClr val="black"/>
                </a:solidFill>
                <a:cs typeface="Arial"/>
              </a:rPr>
              <a:t>Utkarsh</a:t>
            </a:r>
            <a:endParaRPr lang="en-IN" kern="0" dirty="0">
              <a:solidFill>
                <a:prstClr val="black"/>
              </a:solidFill>
              <a:cs typeface="Arial"/>
            </a:endParaRPr>
          </a:p>
        </p:txBody>
      </p:sp>
      <p:sp>
        <p:nvSpPr>
          <p:cNvPr id="82" name="TextBox 81">
            <a:extLst>
              <a:ext uri="{FF2B5EF4-FFF2-40B4-BE49-F238E27FC236}">
                <a16:creationId xmlns:a16="http://schemas.microsoft.com/office/drawing/2014/main" id="{95E2DDF0-919A-1000-639B-C171D8FE7A1F}"/>
              </a:ext>
            </a:extLst>
          </p:cNvPr>
          <p:cNvSpPr txBox="1"/>
          <p:nvPr/>
        </p:nvSpPr>
        <p:spPr bwMode="auto">
          <a:xfrm>
            <a:off x="5873060" y="3717010"/>
            <a:ext cx="901080" cy="369332"/>
          </a:xfrm>
          <a:prstGeom prst="rect">
            <a:avLst/>
          </a:prstGeom>
          <a:noFill/>
        </p:spPr>
        <p:txBody>
          <a:bodyPr wrap="square">
            <a:spAutoFit/>
          </a:bodyPr>
          <a:lstStyle/>
          <a:p>
            <a:pPr algn="ctr" defTabSz="914400"/>
            <a:r>
              <a:rPr lang="en-US" kern="0" dirty="0">
                <a:solidFill>
                  <a:prstClr val="black"/>
                </a:solidFill>
                <a:cs typeface="Arial"/>
              </a:rPr>
              <a:t>Smriti</a:t>
            </a:r>
            <a:endParaRPr lang="en-IN" kern="0" dirty="0">
              <a:solidFill>
                <a:prstClr val="black"/>
              </a:solidFill>
              <a:cs typeface="Arial"/>
            </a:endParaRPr>
          </a:p>
        </p:txBody>
      </p:sp>
      <p:pic>
        <p:nvPicPr>
          <p:cNvPr id="83" name="Graphic 82" descr="Male profile with solid fill">
            <a:extLst>
              <a:ext uri="{FF2B5EF4-FFF2-40B4-BE49-F238E27FC236}">
                <a16:creationId xmlns:a16="http://schemas.microsoft.com/office/drawing/2014/main" id="{DB58D3E8-9A15-870B-F5C8-17B5DAE6C148}"/>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bwMode="auto">
          <a:xfrm>
            <a:off x="8770927" y="4511445"/>
            <a:ext cx="1351182" cy="1351182"/>
          </a:xfrm>
          <a:prstGeom prst="rect">
            <a:avLst/>
          </a:prstGeom>
        </p:spPr>
      </p:pic>
      <p:sp>
        <p:nvSpPr>
          <p:cNvPr id="84" name="TextBox 83">
            <a:extLst>
              <a:ext uri="{FF2B5EF4-FFF2-40B4-BE49-F238E27FC236}">
                <a16:creationId xmlns:a16="http://schemas.microsoft.com/office/drawing/2014/main" id="{70E9AC89-8F04-45A4-97E3-CDDC2441A865}"/>
              </a:ext>
            </a:extLst>
          </p:cNvPr>
          <p:cNvSpPr txBox="1"/>
          <p:nvPr/>
        </p:nvSpPr>
        <p:spPr bwMode="auto">
          <a:xfrm>
            <a:off x="8840915" y="5766804"/>
            <a:ext cx="1211205" cy="369332"/>
          </a:xfrm>
          <a:prstGeom prst="rect">
            <a:avLst/>
          </a:prstGeom>
          <a:noFill/>
        </p:spPr>
        <p:txBody>
          <a:bodyPr wrap="square" rtlCol="0">
            <a:spAutoFit/>
          </a:bodyPr>
          <a:lstStyle/>
          <a:p>
            <a:pPr algn="ctr" defTabSz="914400"/>
            <a:r>
              <a:rPr lang="en-US" kern="0" dirty="0">
                <a:solidFill>
                  <a:prstClr val="black"/>
                </a:solidFill>
                <a:cs typeface="Arial"/>
              </a:rPr>
              <a:t>Unknown</a:t>
            </a:r>
            <a:endParaRPr lang="en-IN" kern="0" dirty="0">
              <a:solidFill>
                <a:prstClr val="black"/>
              </a:solidFill>
              <a:cs typeface="Arial"/>
            </a:endParaRPr>
          </a:p>
        </p:txBody>
      </p:sp>
      <p:sp>
        <p:nvSpPr>
          <p:cNvPr id="85" name="Arrow: Right 84">
            <a:extLst>
              <a:ext uri="{FF2B5EF4-FFF2-40B4-BE49-F238E27FC236}">
                <a16:creationId xmlns:a16="http://schemas.microsoft.com/office/drawing/2014/main" id="{D8F1A738-92C9-B0EC-3C09-7F57FB55430A}"/>
              </a:ext>
            </a:extLst>
          </p:cNvPr>
          <p:cNvSpPr/>
          <p:nvPr/>
        </p:nvSpPr>
        <p:spPr bwMode="auto">
          <a:xfrm rot="8750059">
            <a:off x="3396863" y="4147990"/>
            <a:ext cx="2498576" cy="369332"/>
          </a:xfrm>
          <a:prstGeom prst="rightArrow">
            <a:avLst/>
          </a:prstGeom>
          <a:solidFill>
            <a:srgbClr val="219EBC"/>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alibri"/>
              <a:cs typeface="Arial"/>
            </a:endParaRPr>
          </a:p>
        </p:txBody>
      </p:sp>
      <p:sp>
        <p:nvSpPr>
          <p:cNvPr id="86" name="TextBox 85">
            <a:extLst>
              <a:ext uri="{FF2B5EF4-FFF2-40B4-BE49-F238E27FC236}">
                <a16:creationId xmlns:a16="http://schemas.microsoft.com/office/drawing/2014/main" id="{29557283-9C71-4C3D-E0A9-4CCD9FD3F0F5}"/>
              </a:ext>
            </a:extLst>
          </p:cNvPr>
          <p:cNvSpPr txBox="1"/>
          <p:nvPr/>
        </p:nvSpPr>
        <p:spPr bwMode="auto">
          <a:xfrm rot="19561218">
            <a:off x="3728573" y="4142182"/>
            <a:ext cx="1916697" cy="338554"/>
          </a:xfrm>
          <a:prstGeom prst="rect">
            <a:avLst/>
          </a:prstGeom>
          <a:solidFill>
            <a:srgbClr val="ED7D31">
              <a:lumMod val="20000"/>
              <a:lumOff val="80000"/>
            </a:srgbClr>
          </a:solidFill>
          <a:ln w="3175">
            <a:solidFill>
              <a:sysClr val="windowText" lastClr="000000"/>
            </a:solidFill>
            <a:extLst>
              <a:ext uri="{C807C97D-BFC1-408E-A445-0C87EB9F89A2}">
                <ask:lineSketchStyleProps xmlns:ask="http://schemas.microsoft.com/office/drawing/2018/sketchyshapes" sd="1795169809">
                  <a:custGeom>
                    <a:avLst/>
                    <a:gdLst>
                      <a:gd name="connsiteX0" fmla="*/ 0 w 1916697"/>
                      <a:gd name="connsiteY0" fmla="*/ 0 h 338554"/>
                      <a:gd name="connsiteX1" fmla="*/ 619732 w 1916697"/>
                      <a:gd name="connsiteY1" fmla="*/ 0 h 338554"/>
                      <a:gd name="connsiteX2" fmla="*/ 1220297 w 1916697"/>
                      <a:gd name="connsiteY2" fmla="*/ 0 h 338554"/>
                      <a:gd name="connsiteX3" fmla="*/ 1916697 w 1916697"/>
                      <a:gd name="connsiteY3" fmla="*/ 0 h 338554"/>
                      <a:gd name="connsiteX4" fmla="*/ 1916697 w 1916697"/>
                      <a:gd name="connsiteY4" fmla="*/ 338554 h 338554"/>
                      <a:gd name="connsiteX5" fmla="*/ 1277798 w 1916697"/>
                      <a:gd name="connsiteY5" fmla="*/ 338554 h 338554"/>
                      <a:gd name="connsiteX6" fmla="*/ 658066 w 1916697"/>
                      <a:gd name="connsiteY6" fmla="*/ 338554 h 338554"/>
                      <a:gd name="connsiteX7" fmla="*/ 0 w 1916697"/>
                      <a:gd name="connsiteY7" fmla="*/ 338554 h 338554"/>
                      <a:gd name="connsiteX8" fmla="*/ 0 w 1916697"/>
                      <a:gd name="connsiteY8" fmla="*/ 0 h 338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6697" h="338554" fill="none" extrusionOk="0">
                        <a:moveTo>
                          <a:pt x="0" y="0"/>
                        </a:moveTo>
                        <a:cubicBezTo>
                          <a:pt x="274857" y="16562"/>
                          <a:pt x="406745" y="-19786"/>
                          <a:pt x="619732" y="0"/>
                        </a:cubicBezTo>
                        <a:cubicBezTo>
                          <a:pt x="832719" y="19786"/>
                          <a:pt x="1066270" y="18590"/>
                          <a:pt x="1220297" y="0"/>
                        </a:cubicBezTo>
                        <a:cubicBezTo>
                          <a:pt x="1374324" y="-18590"/>
                          <a:pt x="1774112" y="12187"/>
                          <a:pt x="1916697" y="0"/>
                        </a:cubicBezTo>
                        <a:cubicBezTo>
                          <a:pt x="1931026" y="110443"/>
                          <a:pt x="1926396" y="235429"/>
                          <a:pt x="1916697" y="338554"/>
                        </a:cubicBezTo>
                        <a:cubicBezTo>
                          <a:pt x="1784075" y="365908"/>
                          <a:pt x="1471651" y="316965"/>
                          <a:pt x="1277798" y="338554"/>
                        </a:cubicBezTo>
                        <a:cubicBezTo>
                          <a:pt x="1083945" y="360143"/>
                          <a:pt x="926149" y="356413"/>
                          <a:pt x="658066" y="338554"/>
                        </a:cubicBezTo>
                        <a:cubicBezTo>
                          <a:pt x="389983" y="320695"/>
                          <a:pt x="159550" y="339852"/>
                          <a:pt x="0" y="338554"/>
                        </a:cubicBezTo>
                        <a:cubicBezTo>
                          <a:pt x="2339" y="197274"/>
                          <a:pt x="9877" y="167239"/>
                          <a:pt x="0" y="0"/>
                        </a:cubicBezTo>
                        <a:close/>
                      </a:path>
                      <a:path w="1916697" h="338554" stroke="0" extrusionOk="0">
                        <a:moveTo>
                          <a:pt x="0" y="0"/>
                        </a:moveTo>
                        <a:cubicBezTo>
                          <a:pt x="213372" y="-12378"/>
                          <a:pt x="363677" y="-19580"/>
                          <a:pt x="600565" y="0"/>
                        </a:cubicBezTo>
                        <a:cubicBezTo>
                          <a:pt x="837453" y="19580"/>
                          <a:pt x="940416" y="-19074"/>
                          <a:pt x="1258631" y="0"/>
                        </a:cubicBezTo>
                        <a:cubicBezTo>
                          <a:pt x="1576846" y="19074"/>
                          <a:pt x="1656086" y="11079"/>
                          <a:pt x="1916697" y="0"/>
                        </a:cubicBezTo>
                        <a:cubicBezTo>
                          <a:pt x="1917839" y="160801"/>
                          <a:pt x="1902715" y="259565"/>
                          <a:pt x="1916697" y="338554"/>
                        </a:cubicBezTo>
                        <a:cubicBezTo>
                          <a:pt x="1753890" y="334464"/>
                          <a:pt x="1580688" y="321450"/>
                          <a:pt x="1277798" y="338554"/>
                        </a:cubicBezTo>
                        <a:cubicBezTo>
                          <a:pt x="974908" y="355658"/>
                          <a:pt x="851072" y="350195"/>
                          <a:pt x="638899" y="338554"/>
                        </a:cubicBezTo>
                        <a:cubicBezTo>
                          <a:pt x="426726" y="326913"/>
                          <a:pt x="276873" y="344492"/>
                          <a:pt x="0" y="338554"/>
                        </a:cubicBezTo>
                        <a:cubicBezTo>
                          <a:pt x="-13720" y="256301"/>
                          <a:pt x="-10878" y="136997"/>
                          <a:pt x="0" y="0"/>
                        </a:cubicBezTo>
                        <a:close/>
                      </a:path>
                    </a:pathLst>
                  </a:custGeom>
                  <ask:type>
                    <ask:lineSketchNone/>
                  </ask:type>
                </ask:lineSketchStyleProps>
              </a:ext>
            </a:extLst>
          </a:ln>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cs typeface="Arial"/>
              </a:rPr>
              <a:t>Smriti’s Signature</a:t>
            </a:r>
            <a:endParaRPr kumimoji="0" lang="en-US" sz="1400" b="0" i="0" u="none" strike="noStrike" kern="0" cap="none" spc="0" normalizeH="0" baseline="0" noProof="0" dirty="0">
              <a:ln>
                <a:noFill/>
              </a:ln>
              <a:solidFill>
                <a:prstClr val="black"/>
              </a:solidFill>
              <a:effectLst/>
              <a:uLnTx/>
              <a:uFillTx/>
              <a:cs typeface="Arial"/>
            </a:endParaRPr>
          </a:p>
        </p:txBody>
      </p:sp>
    </p:spTree>
    <p:extLst>
      <p:ext uri="{BB962C8B-B14F-4D97-AF65-F5344CB8AC3E}">
        <p14:creationId xmlns:p14="http://schemas.microsoft.com/office/powerpoint/2010/main" val="18073191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F8A85-B563-45E2-967A-8714968EAF51}"/>
              </a:ext>
            </a:extLst>
          </p:cNvPr>
          <p:cNvSpPr>
            <a:spLocks noGrp="1"/>
          </p:cNvSpPr>
          <p:nvPr>
            <p:ph type="title"/>
          </p:nvPr>
        </p:nvSpPr>
        <p:spPr/>
        <p:txBody>
          <a:bodyPr/>
          <a:lstStyle/>
          <a:p>
            <a:r>
              <a:rPr lang="en-US" cap="none" dirty="0">
                <a:solidFill>
                  <a:srgbClr val="FB8500"/>
                </a:solidFill>
                <a:latin typeface="High Tower Text" panose="02040502050506030303" pitchFamily="18" charset="0"/>
              </a:rPr>
              <a:t>Digital Certificates</a:t>
            </a:r>
            <a:endParaRPr lang="en-IN" cap="none" dirty="0">
              <a:solidFill>
                <a:srgbClr val="FB8500"/>
              </a:solidFill>
              <a:latin typeface="High Tower Text" panose="02040502050506030303" pitchFamily="18" charset="0"/>
            </a:endParaRPr>
          </a:p>
        </p:txBody>
      </p:sp>
      <p:sp>
        <p:nvSpPr>
          <p:cNvPr id="3" name="Content Placeholder 2">
            <a:extLst>
              <a:ext uri="{FF2B5EF4-FFF2-40B4-BE49-F238E27FC236}">
                <a16:creationId xmlns:a16="http://schemas.microsoft.com/office/drawing/2014/main" id="{92A14478-519D-E75B-442C-7B3EEB98259D}"/>
              </a:ext>
            </a:extLst>
          </p:cNvPr>
          <p:cNvSpPr>
            <a:spLocks noGrp="1"/>
          </p:cNvSpPr>
          <p:nvPr>
            <p:ph idx="1"/>
          </p:nvPr>
        </p:nvSpPr>
        <p:spPr>
          <a:xfrm>
            <a:off x="1028122" y="1545731"/>
            <a:ext cx="2857804" cy="545642"/>
          </a:xfrm>
        </p:spPr>
        <p:txBody>
          <a:bodyPr/>
          <a:lstStyle/>
          <a:p>
            <a:r>
              <a:rPr lang="en-US" dirty="0">
                <a:solidFill>
                  <a:schemeClr val="bg1"/>
                </a:solidFill>
              </a:rPr>
              <a:t>Trust based identity </a:t>
            </a:r>
            <a:endParaRPr lang="en-IN" dirty="0">
              <a:solidFill>
                <a:schemeClr val="bg1"/>
              </a:solidFill>
            </a:endParaRPr>
          </a:p>
        </p:txBody>
      </p:sp>
      <p:sp>
        <p:nvSpPr>
          <p:cNvPr id="4" name="Rectangle 3">
            <a:extLst>
              <a:ext uri="{FF2B5EF4-FFF2-40B4-BE49-F238E27FC236}">
                <a16:creationId xmlns:a16="http://schemas.microsoft.com/office/drawing/2014/main" id="{75E0814E-F4C4-4A0F-CD76-6C7497AC8F34}"/>
              </a:ext>
            </a:extLst>
          </p:cNvPr>
          <p:cNvSpPr/>
          <p:nvPr/>
        </p:nvSpPr>
        <p:spPr>
          <a:xfrm>
            <a:off x="0" y="0"/>
            <a:ext cx="806245" cy="6858000"/>
          </a:xfrm>
          <a:prstGeom prst="rect">
            <a:avLst/>
          </a:prstGeom>
          <a:solidFill>
            <a:srgbClr val="219EBC"/>
          </a:solidFill>
          <a:ln>
            <a:solidFill>
              <a:srgbClr val="219E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rgbClr val="219EBC"/>
              </a:solidFill>
            </a:endParaRPr>
          </a:p>
        </p:txBody>
      </p:sp>
      <p:pic>
        <p:nvPicPr>
          <p:cNvPr id="2050" name="Picture 2" descr="Truminds Software Systems | LinkedIn">
            <a:extLst>
              <a:ext uri="{FF2B5EF4-FFF2-40B4-BE49-F238E27FC236}">
                <a16:creationId xmlns:a16="http://schemas.microsoft.com/office/drawing/2014/main" id="{074CEAAD-016E-FE56-B3FF-512C6E5054DE}"/>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28000" b="69500" l="1500" r="97000">
                        <a14:foregroundMark x1="11000" y1="53000" x2="11000" y2="53000"/>
                        <a14:foregroundMark x1="20000" y1="38500" x2="20000" y2="38500"/>
                        <a14:foregroundMark x1="6000" y1="40500" x2="6000" y2="40500"/>
                        <a14:foregroundMark x1="1500" y1="39500" x2="1500" y2="39500"/>
                        <a14:foregroundMark x1="23500" y1="39500" x2="23500" y2="39500"/>
                        <a14:foregroundMark x1="21000" y1="55500" x2="21000" y2="55500"/>
                        <a14:foregroundMark x1="31500" y1="61500" x2="31500" y2="61500"/>
                        <a14:foregroundMark x1="41500" y1="60000" x2="41500" y2="60000"/>
                        <a14:foregroundMark x1="61000" y1="60000" x2="61000" y2="60000"/>
                        <a14:foregroundMark x1="60500" y1="49000" x2="60500" y2="49000"/>
                        <a14:foregroundMark x1="66500" y1="57000" x2="66500" y2="57000"/>
                        <a14:foregroundMark x1="78000" y1="59000" x2="78000" y2="59000"/>
                        <a14:foregroundMark x1="93500" y1="57000" x2="93500" y2="57000"/>
                        <a14:foregroundMark x1="92500" y1="61500" x2="92500" y2="61500"/>
                        <a14:foregroundMark x1="97000" y1="59000" x2="97000" y2="59000"/>
                      </a14:backgroundRemoval>
                    </a14:imgEffect>
                  </a14:imgLayer>
                </a14:imgProps>
              </a:ext>
              <a:ext uri="{28A0092B-C50C-407E-A947-70E740481C1C}">
                <a14:useLocalDpi xmlns:a14="http://schemas.microsoft.com/office/drawing/2010/main" val="0"/>
              </a:ext>
            </a:extLst>
          </a:blip>
          <a:srcRect t="24194" b="24913"/>
          <a:stretch/>
        </p:blipFill>
        <p:spPr bwMode="auto">
          <a:xfrm>
            <a:off x="10890447" y="108178"/>
            <a:ext cx="1197765" cy="609577"/>
          </a:xfrm>
          <a:prstGeom prst="rect">
            <a:avLst/>
          </a:prstGeom>
          <a:noFill/>
          <a:effectLst>
            <a:glow rad="25400">
              <a:srgbClr val="8ECAE6">
                <a:alpha val="31000"/>
              </a:srgbClr>
            </a:glow>
          </a:effectLst>
          <a:extLst>
            <a:ext uri="{909E8E84-426E-40DD-AFC4-6F175D3DCCD1}">
              <a14:hiddenFill xmlns:a14="http://schemas.microsoft.com/office/drawing/2010/main">
                <a:solidFill>
                  <a:srgbClr val="FFFFFF"/>
                </a:solidFill>
              </a14:hiddenFill>
            </a:ext>
          </a:extLst>
        </p:spPr>
      </p:pic>
      <p:pic>
        <p:nvPicPr>
          <p:cNvPr id="77" name="Graphic 76" descr="Male profile with solid fill">
            <a:extLst>
              <a:ext uri="{FF2B5EF4-FFF2-40B4-BE49-F238E27FC236}">
                <a16:creationId xmlns:a16="http://schemas.microsoft.com/office/drawing/2014/main" id="{9CABF91B-1E7D-2EEB-0DEB-4BD375165C2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bwMode="auto">
          <a:xfrm>
            <a:off x="2318534" y="4517462"/>
            <a:ext cx="1351182" cy="1351182"/>
          </a:xfrm>
          <a:prstGeom prst="rect">
            <a:avLst/>
          </a:prstGeom>
        </p:spPr>
      </p:pic>
      <p:pic>
        <p:nvPicPr>
          <p:cNvPr id="78" name="Graphic 77" descr="Female Profile with solid fill">
            <a:extLst>
              <a:ext uri="{FF2B5EF4-FFF2-40B4-BE49-F238E27FC236}">
                <a16:creationId xmlns:a16="http://schemas.microsoft.com/office/drawing/2014/main" id="{69D7DF92-6ED9-8A40-2A4C-042FAE3E2FD2}"/>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bwMode="auto">
          <a:xfrm>
            <a:off x="5694020" y="2565876"/>
            <a:ext cx="1245840" cy="1245840"/>
          </a:xfrm>
          <a:prstGeom prst="rect">
            <a:avLst/>
          </a:prstGeom>
        </p:spPr>
      </p:pic>
      <p:sp>
        <p:nvSpPr>
          <p:cNvPr id="81" name="TextBox 80">
            <a:extLst>
              <a:ext uri="{FF2B5EF4-FFF2-40B4-BE49-F238E27FC236}">
                <a16:creationId xmlns:a16="http://schemas.microsoft.com/office/drawing/2014/main" id="{329779E4-2AE0-F214-2AC1-C12DE07F6D02}"/>
              </a:ext>
            </a:extLst>
          </p:cNvPr>
          <p:cNvSpPr txBox="1"/>
          <p:nvPr/>
        </p:nvSpPr>
        <p:spPr bwMode="auto">
          <a:xfrm>
            <a:off x="2458510" y="5766804"/>
            <a:ext cx="1071229" cy="369332"/>
          </a:xfrm>
          <a:prstGeom prst="rect">
            <a:avLst/>
          </a:prstGeom>
          <a:noFill/>
        </p:spPr>
        <p:txBody>
          <a:bodyPr wrap="square" rtlCol="0">
            <a:spAutoFit/>
          </a:bodyPr>
          <a:lstStyle/>
          <a:p>
            <a:pPr algn="ctr" defTabSz="914400"/>
            <a:r>
              <a:rPr lang="en-US" kern="0" dirty="0">
                <a:solidFill>
                  <a:prstClr val="black"/>
                </a:solidFill>
                <a:cs typeface="Arial"/>
              </a:rPr>
              <a:t>Utkarsh</a:t>
            </a:r>
            <a:endParaRPr lang="en-IN" kern="0" dirty="0">
              <a:solidFill>
                <a:prstClr val="black"/>
              </a:solidFill>
              <a:cs typeface="Arial"/>
            </a:endParaRPr>
          </a:p>
        </p:txBody>
      </p:sp>
      <p:sp>
        <p:nvSpPr>
          <p:cNvPr id="82" name="TextBox 81">
            <a:extLst>
              <a:ext uri="{FF2B5EF4-FFF2-40B4-BE49-F238E27FC236}">
                <a16:creationId xmlns:a16="http://schemas.microsoft.com/office/drawing/2014/main" id="{95E2DDF0-919A-1000-639B-C171D8FE7A1F}"/>
              </a:ext>
            </a:extLst>
          </p:cNvPr>
          <p:cNvSpPr txBox="1"/>
          <p:nvPr/>
        </p:nvSpPr>
        <p:spPr bwMode="auto">
          <a:xfrm>
            <a:off x="5873060" y="3717010"/>
            <a:ext cx="901080" cy="369332"/>
          </a:xfrm>
          <a:prstGeom prst="rect">
            <a:avLst/>
          </a:prstGeom>
          <a:noFill/>
        </p:spPr>
        <p:txBody>
          <a:bodyPr wrap="square">
            <a:spAutoFit/>
          </a:bodyPr>
          <a:lstStyle/>
          <a:p>
            <a:pPr algn="ctr" defTabSz="914400"/>
            <a:r>
              <a:rPr lang="en-US" kern="0" dirty="0">
                <a:solidFill>
                  <a:prstClr val="black"/>
                </a:solidFill>
                <a:cs typeface="Arial"/>
              </a:rPr>
              <a:t>Smriti</a:t>
            </a:r>
            <a:endParaRPr lang="en-IN" kern="0" dirty="0">
              <a:solidFill>
                <a:prstClr val="black"/>
              </a:solidFill>
              <a:cs typeface="Arial"/>
            </a:endParaRPr>
          </a:p>
        </p:txBody>
      </p:sp>
      <p:pic>
        <p:nvPicPr>
          <p:cNvPr id="83" name="Graphic 82" descr="Male profile with solid fill">
            <a:extLst>
              <a:ext uri="{FF2B5EF4-FFF2-40B4-BE49-F238E27FC236}">
                <a16:creationId xmlns:a16="http://schemas.microsoft.com/office/drawing/2014/main" id="{DB58D3E8-9A15-870B-F5C8-17B5DAE6C148}"/>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bwMode="auto">
          <a:xfrm>
            <a:off x="8770927" y="4511445"/>
            <a:ext cx="1351182" cy="1351182"/>
          </a:xfrm>
          <a:prstGeom prst="rect">
            <a:avLst/>
          </a:prstGeom>
        </p:spPr>
      </p:pic>
      <p:sp>
        <p:nvSpPr>
          <p:cNvPr id="84" name="TextBox 83">
            <a:extLst>
              <a:ext uri="{FF2B5EF4-FFF2-40B4-BE49-F238E27FC236}">
                <a16:creationId xmlns:a16="http://schemas.microsoft.com/office/drawing/2014/main" id="{70E9AC89-8F04-45A4-97E3-CDDC2441A865}"/>
              </a:ext>
            </a:extLst>
          </p:cNvPr>
          <p:cNvSpPr txBox="1"/>
          <p:nvPr/>
        </p:nvSpPr>
        <p:spPr bwMode="auto">
          <a:xfrm>
            <a:off x="8840915" y="5766804"/>
            <a:ext cx="1211205" cy="369332"/>
          </a:xfrm>
          <a:prstGeom prst="rect">
            <a:avLst/>
          </a:prstGeom>
          <a:noFill/>
        </p:spPr>
        <p:txBody>
          <a:bodyPr wrap="square" rtlCol="0">
            <a:spAutoFit/>
          </a:bodyPr>
          <a:lstStyle/>
          <a:p>
            <a:pPr algn="ctr" defTabSz="914400"/>
            <a:r>
              <a:rPr lang="en-US" kern="0" dirty="0">
                <a:solidFill>
                  <a:prstClr val="black"/>
                </a:solidFill>
                <a:cs typeface="Arial"/>
              </a:rPr>
              <a:t>@Hero</a:t>
            </a:r>
            <a:endParaRPr lang="en-IN" kern="0" dirty="0">
              <a:solidFill>
                <a:prstClr val="black"/>
              </a:solidFill>
              <a:cs typeface="Arial"/>
            </a:endParaRPr>
          </a:p>
        </p:txBody>
      </p:sp>
      <p:sp>
        <p:nvSpPr>
          <p:cNvPr id="17" name="Speech Bubble: Rectangle 16">
            <a:extLst>
              <a:ext uri="{FF2B5EF4-FFF2-40B4-BE49-F238E27FC236}">
                <a16:creationId xmlns:a16="http://schemas.microsoft.com/office/drawing/2014/main" id="{278E6C5C-E1C8-124B-89B0-F6273AAE4C26}"/>
              </a:ext>
            </a:extLst>
          </p:cNvPr>
          <p:cNvSpPr/>
          <p:nvPr/>
        </p:nvSpPr>
        <p:spPr bwMode="auto">
          <a:xfrm>
            <a:off x="9176174" y="3870195"/>
            <a:ext cx="1368576" cy="573942"/>
          </a:xfrm>
          <a:prstGeom prst="wedgeRectCallout">
            <a:avLst>
              <a:gd name="adj1" fmla="val -20833"/>
              <a:gd name="adj2" fmla="val 72758"/>
            </a:avLst>
          </a:prstGeom>
          <a:solidFill>
            <a:sysClr val="window" lastClr="FFFFFF"/>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cs typeface="Arial"/>
              </a:rPr>
              <a:t>Hello Utkarsh.</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cs typeface="Arial"/>
              </a:rPr>
              <a:t>I am Saurabh.</a:t>
            </a:r>
            <a:endParaRPr kumimoji="0" lang="en-IN" sz="1400" b="0" i="0" u="none" strike="noStrike" kern="0" cap="none" spc="0" normalizeH="0" baseline="0" noProof="0" dirty="0">
              <a:ln>
                <a:noFill/>
              </a:ln>
              <a:solidFill>
                <a:prstClr val="black"/>
              </a:solidFill>
              <a:effectLst/>
              <a:uLnTx/>
              <a:uFillTx/>
              <a:cs typeface="Arial"/>
            </a:endParaRPr>
          </a:p>
        </p:txBody>
      </p:sp>
      <p:sp>
        <p:nvSpPr>
          <p:cNvPr id="18" name="Arrow: Left 17">
            <a:extLst>
              <a:ext uri="{FF2B5EF4-FFF2-40B4-BE49-F238E27FC236}">
                <a16:creationId xmlns:a16="http://schemas.microsoft.com/office/drawing/2014/main" id="{2BA4802A-C466-BD4E-99CA-E79EF63AEFC0}"/>
              </a:ext>
            </a:extLst>
          </p:cNvPr>
          <p:cNvSpPr/>
          <p:nvPr/>
        </p:nvSpPr>
        <p:spPr bwMode="auto">
          <a:xfrm>
            <a:off x="3833198" y="5065065"/>
            <a:ext cx="4689088" cy="369332"/>
          </a:xfrm>
          <a:prstGeom prst="leftArrow">
            <a:avLst/>
          </a:prstGeom>
          <a:solidFill>
            <a:srgbClr val="219EBC"/>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alibri"/>
              <a:cs typeface="Arial"/>
            </a:endParaRPr>
          </a:p>
        </p:txBody>
      </p:sp>
    </p:spTree>
    <p:extLst>
      <p:ext uri="{BB962C8B-B14F-4D97-AF65-F5344CB8AC3E}">
        <p14:creationId xmlns:p14="http://schemas.microsoft.com/office/powerpoint/2010/main" val="25079151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F8A85-B563-45E2-967A-8714968EAF51}"/>
              </a:ext>
            </a:extLst>
          </p:cNvPr>
          <p:cNvSpPr>
            <a:spLocks noGrp="1"/>
          </p:cNvSpPr>
          <p:nvPr>
            <p:ph type="title"/>
          </p:nvPr>
        </p:nvSpPr>
        <p:spPr/>
        <p:txBody>
          <a:bodyPr/>
          <a:lstStyle/>
          <a:p>
            <a:r>
              <a:rPr lang="en-US" cap="none" dirty="0">
                <a:solidFill>
                  <a:srgbClr val="FB8500"/>
                </a:solidFill>
                <a:latin typeface="High Tower Text" panose="02040502050506030303" pitchFamily="18" charset="0"/>
              </a:rPr>
              <a:t>Digital Certificates</a:t>
            </a:r>
            <a:endParaRPr lang="en-IN" cap="none" dirty="0">
              <a:solidFill>
                <a:srgbClr val="FB8500"/>
              </a:solidFill>
              <a:latin typeface="High Tower Text" panose="02040502050506030303" pitchFamily="18" charset="0"/>
            </a:endParaRPr>
          </a:p>
        </p:txBody>
      </p:sp>
      <p:sp>
        <p:nvSpPr>
          <p:cNvPr id="3" name="Content Placeholder 2">
            <a:extLst>
              <a:ext uri="{FF2B5EF4-FFF2-40B4-BE49-F238E27FC236}">
                <a16:creationId xmlns:a16="http://schemas.microsoft.com/office/drawing/2014/main" id="{92A14478-519D-E75B-442C-7B3EEB98259D}"/>
              </a:ext>
            </a:extLst>
          </p:cNvPr>
          <p:cNvSpPr>
            <a:spLocks noGrp="1"/>
          </p:cNvSpPr>
          <p:nvPr>
            <p:ph idx="1"/>
          </p:nvPr>
        </p:nvSpPr>
        <p:spPr>
          <a:xfrm>
            <a:off x="1028122" y="1545731"/>
            <a:ext cx="2857804" cy="545642"/>
          </a:xfrm>
        </p:spPr>
        <p:txBody>
          <a:bodyPr/>
          <a:lstStyle/>
          <a:p>
            <a:r>
              <a:rPr lang="en-US" dirty="0">
                <a:solidFill>
                  <a:schemeClr val="bg1"/>
                </a:solidFill>
              </a:rPr>
              <a:t>Trust based identity </a:t>
            </a:r>
            <a:endParaRPr lang="en-IN" dirty="0">
              <a:solidFill>
                <a:schemeClr val="bg1"/>
              </a:solidFill>
            </a:endParaRPr>
          </a:p>
        </p:txBody>
      </p:sp>
      <p:sp>
        <p:nvSpPr>
          <p:cNvPr id="4" name="Rectangle 3">
            <a:extLst>
              <a:ext uri="{FF2B5EF4-FFF2-40B4-BE49-F238E27FC236}">
                <a16:creationId xmlns:a16="http://schemas.microsoft.com/office/drawing/2014/main" id="{75E0814E-F4C4-4A0F-CD76-6C7497AC8F34}"/>
              </a:ext>
            </a:extLst>
          </p:cNvPr>
          <p:cNvSpPr/>
          <p:nvPr/>
        </p:nvSpPr>
        <p:spPr>
          <a:xfrm>
            <a:off x="0" y="0"/>
            <a:ext cx="806245" cy="6858000"/>
          </a:xfrm>
          <a:prstGeom prst="rect">
            <a:avLst/>
          </a:prstGeom>
          <a:solidFill>
            <a:srgbClr val="219EBC"/>
          </a:solidFill>
          <a:ln>
            <a:solidFill>
              <a:srgbClr val="219E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rgbClr val="219EBC"/>
              </a:solidFill>
            </a:endParaRPr>
          </a:p>
        </p:txBody>
      </p:sp>
      <p:pic>
        <p:nvPicPr>
          <p:cNvPr id="2050" name="Picture 2" descr="Truminds Software Systems | LinkedIn">
            <a:extLst>
              <a:ext uri="{FF2B5EF4-FFF2-40B4-BE49-F238E27FC236}">
                <a16:creationId xmlns:a16="http://schemas.microsoft.com/office/drawing/2014/main" id="{074CEAAD-016E-FE56-B3FF-512C6E5054DE}"/>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28000" b="69500" l="1500" r="97000">
                        <a14:foregroundMark x1="11000" y1="53000" x2="11000" y2="53000"/>
                        <a14:foregroundMark x1="20000" y1="38500" x2="20000" y2="38500"/>
                        <a14:foregroundMark x1="6000" y1="40500" x2="6000" y2="40500"/>
                        <a14:foregroundMark x1="1500" y1="39500" x2="1500" y2="39500"/>
                        <a14:foregroundMark x1="23500" y1="39500" x2="23500" y2="39500"/>
                        <a14:foregroundMark x1="21000" y1="55500" x2="21000" y2="55500"/>
                        <a14:foregroundMark x1="31500" y1="61500" x2="31500" y2="61500"/>
                        <a14:foregroundMark x1="41500" y1="60000" x2="41500" y2="60000"/>
                        <a14:foregroundMark x1="61000" y1="60000" x2="61000" y2="60000"/>
                        <a14:foregroundMark x1="60500" y1="49000" x2="60500" y2="49000"/>
                        <a14:foregroundMark x1="66500" y1="57000" x2="66500" y2="57000"/>
                        <a14:foregroundMark x1="78000" y1="59000" x2="78000" y2="59000"/>
                        <a14:foregroundMark x1="93500" y1="57000" x2="93500" y2="57000"/>
                        <a14:foregroundMark x1="92500" y1="61500" x2="92500" y2="61500"/>
                        <a14:foregroundMark x1="97000" y1="59000" x2="97000" y2="59000"/>
                      </a14:backgroundRemoval>
                    </a14:imgEffect>
                  </a14:imgLayer>
                </a14:imgProps>
              </a:ext>
              <a:ext uri="{28A0092B-C50C-407E-A947-70E740481C1C}">
                <a14:useLocalDpi xmlns:a14="http://schemas.microsoft.com/office/drawing/2010/main" val="0"/>
              </a:ext>
            </a:extLst>
          </a:blip>
          <a:srcRect t="24194" b="24913"/>
          <a:stretch/>
        </p:blipFill>
        <p:spPr bwMode="auto">
          <a:xfrm>
            <a:off x="10890447" y="108178"/>
            <a:ext cx="1197765" cy="609577"/>
          </a:xfrm>
          <a:prstGeom prst="rect">
            <a:avLst/>
          </a:prstGeom>
          <a:noFill/>
          <a:effectLst>
            <a:glow rad="25400">
              <a:srgbClr val="8ECAE6">
                <a:alpha val="31000"/>
              </a:srgbClr>
            </a:glow>
          </a:effectLst>
          <a:extLst>
            <a:ext uri="{909E8E84-426E-40DD-AFC4-6F175D3DCCD1}">
              <a14:hiddenFill xmlns:a14="http://schemas.microsoft.com/office/drawing/2010/main">
                <a:solidFill>
                  <a:srgbClr val="FFFFFF"/>
                </a:solidFill>
              </a14:hiddenFill>
            </a:ext>
          </a:extLst>
        </p:spPr>
      </p:pic>
      <p:pic>
        <p:nvPicPr>
          <p:cNvPr id="77" name="Graphic 76" descr="Male profile with solid fill">
            <a:extLst>
              <a:ext uri="{FF2B5EF4-FFF2-40B4-BE49-F238E27FC236}">
                <a16:creationId xmlns:a16="http://schemas.microsoft.com/office/drawing/2014/main" id="{9CABF91B-1E7D-2EEB-0DEB-4BD375165C2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bwMode="auto">
          <a:xfrm>
            <a:off x="2318534" y="4517462"/>
            <a:ext cx="1351182" cy="1351182"/>
          </a:xfrm>
          <a:prstGeom prst="rect">
            <a:avLst/>
          </a:prstGeom>
        </p:spPr>
      </p:pic>
      <p:pic>
        <p:nvPicPr>
          <p:cNvPr id="78" name="Graphic 77" descr="Female Profile with solid fill">
            <a:extLst>
              <a:ext uri="{FF2B5EF4-FFF2-40B4-BE49-F238E27FC236}">
                <a16:creationId xmlns:a16="http://schemas.microsoft.com/office/drawing/2014/main" id="{69D7DF92-6ED9-8A40-2A4C-042FAE3E2FD2}"/>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bwMode="auto">
          <a:xfrm>
            <a:off x="5694020" y="2565876"/>
            <a:ext cx="1245840" cy="1245840"/>
          </a:xfrm>
          <a:prstGeom prst="rect">
            <a:avLst/>
          </a:prstGeom>
        </p:spPr>
      </p:pic>
      <p:sp>
        <p:nvSpPr>
          <p:cNvPr id="81" name="TextBox 80">
            <a:extLst>
              <a:ext uri="{FF2B5EF4-FFF2-40B4-BE49-F238E27FC236}">
                <a16:creationId xmlns:a16="http://schemas.microsoft.com/office/drawing/2014/main" id="{329779E4-2AE0-F214-2AC1-C12DE07F6D02}"/>
              </a:ext>
            </a:extLst>
          </p:cNvPr>
          <p:cNvSpPr txBox="1"/>
          <p:nvPr/>
        </p:nvSpPr>
        <p:spPr bwMode="auto">
          <a:xfrm>
            <a:off x="2458510" y="5766804"/>
            <a:ext cx="1071229" cy="369332"/>
          </a:xfrm>
          <a:prstGeom prst="rect">
            <a:avLst/>
          </a:prstGeom>
          <a:noFill/>
        </p:spPr>
        <p:txBody>
          <a:bodyPr wrap="square" rtlCol="0">
            <a:spAutoFit/>
          </a:bodyPr>
          <a:lstStyle/>
          <a:p>
            <a:pPr algn="ctr" defTabSz="914400"/>
            <a:r>
              <a:rPr lang="en-US" kern="0" dirty="0">
                <a:solidFill>
                  <a:prstClr val="black"/>
                </a:solidFill>
                <a:cs typeface="Arial"/>
              </a:rPr>
              <a:t>Utkarsh</a:t>
            </a:r>
            <a:endParaRPr lang="en-IN" kern="0" dirty="0">
              <a:solidFill>
                <a:prstClr val="black"/>
              </a:solidFill>
              <a:cs typeface="Arial"/>
            </a:endParaRPr>
          </a:p>
        </p:txBody>
      </p:sp>
      <p:sp>
        <p:nvSpPr>
          <p:cNvPr id="82" name="TextBox 81">
            <a:extLst>
              <a:ext uri="{FF2B5EF4-FFF2-40B4-BE49-F238E27FC236}">
                <a16:creationId xmlns:a16="http://schemas.microsoft.com/office/drawing/2014/main" id="{95E2DDF0-919A-1000-639B-C171D8FE7A1F}"/>
              </a:ext>
            </a:extLst>
          </p:cNvPr>
          <p:cNvSpPr txBox="1"/>
          <p:nvPr/>
        </p:nvSpPr>
        <p:spPr bwMode="auto">
          <a:xfrm>
            <a:off x="5873060" y="3717010"/>
            <a:ext cx="901080" cy="369332"/>
          </a:xfrm>
          <a:prstGeom prst="rect">
            <a:avLst/>
          </a:prstGeom>
          <a:noFill/>
        </p:spPr>
        <p:txBody>
          <a:bodyPr wrap="square">
            <a:spAutoFit/>
          </a:bodyPr>
          <a:lstStyle/>
          <a:p>
            <a:pPr algn="ctr" defTabSz="914400"/>
            <a:r>
              <a:rPr lang="en-US" kern="0" dirty="0">
                <a:solidFill>
                  <a:prstClr val="black"/>
                </a:solidFill>
                <a:cs typeface="Arial"/>
              </a:rPr>
              <a:t>Smriti</a:t>
            </a:r>
            <a:endParaRPr lang="en-IN" kern="0" dirty="0">
              <a:solidFill>
                <a:prstClr val="black"/>
              </a:solidFill>
              <a:cs typeface="Arial"/>
            </a:endParaRPr>
          </a:p>
        </p:txBody>
      </p:sp>
      <p:pic>
        <p:nvPicPr>
          <p:cNvPr id="83" name="Graphic 82" descr="Male profile with solid fill">
            <a:extLst>
              <a:ext uri="{FF2B5EF4-FFF2-40B4-BE49-F238E27FC236}">
                <a16:creationId xmlns:a16="http://schemas.microsoft.com/office/drawing/2014/main" id="{DB58D3E8-9A15-870B-F5C8-17B5DAE6C148}"/>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bwMode="auto">
          <a:xfrm>
            <a:off x="8770927" y="4511445"/>
            <a:ext cx="1351182" cy="1351182"/>
          </a:xfrm>
          <a:prstGeom prst="rect">
            <a:avLst/>
          </a:prstGeom>
        </p:spPr>
      </p:pic>
      <p:sp>
        <p:nvSpPr>
          <p:cNvPr id="84" name="TextBox 83">
            <a:extLst>
              <a:ext uri="{FF2B5EF4-FFF2-40B4-BE49-F238E27FC236}">
                <a16:creationId xmlns:a16="http://schemas.microsoft.com/office/drawing/2014/main" id="{70E9AC89-8F04-45A4-97E3-CDDC2441A865}"/>
              </a:ext>
            </a:extLst>
          </p:cNvPr>
          <p:cNvSpPr txBox="1"/>
          <p:nvPr/>
        </p:nvSpPr>
        <p:spPr bwMode="auto">
          <a:xfrm>
            <a:off x="8840915" y="5766804"/>
            <a:ext cx="1211205" cy="369332"/>
          </a:xfrm>
          <a:prstGeom prst="rect">
            <a:avLst/>
          </a:prstGeom>
          <a:noFill/>
        </p:spPr>
        <p:txBody>
          <a:bodyPr wrap="square" rtlCol="0">
            <a:spAutoFit/>
          </a:bodyPr>
          <a:lstStyle/>
          <a:p>
            <a:pPr algn="ctr" defTabSz="914400"/>
            <a:r>
              <a:rPr lang="en-US" kern="0" dirty="0">
                <a:solidFill>
                  <a:prstClr val="black"/>
                </a:solidFill>
                <a:cs typeface="Arial"/>
              </a:rPr>
              <a:t>@Hero</a:t>
            </a:r>
            <a:endParaRPr lang="en-IN" kern="0" dirty="0">
              <a:solidFill>
                <a:prstClr val="black"/>
              </a:solidFill>
              <a:cs typeface="Arial"/>
            </a:endParaRPr>
          </a:p>
        </p:txBody>
      </p:sp>
      <p:sp>
        <p:nvSpPr>
          <p:cNvPr id="16" name="Speech Bubble: Rectangle 15">
            <a:extLst>
              <a:ext uri="{FF2B5EF4-FFF2-40B4-BE49-F238E27FC236}">
                <a16:creationId xmlns:a16="http://schemas.microsoft.com/office/drawing/2014/main" id="{D915E93C-B947-03CB-6F66-AAA14E1BD66B}"/>
              </a:ext>
            </a:extLst>
          </p:cNvPr>
          <p:cNvSpPr/>
          <p:nvPr/>
        </p:nvSpPr>
        <p:spPr bwMode="auto">
          <a:xfrm>
            <a:off x="2937934" y="3944329"/>
            <a:ext cx="1351182" cy="627201"/>
          </a:xfrm>
          <a:prstGeom prst="wedgeRectCallout">
            <a:avLst>
              <a:gd name="adj1" fmla="val -20833"/>
              <a:gd name="adj2" fmla="val 72758"/>
            </a:avLst>
          </a:prstGeom>
          <a:solidFill>
            <a:sysClr val="window" lastClr="FFFFFF"/>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cs typeface="Arial"/>
              </a:rPr>
              <a:t>I don’t trust you.</a:t>
            </a:r>
            <a:endParaRPr kumimoji="0" lang="en-IN" sz="1400" b="0" i="0" u="none" strike="noStrike" kern="0" cap="none" spc="0" normalizeH="0" baseline="0" noProof="0" dirty="0">
              <a:ln>
                <a:noFill/>
              </a:ln>
              <a:solidFill>
                <a:prstClr val="black"/>
              </a:solidFill>
              <a:effectLst/>
              <a:uLnTx/>
              <a:uFillTx/>
              <a:cs typeface="Arial"/>
            </a:endParaRPr>
          </a:p>
        </p:txBody>
      </p:sp>
      <p:sp>
        <p:nvSpPr>
          <p:cNvPr id="19" name="Arrow: Left 18">
            <a:extLst>
              <a:ext uri="{FF2B5EF4-FFF2-40B4-BE49-F238E27FC236}">
                <a16:creationId xmlns:a16="http://schemas.microsoft.com/office/drawing/2014/main" id="{E98D54D4-B8C1-937A-A52B-93C1424B075F}"/>
              </a:ext>
            </a:extLst>
          </p:cNvPr>
          <p:cNvSpPr/>
          <p:nvPr/>
        </p:nvSpPr>
        <p:spPr bwMode="auto">
          <a:xfrm rot="10800000">
            <a:off x="3885926" y="5193259"/>
            <a:ext cx="4581157" cy="369332"/>
          </a:xfrm>
          <a:prstGeom prst="leftArrow">
            <a:avLst/>
          </a:prstGeom>
          <a:solidFill>
            <a:srgbClr val="219EBC"/>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alibri"/>
              <a:cs typeface="Arial"/>
            </a:endParaRPr>
          </a:p>
        </p:txBody>
      </p:sp>
    </p:spTree>
    <p:extLst>
      <p:ext uri="{BB962C8B-B14F-4D97-AF65-F5344CB8AC3E}">
        <p14:creationId xmlns:p14="http://schemas.microsoft.com/office/powerpoint/2010/main" val="13189697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F8A85-B563-45E2-967A-8714968EAF51}"/>
              </a:ext>
            </a:extLst>
          </p:cNvPr>
          <p:cNvSpPr>
            <a:spLocks noGrp="1"/>
          </p:cNvSpPr>
          <p:nvPr>
            <p:ph type="title"/>
          </p:nvPr>
        </p:nvSpPr>
        <p:spPr/>
        <p:txBody>
          <a:bodyPr/>
          <a:lstStyle/>
          <a:p>
            <a:r>
              <a:rPr lang="en-US" cap="none" dirty="0">
                <a:solidFill>
                  <a:srgbClr val="FB8500"/>
                </a:solidFill>
                <a:latin typeface="High Tower Text" panose="02040502050506030303" pitchFamily="18" charset="0"/>
              </a:rPr>
              <a:t>Digital Certificates</a:t>
            </a:r>
            <a:endParaRPr lang="en-IN" cap="none" dirty="0">
              <a:solidFill>
                <a:srgbClr val="FB8500"/>
              </a:solidFill>
              <a:latin typeface="High Tower Text" panose="02040502050506030303" pitchFamily="18" charset="0"/>
            </a:endParaRPr>
          </a:p>
        </p:txBody>
      </p:sp>
      <p:sp>
        <p:nvSpPr>
          <p:cNvPr id="3" name="Content Placeholder 2">
            <a:extLst>
              <a:ext uri="{FF2B5EF4-FFF2-40B4-BE49-F238E27FC236}">
                <a16:creationId xmlns:a16="http://schemas.microsoft.com/office/drawing/2014/main" id="{92A14478-519D-E75B-442C-7B3EEB98259D}"/>
              </a:ext>
            </a:extLst>
          </p:cNvPr>
          <p:cNvSpPr>
            <a:spLocks noGrp="1"/>
          </p:cNvSpPr>
          <p:nvPr>
            <p:ph idx="1"/>
          </p:nvPr>
        </p:nvSpPr>
        <p:spPr>
          <a:xfrm>
            <a:off x="1028122" y="1545731"/>
            <a:ext cx="2857804" cy="545642"/>
          </a:xfrm>
        </p:spPr>
        <p:txBody>
          <a:bodyPr/>
          <a:lstStyle/>
          <a:p>
            <a:r>
              <a:rPr lang="en-US" dirty="0">
                <a:solidFill>
                  <a:schemeClr val="bg1"/>
                </a:solidFill>
              </a:rPr>
              <a:t>Trust based identity </a:t>
            </a:r>
            <a:endParaRPr lang="en-IN" dirty="0">
              <a:solidFill>
                <a:schemeClr val="bg1"/>
              </a:solidFill>
            </a:endParaRPr>
          </a:p>
        </p:txBody>
      </p:sp>
      <p:sp>
        <p:nvSpPr>
          <p:cNvPr id="4" name="Rectangle 3">
            <a:extLst>
              <a:ext uri="{FF2B5EF4-FFF2-40B4-BE49-F238E27FC236}">
                <a16:creationId xmlns:a16="http://schemas.microsoft.com/office/drawing/2014/main" id="{75E0814E-F4C4-4A0F-CD76-6C7497AC8F34}"/>
              </a:ext>
            </a:extLst>
          </p:cNvPr>
          <p:cNvSpPr/>
          <p:nvPr/>
        </p:nvSpPr>
        <p:spPr>
          <a:xfrm>
            <a:off x="0" y="0"/>
            <a:ext cx="806245" cy="6858000"/>
          </a:xfrm>
          <a:prstGeom prst="rect">
            <a:avLst/>
          </a:prstGeom>
          <a:solidFill>
            <a:srgbClr val="219EBC"/>
          </a:solidFill>
          <a:ln>
            <a:solidFill>
              <a:srgbClr val="219E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rgbClr val="219EBC"/>
              </a:solidFill>
            </a:endParaRPr>
          </a:p>
        </p:txBody>
      </p:sp>
      <p:pic>
        <p:nvPicPr>
          <p:cNvPr id="2050" name="Picture 2" descr="Truminds Software Systems | LinkedIn">
            <a:extLst>
              <a:ext uri="{FF2B5EF4-FFF2-40B4-BE49-F238E27FC236}">
                <a16:creationId xmlns:a16="http://schemas.microsoft.com/office/drawing/2014/main" id="{074CEAAD-016E-FE56-B3FF-512C6E5054DE}"/>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28000" b="69500" l="1500" r="97000">
                        <a14:foregroundMark x1="11000" y1="53000" x2="11000" y2="53000"/>
                        <a14:foregroundMark x1="20000" y1="38500" x2="20000" y2="38500"/>
                        <a14:foregroundMark x1="6000" y1="40500" x2="6000" y2="40500"/>
                        <a14:foregroundMark x1="1500" y1="39500" x2="1500" y2="39500"/>
                        <a14:foregroundMark x1="23500" y1="39500" x2="23500" y2="39500"/>
                        <a14:foregroundMark x1="21000" y1="55500" x2="21000" y2="55500"/>
                        <a14:foregroundMark x1="31500" y1="61500" x2="31500" y2="61500"/>
                        <a14:foregroundMark x1="41500" y1="60000" x2="41500" y2="60000"/>
                        <a14:foregroundMark x1="61000" y1="60000" x2="61000" y2="60000"/>
                        <a14:foregroundMark x1="60500" y1="49000" x2="60500" y2="49000"/>
                        <a14:foregroundMark x1="66500" y1="57000" x2="66500" y2="57000"/>
                        <a14:foregroundMark x1="78000" y1="59000" x2="78000" y2="59000"/>
                        <a14:foregroundMark x1="93500" y1="57000" x2="93500" y2="57000"/>
                        <a14:foregroundMark x1="92500" y1="61500" x2="92500" y2="61500"/>
                        <a14:foregroundMark x1="97000" y1="59000" x2="97000" y2="59000"/>
                      </a14:backgroundRemoval>
                    </a14:imgEffect>
                  </a14:imgLayer>
                </a14:imgProps>
              </a:ext>
              <a:ext uri="{28A0092B-C50C-407E-A947-70E740481C1C}">
                <a14:useLocalDpi xmlns:a14="http://schemas.microsoft.com/office/drawing/2010/main" val="0"/>
              </a:ext>
            </a:extLst>
          </a:blip>
          <a:srcRect t="24194" b="24913"/>
          <a:stretch/>
        </p:blipFill>
        <p:spPr bwMode="auto">
          <a:xfrm>
            <a:off x="10890447" y="108178"/>
            <a:ext cx="1197765" cy="609577"/>
          </a:xfrm>
          <a:prstGeom prst="rect">
            <a:avLst/>
          </a:prstGeom>
          <a:noFill/>
          <a:effectLst>
            <a:glow rad="25400">
              <a:srgbClr val="8ECAE6">
                <a:alpha val="31000"/>
              </a:srgbClr>
            </a:glow>
          </a:effectLst>
          <a:extLst>
            <a:ext uri="{909E8E84-426E-40DD-AFC4-6F175D3DCCD1}">
              <a14:hiddenFill xmlns:a14="http://schemas.microsoft.com/office/drawing/2010/main">
                <a:solidFill>
                  <a:srgbClr val="FFFFFF"/>
                </a:solidFill>
              </a14:hiddenFill>
            </a:ext>
          </a:extLst>
        </p:spPr>
      </p:pic>
      <p:pic>
        <p:nvPicPr>
          <p:cNvPr id="77" name="Graphic 76" descr="Male profile with solid fill">
            <a:extLst>
              <a:ext uri="{FF2B5EF4-FFF2-40B4-BE49-F238E27FC236}">
                <a16:creationId xmlns:a16="http://schemas.microsoft.com/office/drawing/2014/main" id="{9CABF91B-1E7D-2EEB-0DEB-4BD375165C2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bwMode="auto">
          <a:xfrm>
            <a:off x="2318534" y="4517462"/>
            <a:ext cx="1351182" cy="1351182"/>
          </a:xfrm>
          <a:prstGeom prst="rect">
            <a:avLst/>
          </a:prstGeom>
        </p:spPr>
      </p:pic>
      <p:pic>
        <p:nvPicPr>
          <p:cNvPr id="78" name="Graphic 77" descr="Female Profile with solid fill">
            <a:extLst>
              <a:ext uri="{FF2B5EF4-FFF2-40B4-BE49-F238E27FC236}">
                <a16:creationId xmlns:a16="http://schemas.microsoft.com/office/drawing/2014/main" id="{69D7DF92-6ED9-8A40-2A4C-042FAE3E2FD2}"/>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bwMode="auto">
          <a:xfrm>
            <a:off x="5694020" y="2565876"/>
            <a:ext cx="1245840" cy="1245840"/>
          </a:xfrm>
          <a:prstGeom prst="rect">
            <a:avLst/>
          </a:prstGeom>
        </p:spPr>
      </p:pic>
      <p:sp>
        <p:nvSpPr>
          <p:cNvPr id="81" name="TextBox 80">
            <a:extLst>
              <a:ext uri="{FF2B5EF4-FFF2-40B4-BE49-F238E27FC236}">
                <a16:creationId xmlns:a16="http://schemas.microsoft.com/office/drawing/2014/main" id="{329779E4-2AE0-F214-2AC1-C12DE07F6D02}"/>
              </a:ext>
            </a:extLst>
          </p:cNvPr>
          <p:cNvSpPr txBox="1"/>
          <p:nvPr/>
        </p:nvSpPr>
        <p:spPr bwMode="auto">
          <a:xfrm>
            <a:off x="2458510" y="5766804"/>
            <a:ext cx="1071229" cy="369332"/>
          </a:xfrm>
          <a:prstGeom prst="rect">
            <a:avLst/>
          </a:prstGeom>
          <a:noFill/>
        </p:spPr>
        <p:txBody>
          <a:bodyPr wrap="square" rtlCol="0">
            <a:spAutoFit/>
          </a:bodyPr>
          <a:lstStyle/>
          <a:p>
            <a:pPr algn="ctr" defTabSz="914400"/>
            <a:r>
              <a:rPr lang="en-US" kern="0" dirty="0">
                <a:solidFill>
                  <a:prstClr val="black"/>
                </a:solidFill>
                <a:cs typeface="Arial"/>
              </a:rPr>
              <a:t>Utkarsh</a:t>
            </a:r>
            <a:endParaRPr lang="en-IN" kern="0" dirty="0">
              <a:solidFill>
                <a:prstClr val="black"/>
              </a:solidFill>
              <a:cs typeface="Arial"/>
            </a:endParaRPr>
          </a:p>
        </p:txBody>
      </p:sp>
      <p:sp>
        <p:nvSpPr>
          <p:cNvPr id="82" name="TextBox 81">
            <a:extLst>
              <a:ext uri="{FF2B5EF4-FFF2-40B4-BE49-F238E27FC236}">
                <a16:creationId xmlns:a16="http://schemas.microsoft.com/office/drawing/2014/main" id="{95E2DDF0-919A-1000-639B-C171D8FE7A1F}"/>
              </a:ext>
            </a:extLst>
          </p:cNvPr>
          <p:cNvSpPr txBox="1"/>
          <p:nvPr/>
        </p:nvSpPr>
        <p:spPr bwMode="auto">
          <a:xfrm>
            <a:off x="5873060" y="3717010"/>
            <a:ext cx="901080" cy="369332"/>
          </a:xfrm>
          <a:prstGeom prst="rect">
            <a:avLst/>
          </a:prstGeom>
          <a:noFill/>
        </p:spPr>
        <p:txBody>
          <a:bodyPr wrap="square">
            <a:spAutoFit/>
          </a:bodyPr>
          <a:lstStyle/>
          <a:p>
            <a:pPr algn="ctr" defTabSz="914400"/>
            <a:r>
              <a:rPr lang="en-US" kern="0" dirty="0">
                <a:solidFill>
                  <a:prstClr val="black"/>
                </a:solidFill>
                <a:cs typeface="Arial"/>
              </a:rPr>
              <a:t>Smriti</a:t>
            </a:r>
            <a:endParaRPr lang="en-IN" kern="0" dirty="0">
              <a:solidFill>
                <a:prstClr val="black"/>
              </a:solidFill>
              <a:cs typeface="Arial"/>
            </a:endParaRPr>
          </a:p>
        </p:txBody>
      </p:sp>
      <p:pic>
        <p:nvPicPr>
          <p:cNvPr id="83" name="Graphic 82" descr="Male profile with solid fill">
            <a:extLst>
              <a:ext uri="{FF2B5EF4-FFF2-40B4-BE49-F238E27FC236}">
                <a16:creationId xmlns:a16="http://schemas.microsoft.com/office/drawing/2014/main" id="{DB58D3E8-9A15-870B-F5C8-17B5DAE6C148}"/>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bwMode="auto">
          <a:xfrm>
            <a:off x="8770927" y="4511445"/>
            <a:ext cx="1351182" cy="1351182"/>
          </a:xfrm>
          <a:prstGeom prst="rect">
            <a:avLst/>
          </a:prstGeom>
        </p:spPr>
      </p:pic>
      <p:sp>
        <p:nvSpPr>
          <p:cNvPr id="84" name="TextBox 83">
            <a:extLst>
              <a:ext uri="{FF2B5EF4-FFF2-40B4-BE49-F238E27FC236}">
                <a16:creationId xmlns:a16="http://schemas.microsoft.com/office/drawing/2014/main" id="{70E9AC89-8F04-45A4-97E3-CDDC2441A865}"/>
              </a:ext>
            </a:extLst>
          </p:cNvPr>
          <p:cNvSpPr txBox="1"/>
          <p:nvPr/>
        </p:nvSpPr>
        <p:spPr bwMode="auto">
          <a:xfrm>
            <a:off x="8910903" y="5753047"/>
            <a:ext cx="1071229" cy="369332"/>
          </a:xfrm>
          <a:prstGeom prst="rect">
            <a:avLst/>
          </a:prstGeom>
          <a:noFill/>
        </p:spPr>
        <p:txBody>
          <a:bodyPr wrap="square" rtlCol="0">
            <a:spAutoFit/>
          </a:bodyPr>
          <a:lstStyle/>
          <a:p>
            <a:pPr algn="ctr" defTabSz="914400"/>
            <a:r>
              <a:rPr lang="en-US" kern="0" dirty="0">
                <a:solidFill>
                  <a:prstClr val="black"/>
                </a:solidFill>
                <a:cs typeface="Arial"/>
              </a:rPr>
              <a:t>@Hero</a:t>
            </a:r>
            <a:endParaRPr lang="en-IN" kern="0" dirty="0">
              <a:solidFill>
                <a:prstClr val="black"/>
              </a:solidFill>
              <a:cs typeface="Arial"/>
            </a:endParaRPr>
          </a:p>
        </p:txBody>
      </p:sp>
      <p:sp>
        <p:nvSpPr>
          <p:cNvPr id="21" name="Speech Bubble: Rectangle 20">
            <a:extLst>
              <a:ext uri="{FF2B5EF4-FFF2-40B4-BE49-F238E27FC236}">
                <a16:creationId xmlns:a16="http://schemas.microsoft.com/office/drawing/2014/main" id="{075E752C-0F2E-A398-88C2-A66F0293BE91}"/>
              </a:ext>
            </a:extLst>
          </p:cNvPr>
          <p:cNvSpPr/>
          <p:nvPr/>
        </p:nvSpPr>
        <p:spPr bwMode="auto">
          <a:xfrm>
            <a:off x="9365440" y="3648694"/>
            <a:ext cx="1684106" cy="820487"/>
          </a:xfrm>
          <a:prstGeom prst="wedgeRectCallout">
            <a:avLst>
              <a:gd name="adj1" fmla="val -20833"/>
              <a:gd name="adj2" fmla="val 72758"/>
            </a:avLst>
          </a:prstGeom>
          <a:solidFill>
            <a:sysClr val="window" lastClr="FFFFFF"/>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cs typeface="Arial"/>
              </a:rPr>
              <a:t>But Smriti says that I am the real Saurabh.</a:t>
            </a:r>
            <a:endParaRPr kumimoji="0" lang="en-IN" sz="1400" b="0" i="0" u="none" strike="noStrike" kern="0" cap="none" spc="0" normalizeH="0" baseline="0" noProof="0" dirty="0">
              <a:ln>
                <a:noFill/>
              </a:ln>
              <a:solidFill>
                <a:prstClr val="black"/>
              </a:solidFill>
              <a:effectLst/>
              <a:uLnTx/>
              <a:uFillTx/>
              <a:cs typeface="Arial"/>
            </a:endParaRPr>
          </a:p>
        </p:txBody>
      </p:sp>
      <p:sp>
        <p:nvSpPr>
          <p:cNvPr id="22" name="TextBox 21">
            <a:extLst>
              <a:ext uri="{FF2B5EF4-FFF2-40B4-BE49-F238E27FC236}">
                <a16:creationId xmlns:a16="http://schemas.microsoft.com/office/drawing/2014/main" id="{95D6D6EF-DCE4-BA80-4668-D15B22850133}"/>
              </a:ext>
            </a:extLst>
          </p:cNvPr>
          <p:cNvSpPr txBox="1"/>
          <p:nvPr/>
        </p:nvSpPr>
        <p:spPr bwMode="auto">
          <a:xfrm>
            <a:off x="6693145" y="4626483"/>
            <a:ext cx="1916697" cy="1400383"/>
          </a:xfrm>
          <a:custGeom>
            <a:avLst/>
            <a:gdLst>
              <a:gd name="connsiteX0" fmla="*/ 0 w 1916697"/>
              <a:gd name="connsiteY0" fmla="*/ 0 h 1615827"/>
              <a:gd name="connsiteX1" fmla="*/ 638899 w 1916697"/>
              <a:gd name="connsiteY1" fmla="*/ 0 h 1615827"/>
              <a:gd name="connsiteX2" fmla="*/ 1296965 w 1916697"/>
              <a:gd name="connsiteY2" fmla="*/ 0 h 1615827"/>
              <a:gd name="connsiteX3" fmla="*/ 1916697 w 1916697"/>
              <a:gd name="connsiteY3" fmla="*/ 0 h 1615827"/>
              <a:gd name="connsiteX4" fmla="*/ 1916697 w 1916697"/>
              <a:gd name="connsiteY4" fmla="*/ 538609 h 1615827"/>
              <a:gd name="connsiteX5" fmla="*/ 1916697 w 1916697"/>
              <a:gd name="connsiteY5" fmla="*/ 1028743 h 1615827"/>
              <a:gd name="connsiteX6" fmla="*/ 1916697 w 1916697"/>
              <a:gd name="connsiteY6" fmla="*/ 1615827 h 1615827"/>
              <a:gd name="connsiteX7" fmla="*/ 1258631 w 1916697"/>
              <a:gd name="connsiteY7" fmla="*/ 1615827 h 1615827"/>
              <a:gd name="connsiteX8" fmla="*/ 658066 w 1916697"/>
              <a:gd name="connsiteY8" fmla="*/ 1615827 h 1615827"/>
              <a:gd name="connsiteX9" fmla="*/ 0 w 1916697"/>
              <a:gd name="connsiteY9" fmla="*/ 1615827 h 1615827"/>
              <a:gd name="connsiteX10" fmla="*/ 0 w 1916697"/>
              <a:gd name="connsiteY10" fmla="*/ 1109535 h 1615827"/>
              <a:gd name="connsiteX11" fmla="*/ 0 w 1916697"/>
              <a:gd name="connsiteY11" fmla="*/ 538609 h 1615827"/>
              <a:gd name="connsiteX12" fmla="*/ 0 w 1916697"/>
              <a:gd name="connsiteY12" fmla="*/ 0 h 1615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16697" h="1615827" fill="none" extrusionOk="0">
                <a:moveTo>
                  <a:pt x="0" y="0"/>
                </a:moveTo>
                <a:cubicBezTo>
                  <a:pt x="304776" y="4962"/>
                  <a:pt x="360156" y="-27241"/>
                  <a:pt x="638899" y="0"/>
                </a:cubicBezTo>
                <a:cubicBezTo>
                  <a:pt x="917642" y="27241"/>
                  <a:pt x="1132746" y="-15730"/>
                  <a:pt x="1296965" y="0"/>
                </a:cubicBezTo>
                <a:cubicBezTo>
                  <a:pt x="1461184" y="15730"/>
                  <a:pt x="1754082" y="13820"/>
                  <a:pt x="1916697" y="0"/>
                </a:cubicBezTo>
                <a:cubicBezTo>
                  <a:pt x="1924673" y="133235"/>
                  <a:pt x="1927289" y="350306"/>
                  <a:pt x="1916697" y="538609"/>
                </a:cubicBezTo>
                <a:cubicBezTo>
                  <a:pt x="1906105" y="726912"/>
                  <a:pt x="1911740" y="861960"/>
                  <a:pt x="1916697" y="1028743"/>
                </a:cubicBezTo>
                <a:cubicBezTo>
                  <a:pt x="1921654" y="1195526"/>
                  <a:pt x="1908430" y="1419358"/>
                  <a:pt x="1916697" y="1615827"/>
                </a:cubicBezTo>
                <a:cubicBezTo>
                  <a:pt x="1695592" y="1608822"/>
                  <a:pt x="1556424" y="1603152"/>
                  <a:pt x="1258631" y="1615827"/>
                </a:cubicBezTo>
                <a:cubicBezTo>
                  <a:pt x="960838" y="1628502"/>
                  <a:pt x="866731" y="1623437"/>
                  <a:pt x="658066" y="1615827"/>
                </a:cubicBezTo>
                <a:cubicBezTo>
                  <a:pt x="449402" y="1608217"/>
                  <a:pt x="326240" y="1594328"/>
                  <a:pt x="0" y="1615827"/>
                </a:cubicBezTo>
                <a:cubicBezTo>
                  <a:pt x="-23309" y="1401419"/>
                  <a:pt x="21296" y="1226493"/>
                  <a:pt x="0" y="1109535"/>
                </a:cubicBezTo>
                <a:cubicBezTo>
                  <a:pt x="-21296" y="992577"/>
                  <a:pt x="-18247" y="808926"/>
                  <a:pt x="0" y="538609"/>
                </a:cubicBezTo>
                <a:cubicBezTo>
                  <a:pt x="18247" y="268292"/>
                  <a:pt x="-16402" y="217664"/>
                  <a:pt x="0" y="0"/>
                </a:cubicBezTo>
                <a:close/>
              </a:path>
              <a:path w="1916697" h="1615827" stroke="0" extrusionOk="0">
                <a:moveTo>
                  <a:pt x="0" y="0"/>
                </a:moveTo>
                <a:cubicBezTo>
                  <a:pt x="213372" y="-12378"/>
                  <a:pt x="363677" y="-19580"/>
                  <a:pt x="600565" y="0"/>
                </a:cubicBezTo>
                <a:cubicBezTo>
                  <a:pt x="837453" y="19580"/>
                  <a:pt x="940416" y="-19074"/>
                  <a:pt x="1258631" y="0"/>
                </a:cubicBezTo>
                <a:cubicBezTo>
                  <a:pt x="1576846" y="19074"/>
                  <a:pt x="1656086" y="11079"/>
                  <a:pt x="1916697" y="0"/>
                </a:cubicBezTo>
                <a:cubicBezTo>
                  <a:pt x="1924510" y="101274"/>
                  <a:pt x="1900054" y="314610"/>
                  <a:pt x="1916697" y="506292"/>
                </a:cubicBezTo>
                <a:cubicBezTo>
                  <a:pt x="1933340" y="697974"/>
                  <a:pt x="1909987" y="786091"/>
                  <a:pt x="1916697" y="1044901"/>
                </a:cubicBezTo>
                <a:cubicBezTo>
                  <a:pt x="1923407" y="1303711"/>
                  <a:pt x="1930014" y="1492556"/>
                  <a:pt x="1916697" y="1615827"/>
                </a:cubicBezTo>
                <a:cubicBezTo>
                  <a:pt x="1661338" y="1596936"/>
                  <a:pt x="1408731" y="1608852"/>
                  <a:pt x="1258631" y="1615827"/>
                </a:cubicBezTo>
                <a:cubicBezTo>
                  <a:pt x="1108531" y="1622802"/>
                  <a:pt x="851635" y="1600629"/>
                  <a:pt x="658066" y="1615827"/>
                </a:cubicBezTo>
                <a:cubicBezTo>
                  <a:pt x="464497" y="1631025"/>
                  <a:pt x="279645" y="1633640"/>
                  <a:pt x="0" y="1615827"/>
                </a:cubicBezTo>
                <a:cubicBezTo>
                  <a:pt x="-4155" y="1478495"/>
                  <a:pt x="-18739" y="1278109"/>
                  <a:pt x="0" y="1044901"/>
                </a:cubicBezTo>
                <a:cubicBezTo>
                  <a:pt x="18739" y="811693"/>
                  <a:pt x="21981" y="747985"/>
                  <a:pt x="0" y="538609"/>
                </a:cubicBezTo>
                <a:cubicBezTo>
                  <a:pt x="-21981" y="329233"/>
                  <a:pt x="4620" y="239254"/>
                  <a:pt x="0" y="0"/>
                </a:cubicBezTo>
                <a:close/>
              </a:path>
            </a:pathLst>
          </a:custGeom>
          <a:solidFill>
            <a:srgbClr val="ED7D31">
              <a:lumMod val="20000"/>
              <a:lumOff val="80000"/>
            </a:srgbClr>
          </a:solidFill>
          <a:ln w="28575">
            <a:solidFill>
              <a:sysClr val="windowText" lastClr="000000"/>
            </a:solidFill>
            <a:extLst>
              <a:ext uri="{C807C97D-BFC1-408E-A445-0C87EB9F89A2}">
                <ask:lineSketchStyleProps xmlns:ask="http://schemas.microsoft.com/office/drawing/2018/sketchyshapes" sd="1795169809">
                  <a:custGeom>
                    <a:avLst/>
                    <a:gdLst>
                      <a:gd name="connsiteX0" fmla="*/ 0 w 1916697"/>
                      <a:gd name="connsiteY0" fmla="*/ 0 h 1400383"/>
                      <a:gd name="connsiteX1" fmla="*/ 638899 w 1916697"/>
                      <a:gd name="connsiteY1" fmla="*/ 0 h 1400383"/>
                      <a:gd name="connsiteX2" fmla="*/ 1296965 w 1916697"/>
                      <a:gd name="connsiteY2" fmla="*/ 0 h 1400383"/>
                      <a:gd name="connsiteX3" fmla="*/ 1916697 w 1916697"/>
                      <a:gd name="connsiteY3" fmla="*/ 0 h 1400383"/>
                      <a:gd name="connsiteX4" fmla="*/ 1916697 w 1916697"/>
                      <a:gd name="connsiteY4" fmla="*/ 466794 h 1400383"/>
                      <a:gd name="connsiteX5" fmla="*/ 1916697 w 1916697"/>
                      <a:gd name="connsiteY5" fmla="*/ 891577 h 1400383"/>
                      <a:gd name="connsiteX6" fmla="*/ 1916697 w 1916697"/>
                      <a:gd name="connsiteY6" fmla="*/ 1400383 h 1400383"/>
                      <a:gd name="connsiteX7" fmla="*/ 1258631 w 1916697"/>
                      <a:gd name="connsiteY7" fmla="*/ 1400383 h 1400383"/>
                      <a:gd name="connsiteX8" fmla="*/ 658066 w 1916697"/>
                      <a:gd name="connsiteY8" fmla="*/ 1400383 h 1400383"/>
                      <a:gd name="connsiteX9" fmla="*/ 0 w 1916697"/>
                      <a:gd name="connsiteY9" fmla="*/ 1400383 h 1400383"/>
                      <a:gd name="connsiteX10" fmla="*/ 0 w 1916697"/>
                      <a:gd name="connsiteY10" fmla="*/ 961596 h 1400383"/>
                      <a:gd name="connsiteX11" fmla="*/ 0 w 1916697"/>
                      <a:gd name="connsiteY11" fmla="*/ 466794 h 1400383"/>
                      <a:gd name="connsiteX12" fmla="*/ 0 w 1916697"/>
                      <a:gd name="connsiteY12" fmla="*/ 0 h 1400383"/>
                      <a:gd name="connsiteX0" fmla="*/ 0 w 1916697"/>
                      <a:gd name="connsiteY0" fmla="*/ 0 h 1400383"/>
                      <a:gd name="connsiteX1" fmla="*/ 600565 w 1916697"/>
                      <a:gd name="connsiteY1" fmla="*/ 0 h 1400383"/>
                      <a:gd name="connsiteX2" fmla="*/ 1258631 w 1916697"/>
                      <a:gd name="connsiteY2" fmla="*/ 0 h 1400383"/>
                      <a:gd name="connsiteX3" fmla="*/ 1916697 w 1916697"/>
                      <a:gd name="connsiteY3" fmla="*/ 0 h 1400383"/>
                      <a:gd name="connsiteX4" fmla="*/ 1916697 w 1916697"/>
                      <a:gd name="connsiteY4" fmla="*/ 438786 h 1400383"/>
                      <a:gd name="connsiteX5" fmla="*/ 1916697 w 1916697"/>
                      <a:gd name="connsiteY5" fmla="*/ 905580 h 1400383"/>
                      <a:gd name="connsiteX6" fmla="*/ 1916697 w 1916697"/>
                      <a:gd name="connsiteY6" fmla="*/ 1400383 h 1400383"/>
                      <a:gd name="connsiteX7" fmla="*/ 1258631 w 1916697"/>
                      <a:gd name="connsiteY7" fmla="*/ 1400383 h 1400383"/>
                      <a:gd name="connsiteX8" fmla="*/ 658066 w 1916697"/>
                      <a:gd name="connsiteY8" fmla="*/ 1400383 h 1400383"/>
                      <a:gd name="connsiteX9" fmla="*/ 0 w 1916697"/>
                      <a:gd name="connsiteY9" fmla="*/ 1400383 h 1400383"/>
                      <a:gd name="connsiteX10" fmla="*/ 0 w 1916697"/>
                      <a:gd name="connsiteY10" fmla="*/ 905580 h 1400383"/>
                      <a:gd name="connsiteX11" fmla="*/ 0 w 1916697"/>
                      <a:gd name="connsiteY11" fmla="*/ 466794 h 1400383"/>
                      <a:gd name="connsiteX12" fmla="*/ 0 w 1916697"/>
                      <a:gd name="connsiteY12" fmla="*/ 0 h 1400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16697" h="1400383" fill="none" extrusionOk="0">
                        <a:moveTo>
                          <a:pt x="0" y="0"/>
                        </a:moveTo>
                        <a:cubicBezTo>
                          <a:pt x="314086" y="-1329"/>
                          <a:pt x="346840" y="-24237"/>
                          <a:pt x="638899" y="0"/>
                        </a:cubicBezTo>
                        <a:cubicBezTo>
                          <a:pt x="920994" y="28876"/>
                          <a:pt x="1130004" y="-18520"/>
                          <a:pt x="1296965" y="0"/>
                        </a:cubicBezTo>
                        <a:cubicBezTo>
                          <a:pt x="1432717" y="7212"/>
                          <a:pt x="1769009" y="33130"/>
                          <a:pt x="1916697" y="0"/>
                        </a:cubicBezTo>
                        <a:cubicBezTo>
                          <a:pt x="1933525" y="113077"/>
                          <a:pt x="1909091" y="288908"/>
                          <a:pt x="1916697" y="466794"/>
                        </a:cubicBezTo>
                        <a:cubicBezTo>
                          <a:pt x="1896955" y="645565"/>
                          <a:pt x="1906846" y="742230"/>
                          <a:pt x="1916697" y="891577"/>
                        </a:cubicBezTo>
                        <a:cubicBezTo>
                          <a:pt x="1921366" y="998648"/>
                          <a:pt x="1896873" y="1251322"/>
                          <a:pt x="1916697" y="1400383"/>
                        </a:cubicBezTo>
                        <a:cubicBezTo>
                          <a:pt x="1696408" y="1377923"/>
                          <a:pt x="1532846" y="1384963"/>
                          <a:pt x="1258631" y="1400383"/>
                        </a:cubicBezTo>
                        <a:cubicBezTo>
                          <a:pt x="962456" y="1408079"/>
                          <a:pt x="850392" y="1413182"/>
                          <a:pt x="658066" y="1400383"/>
                        </a:cubicBezTo>
                        <a:cubicBezTo>
                          <a:pt x="446314" y="1393108"/>
                          <a:pt x="346055" y="1359396"/>
                          <a:pt x="0" y="1400383"/>
                        </a:cubicBezTo>
                        <a:cubicBezTo>
                          <a:pt x="-7897" y="1230134"/>
                          <a:pt x="10508" y="1048634"/>
                          <a:pt x="0" y="961596"/>
                        </a:cubicBezTo>
                        <a:cubicBezTo>
                          <a:pt x="2816" y="841684"/>
                          <a:pt x="-34647" y="714792"/>
                          <a:pt x="0" y="466794"/>
                        </a:cubicBezTo>
                        <a:cubicBezTo>
                          <a:pt x="21977" y="219451"/>
                          <a:pt x="-28153" y="186378"/>
                          <a:pt x="0" y="0"/>
                        </a:cubicBezTo>
                        <a:close/>
                      </a:path>
                      <a:path w="1916697" h="1400383" stroke="0" extrusionOk="0">
                        <a:moveTo>
                          <a:pt x="0" y="0"/>
                        </a:moveTo>
                        <a:cubicBezTo>
                          <a:pt x="221134" y="-5167"/>
                          <a:pt x="363960" y="-10937"/>
                          <a:pt x="600565" y="0"/>
                        </a:cubicBezTo>
                        <a:cubicBezTo>
                          <a:pt x="859857" y="30373"/>
                          <a:pt x="948726" y="-40259"/>
                          <a:pt x="1258631" y="0"/>
                        </a:cubicBezTo>
                        <a:cubicBezTo>
                          <a:pt x="1588870" y="15239"/>
                          <a:pt x="1653746" y="34"/>
                          <a:pt x="1916697" y="0"/>
                        </a:cubicBezTo>
                        <a:cubicBezTo>
                          <a:pt x="1925228" y="72971"/>
                          <a:pt x="1911181" y="258883"/>
                          <a:pt x="1916697" y="438786"/>
                        </a:cubicBezTo>
                        <a:cubicBezTo>
                          <a:pt x="1924926" y="603459"/>
                          <a:pt x="1895873" y="678242"/>
                          <a:pt x="1916697" y="905580"/>
                        </a:cubicBezTo>
                        <a:cubicBezTo>
                          <a:pt x="1922334" y="1132660"/>
                          <a:pt x="1918856" y="1284729"/>
                          <a:pt x="1916697" y="1400383"/>
                        </a:cubicBezTo>
                        <a:cubicBezTo>
                          <a:pt x="1661653" y="1393785"/>
                          <a:pt x="1396536" y="1403044"/>
                          <a:pt x="1258631" y="1400383"/>
                        </a:cubicBezTo>
                        <a:cubicBezTo>
                          <a:pt x="1128805" y="1388860"/>
                          <a:pt x="851007" y="1424259"/>
                          <a:pt x="658066" y="1400383"/>
                        </a:cubicBezTo>
                        <a:cubicBezTo>
                          <a:pt x="473205" y="1437041"/>
                          <a:pt x="250774" y="1448131"/>
                          <a:pt x="0" y="1400383"/>
                        </a:cubicBezTo>
                        <a:cubicBezTo>
                          <a:pt x="12324" y="1300847"/>
                          <a:pt x="-11110" y="1106125"/>
                          <a:pt x="0" y="905580"/>
                        </a:cubicBezTo>
                        <a:cubicBezTo>
                          <a:pt x="15896" y="700075"/>
                          <a:pt x="28694" y="653296"/>
                          <a:pt x="0" y="466794"/>
                        </a:cubicBezTo>
                        <a:cubicBezTo>
                          <a:pt x="-6927" y="279586"/>
                          <a:pt x="24011" y="204358"/>
                          <a:pt x="0" y="0"/>
                        </a:cubicBezTo>
                        <a:close/>
                      </a:path>
                      <a:path w="1916697" h="1400383" fill="none" stroke="0" extrusionOk="0">
                        <a:moveTo>
                          <a:pt x="0" y="0"/>
                        </a:moveTo>
                        <a:cubicBezTo>
                          <a:pt x="307921" y="6758"/>
                          <a:pt x="370411" y="-31533"/>
                          <a:pt x="638899" y="0"/>
                        </a:cubicBezTo>
                        <a:cubicBezTo>
                          <a:pt x="930471" y="49854"/>
                          <a:pt x="1134205" y="-3821"/>
                          <a:pt x="1296965" y="0"/>
                        </a:cubicBezTo>
                        <a:cubicBezTo>
                          <a:pt x="1464374" y="-11326"/>
                          <a:pt x="1764328" y="31450"/>
                          <a:pt x="1916697" y="0"/>
                        </a:cubicBezTo>
                        <a:cubicBezTo>
                          <a:pt x="1904153" y="104474"/>
                          <a:pt x="1924552" y="306905"/>
                          <a:pt x="1916697" y="466794"/>
                        </a:cubicBezTo>
                        <a:cubicBezTo>
                          <a:pt x="1907261" y="615281"/>
                          <a:pt x="1915593" y="744872"/>
                          <a:pt x="1916697" y="891577"/>
                        </a:cubicBezTo>
                        <a:cubicBezTo>
                          <a:pt x="1928867" y="1038330"/>
                          <a:pt x="1890782" y="1260744"/>
                          <a:pt x="1916697" y="1400383"/>
                        </a:cubicBezTo>
                        <a:cubicBezTo>
                          <a:pt x="1690770" y="1392221"/>
                          <a:pt x="1561459" y="1420764"/>
                          <a:pt x="1258631" y="1400383"/>
                        </a:cubicBezTo>
                        <a:cubicBezTo>
                          <a:pt x="957688" y="1412472"/>
                          <a:pt x="870498" y="1405719"/>
                          <a:pt x="658066" y="1400383"/>
                        </a:cubicBezTo>
                        <a:cubicBezTo>
                          <a:pt x="446041" y="1394329"/>
                          <a:pt x="348035" y="1368966"/>
                          <a:pt x="0" y="1400383"/>
                        </a:cubicBezTo>
                        <a:cubicBezTo>
                          <a:pt x="-36446" y="1207911"/>
                          <a:pt x="7892" y="1043687"/>
                          <a:pt x="0" y="961596"/>
                        </a:cubicBezTo>
                        <a:cubicBezTo>
                          <a:pt x="4974" y="871469"/>
                          <a:pt x="-22225" y="665938"/>
                          <a:pt x="0" y="466794"/>
                        </a:cubicBezTo>
                        <a:cubicBezTo>
                          <a:pt x="21112" y="236856"/>
                          <a:pt x="-8700" y="182055"/>
                          <a:pt x="0" y="0"/>
                        </a:cubicBezTo>
                        <a:close/>
                      </a:path>
                    </a:pathLst>
                  </a:custGeom>
                  <ask:type>
                    <ask:lineSketchFreehand/>
                  </ask:type>
                </ask:lineSketchStyleProps>
              </a:ext>
            </a:extLst>
          </a:ln>
        </p:spPr>
        <p:txBody>
          <a:bodyPr wrap="square" rtlCol="0">
            <a:spAutoFit/>
          </a:bodyPr>
          <a:lstStyle/>
          <a:p>
            <a:pPr marL="0" marR="0" lvl="0" indent="0" algn="ctr" defTabSz="914400" eaLnBrk="1" fontAlgn="auto" latinLnBrk="0" hangingPunct="1">
              <a:lnSpc>
                <a:spcPct val="100000"/>
              </a:lnSpc>
              <a:spcBef>
                <a:spcPts val="0"/>
              </a:spcBef>
              <a:spcAft>
                <a:spcPts val="60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mj-lt"/>
                <a:cs typeface="Arial"/>
              </a:rPr>
              <a:t>CERTIFICATE</a:t>
            </a:r>
          </a:p>
          <a:p>
            <a:pPr marL="0" marR="0" lvl="0" indent="0" algn="ctr" defTabSz="914400" eaLnBrk="1" fontAlgn="auto" latinLnBrk="0" hangingPunct="1">
              <a:lnSpc>
                <a:spcPct val="100000"/>
              </a:lnSpc>
              <a:spcBef>
                <a:spcPts val="0"/>
              </a:spcBef>
              <a:spcAft>
                <a:spcPts val="0"/>
              </a:spcAft>
              <a:buClrTx/>
              <a:buSzTx/>
              <a:buFontTx/>
              <a:buNone/>
              <a:tabLst/>
              <a:defRPr/>
            </a:pPr>
            <a:r>
              <a:rPr lang="en-US" dirty="0">
                <a:solidFill>
                  <a:schemeClr val="bg1"/>
                </a:solidFill>
              </a:rPr>
              <a:t>@Hero </a:t>
            </a:r>
            <a:r>
              <a:rPr kumimoji="0" lang="en-US" sz="1600" b="0" i="0" u="none" strike="noStrike" kern="0" cap="none" spc="0" normalizeH="0" baseline="0" noProof="0" dirty="0">
                <a:ln>
                  <a:noFill/>
                </a:ln>
                <a:solidFill>
                  <a:prstClr val="black"/>
                </a:solidFill>
                <a:effectLst/>
                <a:uLnTx/>
                <a:uFillTx/>
                <a:cs typeface="Arial"/>
              </a:rPr>
              <a:t>is indeed the real Saurabh.</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prstClr val="black"/>
              </a:solidFill>
              <a:effectLst/>
              <a:uLnTx/>
              <a:uFillTx/>
              <a:cs typeface="Arial"/>
            </a:endParaRPr>
          </a:p>
          <a:p>
            <a:pPr marL="0" marR="0" lvl="0" indent="0" algn="r" defTabSz="914400" eaLnBrk="1" fontAlgn="auto" latinLnBrk="0" hangingPunct="1">
              <a:lnSpc>
                <a:spcPct val="100000"/>
              </a:lnSpc>
              <a:spcBef>
                <a:spcPts val="0"/>
              </a:spcBef>
              <a:spcAft>
                <a:spcPts val="0"/>
              </a:spcAft>
              <a:buClrTx/>
              <a:buSzTx/>
              <a:buFontTx/>
              <a:buNone/>
              <a:tabLst/>
              <a:defRPr/>
            </a:pPr>
            <a:r>
              <a:rPr kumimoji="0" lang="en-IN" sz="1400" b="1" i="0" u="none" strike="noStrike" kern="0" cap="none" spc="0" normalizeH="0" baseline="0" noProof="0" dirty="0">
                <a:ln>
                  <a:noFill/>
                </a:ln>
                <a:solidFill>
                  <a:prstClr val="black"/>
                </a:solidFill>
                <a:effectLst/>
                <a:uLnTx/>
                <a:uFillTx/>
                <a:cs typeface="Arial"/>
              </a:rPr>
              <a:t>Signed by Smriti</a:t>
            </a:r>
            <a:endParaRPr kumimoji="0" lang="en-US" sz="1400" b="1" i="0" u="none" strike="noStrike" kern="0" cap="none" spc="0" normalizeH="0" baseline="0" noProof="0" dirty="0">
              <a:ln>
                <a:noFill/>
              </a:ln>
              <a:solidFill>
                <a:prstClr val="black"/>
              </a:solidFill>
              <a:effectLst/>
              <a:uLnTx/>
              <a:uFillTx/>
              <a:cs typeface="Arial"/>
            </a:endParaRPr>
          </a:p>
        </p:txBody>
      </p:sp>
      <p:sp>
        <p:nvSpPr>
          <p:cNvPr id="23" name="Arrow: Left 22">
            <a:extLst>
              <a:ext uri="{FF2B5EF4-FFF2-40B4-BE49-F238E27FC236}">
                <a16:creationId xmlns:a16="http://schemas.microsoft.com/office/drawing/2014/main" id="{06FA03D9-13E9-0B3E-C767-3B587222D0E5}"/>
              </a:ext>
            </a:extLst>
          </p:cNvPr>
          <p:cNvSpPr/>
          <p:nvPr/>
        </p:nvSpPr>
        <p:spPr bwMode="auto">
          <a:xfrm>
            <a:off x="3885860" y="5065065"/>
            <a:ext cx="2592288" cy="369332"/>
          </a:xfrm>
          <a:prstGeom prst="leftArrow">
            <a:avLst/>
          </a:prstGeom>
          <a:solidFill>
            <a:srgbClr val="219EBC"/>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alibri"/>
              <a:cs typeface="Arial"/>
            </a:endParaRPr>
          </a:p>
        </p:txBody>
      </p:sp>
    </p:spTree>
    <p:extLst>
      <p:ext uri="{BB962C8B-B14F-4D97-AF65-F5344CB8AC3E}">
        <p14:creationId xmlns:p14="http://schemas.microsoft.com/office/powerpoint/2010/main" val="4866662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F8A85-B563-45E2-967A-8714968EAF51}"/>
              </a:ext>
            </a:extLst>
          </p:cNvPr>
          <p:cNvSpPr>
            <a:spLocks noGrp="1"/>
          </p:cNvSpPr>
          <p:nvPr>
            <p:ph type="title"/>
          </p:nvPr>
        </p:nvSpPr>
        <p:spPr/>
        <p:txBody>
          <a:bodyPr/>
          <a:lstStyle/>
          <a:p>
            <a:r>
              <a:rPr lang="en-US" cap="none" dirty="0">
                <a:solidFill>
                  <a:srgbClr val="FB8500"/>
                </a:solidFill>
                <a:latin typeface="High Tower Text" panose="02040502050506030303" pitchFamily="18" charset="0"/>
              </a:rPr>
              <a:t>Digital Certificates</a:t>
            </a:r>
            <a:endParaRPr lang="en-IN" cap="none" dirty="0">
              <a:solidFill>
                <a:srgbClr val="FB8500"/>
              </a:solidFill>
              <a:latin typeface="High Tower Text" panose="02040502050506030303" pitchFamily="18" charset="0"/>
            </a:endParaRPr>
          </a:p>
        </p:txBody>
      </p:sp>
      <p:sp>
        <p:nvSpPr>
          <p:cNvPr id="3" name="Content Placeholder 2">
            <a:extLst>
              <a:ext uri="{FF2B5EF4-FFF2-40B4-BE49-F238E27FC236}">
                <a16:creationId xmlns:a16="http://schemas.microsoft.com/office/drawing/2014/main" id="{92A14478-519D-E75B-442C-7B3EEB98259D}"/>
              </a:ext>
            </a:extLst>
          </p:cNvPr>
          <p:cNvSpPr>
            <a:spLocks noGrp="1"/>
          </p:cNvSpPr>
          <p:nvPr>
            <p:ph idx="1"/>
          </p:nvPr>
        </p:nvSpPr>
        <p:spPr>
          <a:xfrm>
            <a:off x="1028122" y="1545731"/>
            <a:ext cx="2857804" cy="545642"/>
          </a:xfrm>
        </p:spPr>
        <p:txBody>
          <a:bodyPr/>
          <a:lstStyle/>
          <a:p>
            <a:r>
              <a:rPr lang="en-US" dirty="0">
                <a:solidFill>
                  <a:schemeClr val="bg1"/>
                </a:solidFill>
              </a:rPr>
              <a:t>Trust based identity </a:t>
            </a:r>
            <a:endParaRPr lang="en-IN" dirty="0">
              <a:solidFill>
                <a:schemeClr val="bg1"/>
              </a:solidFill>
            </a:endParaRPr>
          </a:p>
        </p:txBody>
      </p:sp>
      <p:sp>
        <p:nvSpPr>
          <p:cNvPr id="4" name="Rectangle 3">
            <a:extLst>
              <a:ext uri="{FF2B5EF4-FFF2-40B4-BE49-F238E27FC236}">
                <a16:creationId xmlns:a16="http://schemas.microsoft.com/office/drawing/2014/main" id="{75E0814E-F4C4-4A0F-CD76-6C7497AC8F34}"/>
              </a:ext>
            </a:extLst>
          </p:cNvPr>
          <p:cNvSpPr/>
          <p:nvPr/>
        </p:nvSpPr>
        <p:spPr>
          <a:xfrm>
            <a:off x="0" y="0"/>
            <a:ext cx="806245" cy="6858000"/>
          </a:xfrm>
          <a:prstGeom prst="rect">
            <a:avLst/>
          </a:prstGeom>
          <a:solidFill>
            <a:srgbClr val="219EBC"/>
          </a:solidFill>
          <a:ln>
            <a:solidFill>
              <a:srgbClr val="219E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rgbClr val="219EBC"/>
              </a:solidFill>
            </a:endParaRPr>
          </a:p>
        </p:txBody>
      </p:sp>
      <p:pic>
        <p:nvPicPr>
          <p:cNvPr id="2050" name="Picture 2" descr="Truminds Software Systems | LinkedIn">
            <a:extLst>
              <a:ext uri="{FF2B5EF4-FFF2-40B4-BE49-F238E27FC236}">
                <a16:creationId xmlns:a16="http://schemas.microsoft.com/office/drawing/2014/main" id="{074CEAAD-016E-FE56-B3FF-512C6E5054DE}"/>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28000" b="69500" l="1500" r="97000">
                        <a14:foregroundMark x1="11000" y1="53000" x2="11000" y2="53000"/>
                        <a14:foregroundMark x1="20000" y1="38500" x2="20000" y2="38500"/>
                        <a14:foregroundMark x1="6000" y1="40500" x2="6000" y2="40500"/>
                        <a14:foregroundMark x1="1500" y1="39500" x2="1500" y2="39500"/>
                        <a14:foregroundMark x1="23500" y1="39500" x2="23500" y2="39500"/>
                        <a14:foregroundMark x1="21000" y1="55500" x2="21000" y2="55500"/>
                        <a14:foregroundMark x1="31500" y1="61500" x2="31500" y2="61500"/>
                        <a14:foregroundMark x1="41500" y1="60000" x2="41500" y2="60000"/>
                        <a14:foregroundMark x1="61000" y1="60000" x2="61000" y2="60000"/>
                        <a14:foregroundMark x1="60500" y1="49000" x2="60500" y2="49000"/>
                        <a14:foregroundMark x1="66500" y1="57000" x2="66500" y2="57000"/>
                        <a14:foregroundMark x1="78000" y1="59000" x2="78000" y2="59000"/>
                        <a14:foregroundMark x1="93500" y1="57000" x2="93500" y2="57000"/>
                        <a14:foregroundMark x1="92500" y1="61500" x2="92500" y2="61500"/>
                        <a14:foregroundMark x1="97000" y1="59000" x2="97000" y2="59000"/>
                      </a14:backgroundRemoval>
                    </a14:imgEffect>
                  </a14:imgLayer>
                </a14:imgProps>
              </a:ext>
              <a:ext uri="{28A0092B-C50C-407E-A947-70E740481C1C}">
                <a14:useLocalDpi xmlns:a14="http://schemas.microsoft.com/office/drawing/2010/main" val="0"/>
              </a:ext>
            </a:extLst>
          </a:blip>
          <a:srcRect t="24194" b="24913"/>
          <a:stretch/>
        </p:blipFill>
        <p:spPr bwMode="auto">
          <a:xfrm>
            <a:off x="10890447" y="108178"/>
            <a:ext cx="1197765" cy="609577"/>
          </a:xfrm>
          <a:prstGeom prst="rect">
            <a:avLst/>
          </a:prstGeom>
          <a:noFill/>
          <a:effectLst>
            <a:glow rad="25400">
              <a:srgbClr val="8ECAE6">
                <a:alpha val="31000"/>
              </a:srgbClr>
            </a:glow>
          </a:effectLst>
          <a:extLst>
            <a:ext uri="{909E8E84-426E-40DD-AFC4-6F175D3DCCD1}">
              <a14:hiddenFill xmlns:a14="http://schemas.microsoft.com/office/drawing/2010/main">
                <a:solidFill>
                  <a:srgbClr val="FFFFFF"/>
                </a:solidFill>
              </a14:hiddenFill>
            </a:ext>
          </a:extLst>
        </p:spPr>
      </p:pic>
      <p:pic>
        <p:nvPicPr>
          <p:cNvPr id="77" name="Graphic 76" descr="Male profile with solid fill">
            <a:extLst>
              <a:ext uri="{FF2B5EF4-FFF2-40B4-BE49-F238E27FC236}">
                <a16:creationId xmlns:a16="http://schemas.microsoft.com/office/drawing/2014/main" id="{9CABF91B-1E7D-2EEB-0DEB-4BD375165C2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bwMode="auto">
          <a:xfrm>
            <a:off x="2318534" y="4517462"/>
            <a:ext cx="1351182" cy="1351182"/>
          </a:xfrm>
          <a:prstGeom prst="rect">
            <a:avLst/>
          </a:prstGeom>
        </p:spPr>
      </p:pic>
      <p:pic>
        <p:nvPicPr>
          <p:cNvPr id="78" name="Graphic 77" descr="Female Profile with solid fill">
            <a:extLst>
              <a:ext uri="{FF2B5EF4-FFF2-40B4-BE49-F238E27FC236}">
                <a16:creationId xmlns:a16="http://schemas.microsoft.com/office/drawing/2014/main" id="{69D7DF92-6ED9-8A40-2A4C-042FAE3E2FD2}"/>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bwMode="auto">
          <a:xfrm>
            <a:off x="5694020" y="2565876"/>
            <a:ext cx="1245840" cy="1245840"/>
          </a:xfrm>
          <a:prstGeom prst="rect">
            <a:avLst/>
          </a:prstGeom>
        </p:spPr>
      </p:pic>
      <p:sp>
        <p:nvSpPr>
          <p:cNvPr id="81" name="TextBox 80">
            <a:extLst>
              <a:ext uri="{FF2B5EF4-FFF2-40B4-BE49-F238E27FC236}">
                <a16:creationId xmlns:a16="http://schemas.microsoft.com/office/drawing/2014/main" id="{329779E4-2AE0-F214-2AC1-C12DE07F6D02}"/>
              </a:ext>
            </a:extLst>
          </p:cNvPr>
          <p:cNvSpPr txBox="1"/>
          <p:nvPr/>
        </p:nvSpPr>
        <p:spPr bwMode="auto">
          <a:xfrm>
            <a:off x="2458510" y="5766804"/>
            <a:ext cx="1071229" cy="369332"/>
          </a:xfrm>
          <a:prstGeom prst="rect">
            <a:avLst/>
          </a:prstGeom>
          <a:noFill/>
        </p:spPr>
        <p:txBody>
          <a:bodyPr wrap="square" rtlCol="0">
            <a:spAutoFit/>
          </a:bodyPr>
          <a:lstStyle/>
          <a:p>
            <a:pPr algn="ctr" defTabSz="914400"/>
            <a:r>
              <a:rPr lang="en-US" kern="0" dirty="0">
                <a:solidFill>
                  <a:prstClr val="black"/>
                </a:solidFill>
                <a:cs typeface="Arial"/>
              </a:rPr>
              <a:t>Utkarsh</a:t>
            </a:r>
            <a:endParaRPr lang="en-IN" kern="0" dirty="0">
              <a:solidFill>
                <a:prstClr val="black"/>
              </a:solidFill>
              <a:cs typeface="Arial"/>
            </a:endParaRPr>
          </a:p>
        </p:txBody>
      </p:sp>
      <p:sp>
        <p:nvSpPr>
          <p:cNvPr id="82" name="TextBox 81">
            <a:extLst>
              <a:ext uri="{FF2B5EF4-FFF2-40B4-BE49-F238E27FC236}">
                <a16:creationId xmlns:a16="http://schemas.microsoft.com/office/drawing/2014/main" id="{95E2DDF0-919A-1000-639B-C171D8FE7A1F}"/>
              </a:ext>
            </a:extLst>
          </p:cNvPr>
          <p:cNvSpPr txBox="1"/>
          <p:nvPr/>
        </p:nvSpPr>
        <p:spPr bwMode="auto">
          <a:xfrm>
            <a:off x="5873060" y="3717010"/>
            <a:ext cx="901080" cy="369332"/>
          </a:xfrm>
          <a:prstGeom prst="rect">
            <a:avLst/>
          </a:prstGeom>
          <a:noFill/>
        </p:spPr>
        <p:txBody>
          <a:bodyPr wrap="square">
            <a:spAutoFit/>
          </a:bodyPr>
          <a:lstStyle/>
          <a:p>
            <a:pPr algn="ctr" defTabSz="914400"/>
            <a:r>
              <a:rPr lang="en-US" kern="0" dirty="0">
                <a:solidFill>
                  <a:prstClr val="black"/>
                </a:solidFill>
                <a:cs typeface="Arial"/>
              </a:rPr>
              <a:t>Smriti</a:t>
            </a:r>
            <a:endParaRPr lang="en-IN" kern="0" dirty="0">
              <a:solidFill>
                <a:prstClr val="black"/>
              </a:solidFill>
              <a:cs typeface="Arial"/>
            </a:endParaRPr>
          </a:p>
        </p:txBody>
      </p:sp>
      <p:pic>
        <p:nvPicPr>
          <p:cNvPr id="83" name="Graphic 82" descr="Male profile with solid fill">
            <a:extLst>
              <a:ext uri="{FF2B5EF4-FFF2-40B4-BE49-F238E27FC236}">
                <a16:creationId xmlns:a16="http://schemas.microsoft.com/office/drawing/2014/main" id="{DB58D3E8-9A15-870B-F5C8-17B5DAE6C148}"/>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bwMode="auto">
          <a:xfrm>
            <a:off x="8770927" y="4511445"/>
            <a:ext cx="1351182" cy="1351182"/>
          </a:xfrm>
          <a:prstGeom prst="rect">
            <a:avLst/>
          </a:prstGeom>
        </p:spPr>
      </p:pic>
      <p:sp>
        <p:nvSpPr>
          <p:cNvPr id="84" name="TextBox 83">
            <a:extLst>
              <a:ext uri="{FF2B5EF4-FFF2-40B4-BE49-F238E27FC236}">
                <a16:creationId xmlns:a16="http://schemas.microsoft.com/office/drawing/2014/main" id="{70E9AC89-8F04-45A4-97E3-CDDC2441A865}"/>
              </a:ext>
            </a:extLst>
          </p:cNvPr>
          <p:cNvSpPr txBox="1"/>
          <p:nvPr/>
        </p:nvSpPr>
        <p:spPr bwMode="auto">
          <a:xfrm>
            <a:off x="8910903" y="5753047"/>
            <a:ext cx="1071229" cy="369332"/>
          </a:xfrm>
          <a:prstGeom prst="rect">
            <a:avLst/>
          </a:prstGeom>
          <a:noFill/>
        </p:spPr>
        <p:txBody>
          <a:bodyPr wrap="square" rtlCol="0">
            <a:spAutoFit/>
          </a:bodyPr>
          <a:lstStyle/>
          <a:p>
            <a:pPr algn="ctr" defTabSz="914400"/>
            <a:r>
              <a:rPr lang="en-US" kern="0" dirty="0">
                <a:solidFill>
                  <a:prstClr val="black"/>
                </a:solidFill>
                <a:cs typeface="Arial"/>
              </a:rPr>
              <a:t>@Hero</a:t>
            </a:r>
            <a:endParaRPr lang="en-IN" kern="0" dirty="0">
              <a:solidFill>
                <a:prstClr val="black"/>
              </a:solidFill>
              <a:cs typeface="Arial"/>
            </a:endParaRPr>
          </a:p>
        </p:txBody>
      </p:sp>
      <p:sp>
        <p:nvSpPr>
          <p:cNvPr id="22" name="TextBox 21">
            <a:extLst>
              <a:ext uri="{FF2B5EF4-FFF2-40B4-BE49-F238E27FC236}">
                <a16:creationId xmlns:a16="http://schemas.microsoft.com/office/drawing/2014/main" id="{95D6D6EF-DCE4-BA80-4668-D15B22850133}"/>
              </a:ext>
            </a:extLst>
          </p:cNvPr>
          <p:cNvSpPr txBox="1"/>
          <p:nvPr/>
        </p:nvSpPr>
        <p:spPr bwMode="auto">
          <a:xfrm>
            <a:off x="3613923" y="4673382"/>
            <a:ext cx="1916697" cy="1400383"/>
          </a:xfrm>
          <a:custGeom>
            <a:avLst/>
            <a:gdLst>
              <a:gd name="connsiteX0" fmla="*/ 0 w 1916697"/>
              <a:gd name="connsiteY0" fmla="*/ 0 h 1615827"/>
              <a:gd name="connsiteX1" fmla="*/ 638899 w 1916697"/>
              <a:gd name="connsiteY1" fmla="*/ 0 h 1615827"/>
              <a:gd name="connsiteX2" fmla="*/ 1296965 w 1916697"/>
              <a:gd name="connsiteY2" fmla="*/ 0 h 1615827"/>
              <a:gd name="connsiteX3" fmla="*/ 1916697 w 1916697"/>
              <a:gd name="connsiteY3" fmla="*/ 0 h 1615827"/>
              <a:gd name="connsiteX4" fmla="*/ 1916697 w 1916697"/>
              <a:gd name="connsiteY4" fmla="*/ 538609 h 1615827"/>
              <a:gd name="connsiteX5" fmla="*/ 1916697 w 1916697"/>
              <a:gd name="connsiteY5" fmla="*/ 1028743 h 1615827"/>
              <a:gd name="connsiteX6" fmla="*/ 1916697 w 1916697"/>
              <a:gd name="connsiteY6" fmla="*/ 1615827 h 1615827"/>
              <a:gd name="connsiteX7" fmla="*/ 1258631 w 1916697"/>
              <a:gd name="connsiteY7" fmla="*/ 1615827 h 1615827"/>
              <a:gd name="connsiteX8" fmla="*/ 658066 w 1916697"/>
              <a:gd name="connsiteY8" fmla="*/ 1615827 h 1615827"/>
              <a:gd name="connsiteX9" fmla="*/ 0 w 1916697"/>
              <a:gd name="connsiteY9" fmla="*/ 1615827 h 1615827"/>
              <a:gd name="connsiteX10" fmla="*/ 0 w 1916697"/>
              <a:gd name="connsiteY10" fmla="*/ 1109535 h 1615827"/>
              <a:gd name="connsiteX11" fmla="*/ 0 w 1916697"/>
              <a:gd name="connsiteY11" fmla="*/ 538609 h 1615827"/>
              <a:gd name="connsiteX12" fmla="*/ 0 w 1916697"/>
              <a:gd name="connsiteY12" fmla="*/ 0 h 1615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16697" h="1615827" fill="none" extrusionOk="0">
                <a:moveTo>
                  <a:pt x="0" y="0"/>
                </a:moveTo>
                <a:cubicBezTo>
                  <a:pt x="304776" y="4962"/>
                  <a:pt x="360156" y="-27241"/>
                  <a:pt x="638899" y="0"/>
                </a:cubicBezTo>
                <a:cubicBezTo>
                  <a:pt x="917642" y="27241"/>
                  <a:pt x="1132746" y="-15730"/>
                  <a:pt x="1296965" y="0"/>
                </a:cubicBezTo>
                <a:cubicBezTo>
                  <a:pt x="1461184" y="15730"/>
                  <a:pt x="1754082" y="13820"/>
                  <a:pt x="1916697" y="0"/>
                </a:cubicBezTo>
                <a:cubicBezTo>
                  <a:pt x="1924673" y="133235"/>
                  <a:pt x="1927289" y="350306"/>
                  <a:pt x="1916697" y="538609"/>
                </a:cubicBezTo>
                <a:cubicBezTo>
                  <a:pt x="1906105" y="726912"/>
                  <a:pt x="1911740" y="861960"/>
                  <a:pt x="1916697" y="1028743"/>
                </a:cubicBezTo>
                <a:cubicBezTo>
                  <a:pt x="1921654" y="1195526"/>
                  <a:pt x="1908430" y="1419358"/>
                  <a:pt x="1916697" y="1615827"/>
                </a:cubicBezTo>
                <a:cubicBezTo>
                  <a:pt x="1695592" y="1608822"/>
                  <a:pt x="1556424" y="1603152"/>
                  <a:pt x="1258631" y="1615827"/>
                </a:cubicBezTo>
                <a:cubicBezTo>
                  <a:pt x="960838" y="1628502"/>
                  <a:pt x="866731" y="1623437"/>
                  <a:pt x="658066" y="1615827"/>
                </a:cubicBezTo>
                <a:cubicBezTo>
                  <a:pt x="449402" y="1608217"/>
                  <a:pt x="326240" y="1594328"/>
                  <a:pt x="0" y="1615827"/>
                </a:cubicBezTo>
                <a:cubicBezTo>
                  <a:pt x="-23309" y="1401419"/>
                  <a:pt x="21296" y="1226493"/>
                  <a:pt x="0" y="1109535"/>
                </a:cubicBezTo>
                <a:cubicBezTo>
                  <a:pt x="-21296" y="992577"/>
                  <a:pt x="-18247" y="808926"/>
                  <a:pt x="0" y="538609"/>
                </a:cubicBezTo>
                <a:cubicBezTo>
                  <a:pt x="18247" y="268292"/>
                  <a:pt x="-16402" y="217664"/>
                  <a:pt x="0" y="0"/>
                </a:cubicBezTo>
                <a:close/>
              </a:path>
              <a:path w="1916697" h="1615827" stroke="0" extrusionOk="0">
                <a:moveTo>
                  <a:pt x="0" y="0"/>
                </a:moveTo>
                <a:cubicBezTo>
                  <a:pt x="213372" y="-12378"/>
                  <a:pt x="363677" y="-19580"/>
                  <a:pt x="600565" y="0"/>
                </a:cubicBezTo>
                <a:cubicBezTo>
                  <a:pt x="837453" y="19580"/>
                  <a:pt x="940416" y="-19074"/>
                  <a:pt x="1258631" y="0"/>
                </a:cubicBezTo>
                <a:cubicBezTo>
                  <a:pt x="1576846" y="19074"/>
                  <a:pt x="1656086" y="11079"/>
                  <a:pt x="1916697" y="0"/>
                </a:cubicBezTo>
                <a:cubicBezTo>
                  <a:pt x="1924510" y="101274"/>
                  <a:pt x="1900054" y="314610"/>
                  <a:pt x="1916697" y="506292"/>
                </a:cubicBezTo>
                <a:cubicBezTo>
                  <a:pt x="1933340" y="697974"/>
                  <a:pt x="1909987" y="786091"/>
                  <a:pt x="1916697" y="1044901"/>
                </a:cubicBezTo>
                <a:cubicBezTo>
                  <a:pt x="1923407" y="1303711"/>
                  <a:pt x="1930014" y="1492556"/>
                  <a:pt x="1916697" y="1615827"/>
                </a:cubicBezTo>
                <a:cubicBezTo>
                  <a:pt x="1661338" y="1596936"/>
                  <a:pt x="1408731" y="1608852"/>
                  <a:pt x="1258631" y="1615827"/>
                </a:cubicBezTo>
                <a:cubicBezTo>
                  <a:pt x="1108531" y="1622802"/>
                  <a:pt x="851635" y="1600629"/>
                  <a:pt x="658066" y="1615827"/>
                </a:cubicBezTo>
                <a:cubicBezTo>
                  <a:pt x="464497" y="1631025"/>
                  <a:pt x="279645" y="1633640"/>
                  <a:pt x="0" y="1615827"/>
                </a:cubicBezTo>
                <a:cubicBezTo>
                  <a:pt x="-4155" y="1478495"/>
                  <a:pt x="-18739" y="1278109"/>
                  <a:pt x="0" y="1044901"/>
                </a:cubicBezTo>
                <a:cubicBezTo>
                  <a:pt x="18739" y="811693"/>
                  <a:pt x="21981" y="747985"/>
                  <a:pt x="0" y="538609"/>
                </a:cubicBezTo>
                <a:cubicBezTo>
                  <a:pt x="-21981" y="329233"/>
                  <a:pt x="4620" y="239254"/>
                  <a:pt x="0" y="0"/>
                </a:cubicBezTo>
                <a:close/>
              </a:path>
            </a:pathLst>
          </a:custGeom>
          <a:solidFill>
            <a:srgbClr val="ED7D31">
              <a:lumMod val="20000"/>
              <a:lumOff val="80000"/>
            </a:srgbClr>
          </a:solidFill>
          <a:ln w="28575">
            <a:solidFill>
              <a:sysClr val="windowText" lastClr="000000"/>
            </a:solidFill>
            <a:extLst>
              <a:ext uri="{C807C97D-BFC1-408E-A445-0C87EB9F89A2}">
                <ask:lineSketchStyleProps xmlns:ask="http://schemas.microsoft.com/office/drawing/2018/sketchyshapes" sd="1795169809">
                  <a:custGeom>
                    <a:avLst/>
                    <a:gdLst>
                      <a:gd name="connsiteX0" fmla="*/ 0 w 1916697"/>
                      <a:gd name="connsiteY0" fmla="*/ 0 h 1400383"/>
                      <a:gd name="connsiteX1" fmla="*/ 638899 w 1916697"/>
                      <a:gd name="connsiteY1" fmla="*/ 0 h 1400383"/>
                      <a:gd name="connsiteX2" fmla="*/ 1296965 w 1916697"/>
                      <a:gd name="connsiteY2" fmla="*/ 0 h 1400383"/>
                      <a:gd name="connsiteX3" fmla="*/ 1916697 w 1916697"/>
                      <a:gd name="connsiteY3" fmla="*/ 0 h 1400383"/>
                      <a:gd name="connsiteX4" fmla="*/ 1916697 w 1916697"/>
                      <a:gd name="connsiteY4" fmla="*/ 466794 h 1400383"/>
                      <a:gd name="connsiteX5" fmla="*/ 1916697 w 1916697"/>
                      <a:gd name="connsiteY5" fmla="*/ 891577 h 1400383"/>
                      <a:gd name="connsiteX6" fmla="*/ 1916697 w 1916697"/>
                      <a:gd name="connsiteY6" fmla="*/ 1400383 h 1400383"/>
                      <a:gd name="connsiteX7" fmla="*/ 1258631 w 1916697"/>
                      <a:gd name="connsiteY7" fmla="*/ 1400383 h 1400383"/>
                      <a:gd name="connsiteX8" fmla="*/ 658066 w 1916697"/>
                      <a:gd name="connsiteY8" fmla="*/ 1400383 h 1400383"/>
                      <a:gd name="connsiteX9" fmla="*/ 0 w 1916697"/>
                      <a:gd name="connsiteY9" fmla="*/ 1400383 h 1400383"/>
                      <a:gd name="connsiteX10" fmla="*/ 0 w 1916697"/>
                      <a:gd name="connsiteY10" fmla="*/ 961596 h 1400383"/>
                      <a:gd name="connsiteX11" fmla="*/ 0 w 1916697"/>
                      <a:gd name="connsiteY11" fmla="*/ 466794 h 1400383"/>
                      <a:gd name="connsiteX12" fmla="*/ 0 w 1916697"/>
                      <a:gd name="connsiteY12" fmla="*/ 0 h 1400383"/>
                      <a:gd name="connsiteX0" fmla="*/ 0 w 1916697"/>
                      <a:gd name="connsiteY0" fmla="*/ 0 h 1400383"/>
                      <a:gd name="connsiteX1" fmla="*/ 600565 w 1916697"/>
                      <a:gd name="connsiteY1" fmla="*/ 0 h 1400383"/>
                      <a:gd name="connsiteX2" fmla="*/ 1258631 w 1916697"/>
                      <a:gd name="connsiteY2" fmla="*/ 0 h 1400383"/>
                      <a:gd name="connsiteX3" fmla="*/ 1916697 w 1916697"/>
                      <a:gd name="connsiteY3" fmla="*/ 0 h 1400383"/>
                      <a:gd name="connsiteX4" fmla="*/ 1916697 w 1916697"/>
                      <a:gd name="connsiteY4" fmla="*/ 438786 h 1400383"/>
                      <a:gd name="connsiteX5" fmla="*/ 1916697 w 1916697"/>
                      <a:gd name="connsiteY5" fmla="*/ 905580 h 1400383"/>
                      <a:gd name="connsiteX6" fmla="*/ 1916697 w 1916697"/>
                      <a:gd name="connsiteY6" fmla="*/ 1400383 h 1400383"/>
                      <a:gd name="connsiteX7" fmla="*/ 1258631 w 1916697"/>
                      <a:gd name="connsiteY7" fmla="*/ 1400383 h 1400383"/>
                      <a:gd name="connsiteX8" fmla="*/ 658066 w 1916697"/>
                      <a:gd name="connsiteY8" fmla="*/ 1400383 h 1400383"/>
                      <a:gd name="connsiteX9" fmla="*/ 0 w 1916697"/>
                      <a:gd name="connsiteY9" fmla="*/ 1400383 h 1400383"/>
                      <a:gd name="connsiteX10" fmla="*/ 0 w 1916697"/>
                      <a:gd name="connsiteY10" fmla="*/ 905580 h 1400383"/>
                      <a:gd name="connsiteX11" fmla="*/ 0 w 1916697"/>
                      <a:gd name="connsiteY11" fmla="*/ 466794 h 1400383"/>
                      <a:gd name="connsiteX12" fmla="*/ 0 w 1916697"/>
                      <a:gd name="connsiteY12" fmla="*/ 0 h 1400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16697" h="1400383" fill="none" extrusionOk="0">
                        <a:moveTo>
                          <a:pt x="0" y="0"/>
                        </a:moveTo>
                        <a:cubicBezTo>
                          <a:pt x="314086" y="-1329"/>
                          <a:pt x="346840" y="-24237"/>
                          <a:pt x="638899" y="0"/>
                        </a:cubicBezTo>
                        <a:cubicBezTo>
                          <a:pt x="920994" y="28876"/>
                          <a:pt x="1130004" y="-18520"/>
                          <a:pt x="1296965" y="0"/>
                        </a:cubicBezTo>
                        <a:cubicBezTo>
                          <a:pt x="1432717" y="7212"/>
                          <a:pt x="1769009" y="33130"/>
                          <a:pt x="1916697" y="0"/>
                        </a:cubicBezTo>
                        <a:cubicBezTo>
                          <a:pt x="1933525" y="113077"/>
                          <a:pt x="1909091" y="288908"/>
                          <a:pt x="1916697" y="466794"/>
                        </a:cubicBezTo>
                        <a:cubicBezTo>
                          <a:pt x="1896955" y="645565"/>
                          <a:pt x="1906846" y="742230"/>
                          <a:pt x="1916697" y="891577"/>
                        </a:cubicBezTo>
                        <a:cubicBezTo>
                          <a:pt x="1921366" y="998648"/>
                          <a:pt x="1896873" y="1251322"/>
                          <a:pt x="1916697" y="1400383"/>
                        </a:cubicBezTo>
                        <a:cubicBezTo>
                          <a:pt x="1696408" y="1377923"/>
                          <a:pt x="1532846" y="1384963"/>
                          <a:pt x="1258631" y="1400383"/>
                        </a:cubicBezTo>
                        <a:cubicBezTo>
                          <a:pt x="962456" y="1408079"/>
                          <a:pt x="850392" y="1413182"/>
                          <a:pt x="658066" y="1400383"/>
                        </a:cubicBezTo>
                        <a:cubicBezTo>
                          <a:pt x="446314" y="1393108"/>
                          <a:pt x="346055" y="1359396"/>
                          <a:pt x="0" y="1400383"/>
                        </a:cubicBezTo>
                        <a:cubicBezTo>
                          <a:pt x="-7897" y="1230134"/>
                          <a:pt x="10508" y="1048634"/>
                          <a:pt x="0" y="961596"/>
                        </a:cubicBezTo>
                        <a:cubicBezTo>
                          <a:pt x="2816" y="841684"/>
                          <a:pt x="-34647" y="714792"/>
                          <a:pt x="0" y="466794"/>
                        </a:cubicBezTo>
                        <a:cubicBezTo>
                          <a:pt x="21977" y="219451"/>
                          <a:pt x="-28153" y="186378"/>
                          <a:pt x="0" y="0"/>
                        </a:cubicBezTo>
                        <a:close/>
                      </a:path>
                      <a:path w="1916697" h="1400383" stroke="0" extrusionOk="0">
                        <a:moveTo>
                          <a:pt x="0" y="0"/>
                        </a:moveTo>
                        <a:cubicBezTo>
                          <a:pt x="221134" y="-5167"/>
                          <a:pt x="363960" y="-10937"/>
                          <a:pt x="600565" y="0"/>
                        </a:cubicBezTo>
                        <a:cubicBezTo>
                          <a:pt x="859857" y="30373"/>
                          <a:pt x="948726" y="-40259"/>
                          <a:pt x="1258631" y="0"/>
                        </a:cubicBezTo>
                        <a:cubicBezTo>
                          <a:pt x="1588870" y="15239"/>
                          <a:pt x="1653746" y="34"/>
                          <a:pt x="1916697" y="0"/>
                        </a:cubicBezTo>
                        <a:cubicBezTo>
                          <a:pt x="1925228" y="72971"/>
                          <a:pt x="1911181" y="258883"/>
                          <a:pt x="1916697" y="438786"/>
                        </a:cubicBezTo>
                        <a:cubicBezTo>
                          <a:pt x="1924926" y="603459"/>
                          <a:pt x="1895873" y="678242"/>
                          <a:pt x="1916697" y="905580"/>
                        </a:cubicBezTo>
                        <a:cubicBezTo>
                          <a:pt x="1922334" y="1132660"/>
                          <a:pt x="1918856" y="1284729"/>
                          <a:pt x="1916697" y="1400383"/>
                        </a:cubicBezTo>
                        <a:cubicBezTo>
                          <a:pt x="1661653" y="1393785"/>
                          <a:pt x="1396536" y="1403044"/>
                          <a:pt x="1258631" y="1400383"/>
                        </a:cubicBezTo>
                        <a:cubicBezTo>
                          <a:pt x="1128805" y="1388860"/>
                          <a:pt x="851007" y="1424259"/>
                          <a:pt x="658066" y="1400383"/>
                        </a:cubicBezTo>
                        <a:cubicBezTo>
                          <a:pt x="473205" y="1437041"/>
                          <a:pt x="250774" y="1448131"/>
                          <a:pt x="0" y="1400383"/>
                        </a:cubicBezTo>
                        <a:cubicBezTo>
                          <a:pt x="12324" y="1300847"/>
                          <a:pt x="-11110" y="1106125"/>
                          <a:pt x="0" y="905580"/>
                        </a:cubicBezTo>
                        <a:cubicBezTo>
                          <a:pt x="15896" y="700075"/>
                          <a:pt x="28694" y="653296"/>
                          <a:pt x="0" y="466794"/>
                        </a:cubicBezTo>
                        <a:cubicBezTo>
                          <a:pt x="-6927" y="279586"/>
                          <a:pt x="24011" y="204358"/>
                          <a:pt x="0" y="0"/>
                        </a:cubicBezTo>
                        <a:close/>
                      </a:path>
                      <a:path w="1916697" h="1400383" fill="none" stroke="0" extrusionOk="0">
                        <a:moveTo>
                          <a:pt x="0" y="0"/>
                        </a:moveTo>
                        <a:cubicBezTo>
                          <a:pt x="307921" y="6758"/>
                          <a:pt x="370411" y="-31533"/>
                          <a:pt x="638899" y="0"/>
                        </a:cubicBezTo>
                        <a:cubicBezTo>
                          <a:pt x="930471" y="49854"/>
                          <a:pt x="1134205" y="-3821"/>
                          <a:pt x="1296965" y="0"/>
                        </a:cubicBezTo>
                        <a:cubicBezTo>
                          <a:pt x="1464374" y="-11326"/>
                          <a:pt x="1764328" y="31450"/>
                          <a:pt x="1916697" y="0"/>
                        </a:cubicBezTo>
                        <a:cubicBezTo>
                          <a:pt x="1904153" y="104474"/>
                          <a:pt x="1924552" y="306905"/>
                          <a:pt x="1916697" y="466794"/>
                        </a:cubicBezTo>
                        <a:cubicBezTo>
                          <a:pt x="1907261" y="615281"/>
                          <a:pt x="1915593" y="744872"/>
                          <a:pt x="1916697" y="891577"/>
                        </a:cubicBezTo>
                        <a:cubicBezTo>
                          <a:pt x="1928867" y="1038330"/>
                          <a:pt x="1890782" y="1260744"/>
                          <a:pt x="1916697" y="1400383"/>
                        </a:cubicBezTo>
                        <a:cubicBezTo>
                          <a:pt x="1690770" y="1392221"/>
                          <a:pt x="1561459" y="1420764"/>
                          <a:pt x="1258631" y="1400383"/>
                        </a:cubicBezTo>
                        <a:cubicBezTo>
                          <a:pt x="957688" y="1412472"/>
                          <a:pt x="870498" y="1405719"/>
                          <a:pt x="658066" y="1400383"/>
                        </a:cubicBezTo>
                        <a:cubicBezTo>
                          <a:pt x="446041" y="1394329"/>
                          <a:pt x="348035" y="1368966"/>
                          <a:pt x="0" y="1400383"/>
                        </a:cubicBezTo>
                        <a:cubicBezTo>
                          <a:pt x="-36446" y="1207911"/>
                          <a:pt x="7892" y="1043687"/>
                          <a:pt x="0" y="961596"/>
                        </a:cubicBezTo>
                        <a:cubicBezTo>
                          <a:pt x="4974" y="871469"/>
                          <a:pt x="-22225" y="665938"/>
                          <a:pt x="0" y="466794"/>
                        </a:cubicBezTo>
                        <a:cubicBezTo>
                          <a:pt x="21112" y="236856"/>
                          <a:pt x="-8700" y="182055"/>
                          <a:pt x="0" y="0"/>
                        </a:cubicBezTo>
                        <a:close/>
                      </a:path>
                    </a:pathLst>
                  </a:custGeom>
                  <ask:type>
                    <ask:lineSketchFreehand/>
                  </ask:type>
                </ask:lineSketchStyleProps>
              </a:ext>
            </a:extLst>
          </a:ln>
        </p:spPr>
        <p:txBody>
          <a:bodyPr wrap="square" rtlCol="0">
            <a:spAutoFit/>
          </a:bodyPr>
          <a:lstStyle/>
          <a:p>
            <a:pPr marL="0" marR="0" lvl="0" indent="0" algn="ctr" defTabSz="914400" eaLnBrk="1" fontAlgn="auto" latinLnBrk="0" hangingPunct="1">
              <a:lnSpc>
                <a:spcPct val="100000"/>
              </a:lnSpc>
              <a:spcBef>
                <a:spcPts val="0"/>
              </a:spcBef>
              <a:spcAft>
                <a:spcPts val="600"/>
              </a:spcAft>
              <a:buClrTx/>
              <a:buSzTx/>
              <a:buFontTx/>
              <a:buNone/>
              <a:tabLst/>
              <a:defRPr/>
            </a:pPr>
            <a:r>
              <a:rPr kumimoji="0" lang="en-US" sz="1600" b="1" i="0" u="none" strike="noStrike" kern="0" cap="none" spc="0" normalizeH="0" baseline="0" noProof="0" dirty="0">
                <a:ln>
                  <a:noFill/>
                </a:ln>
                <a:solidFill>
                  <a:prstClr val="black"/>
                </a:solidFill>
                <a:effectLst/>
                <a:uLnTx/>
                <a:uFillTx/>
                <a:cs typeface="Arial"/>
              </a:rPr>
              <a:t>CERTIFICATE</a:t>
            </a:r>
          </a:p>
          <a:p>
            <a:pPr marL="0" marR="0" lvl="0" indent="0" algn="ctr" defTabSz="914400" eaLnBrk="1" fontAlgn="auto" latinLnBrk="0" hangingPunct="1">
              <a:lnSpc>
                <a:spcPct val="100000"/>
              </a:lnSpc>
              <a:spcBef>
                <a:spcPts val="0"/>
              </a:spcBef>
              <a:spcAft>
                <a:spcPts val="0"/>
              </a:spcAft>
              <a:buClrTx/>
              <a:buSzTx/>
              <a:buFontTx/>
              <a:buNone/>
              <a:tabLst/>
              <a:defRPr/>
            </a:pPr>
            <a:r>
              <a:rPr lang="en-US" dirty="0">
                <a:solidFill>
                  <a:schemeClr val="bg1"/>
                </a:solidFill>
              </a:rPr>
              <a:t>@Hero </a:t>
            </a:r>
            <a:r>
              <a:rPr kumimoji="0" lang="en-US" sz="1600" b="0" i="0" u="none" strike="noStrike" kern="0" cap="none" spc="0" normalizeH="0" baseline="0" noProof="0" dirty="0">
                <a:ln>
                  <a:noFill/>
                </a:ln>
                <a:solidFill>
                  <a:prstClr val="black"/>
                </a:solidFill>
                <a:effectLst/>
                <a:uLnTx/>
                <a:uFillTx/>
                <a:cs typeface="Arial"/>
              </a:rPr>
              <a:t>is indeed the real Saurabh.</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prstClr val="black"/>
              </a:solidFill>
              <a:effectLst/>
              <a:uLnTx/>
              <a:uFillTx/>
              <a:cs typeface="Arial"/>
            </a:endParaRPr>
          </a:p>
          <a:p>
            <a:pPr marL="0" marR="0" lvl="0" indent="0" algn="r" defTabSz="914400" eaLnBrk="1" fontAlgn="auto" latinLnBrk="0" hangingPunct="1">
              <a:lnSpc>
                <a:spcPct val="100000"/>
              </a:lnSpc>
              <a:spcBef>
                <a:spcPts val="0"/>
              </a:spcBef>
              <a:spcAft>
                <a:spcPts val="0"/>
              </a:spcAft>
              <a:buClrTx/>
              <a:buSzTx/>
              <a:buFontTx/>
              <a:buNone/>
              <a:tabLst/>
              <a:defRPr/>
            </a:pPr>
            <a:r>
              <a:rPr kumimoji="0" lang="en-IN" sz="1400" b="1" i="0" u="none" strike="noStrike" kern="0" cap="none" spc="0" normalizeH="0" baseline="0" noProof="0" dirty="0">
                <a:ln>
                  <a:noFill/>
                </a:ln>
                <a:solidFill>
                  <a:prstClr val="black"/>
                </a:solidFill>
                <a:effectLst/>
                <a:uLnTx/>
                <a:uFillTx/>
                <a:cs typeface="Arial"/>
              </a:rPr>
              <a:t>Signed by Smriti</a:t>
            </a:r>
            <a:endParaRPr kumimoji="0" lang="en-US" sz="1400" b="1" i="0" u="none" strike="noStrike" kern="0" cap="none" spc="0" normalizeH="0" baseline="0" noProof="0" dirty="0">
              <a:ln>
                <a:noFill/>
              </a:ln>
              <a:solidFill>
                <a:prstClr val="black"/>
              </a:solidFill>
              <a:effectLst/>
              <a:uLnTx/>
              <a:uFillTx/>
              <a:cs typeface="Arial"/>
            </a:endParaRPr>
          </a:p>
        </p:txBody>
      </p:sp>
      <p:sp>
        <p:nvSpPr>
          <p:cNvPr id="17" name="TextBox 16">
            <a:extLst>
              <a:ext uri="{FF2B5EF4-FFF2-40B4-BE49-F238E27FC236}">
                <a16:creationId xmlns:a16="http://schemas.microsoft.com/office/drawing/2014/main" id="{A53A4FEA-3CCD-FB8F-3B4A-6063694109F2}"/>
              </a:ext>
            </a:extLst>
          </p:cNvPr>
          <p:cNvSpPr txBox="1"/>
          <p:nvPr/>
        </p:nvSpPr>
        <p:spPr bwMode="auto">
          <a:xfrm>
            <a:off x="1170176" y="4992393"/>
            <a:ext cx="1295389" cy="584775"/>
          </a:xfrm>
          <a:prstGeom prst="rect">
            <a:avLst/>
          </a:prstGeom>
          <a:solidFill>
            <a:srgbClr val="ED7D31">
              <a:lumMod val="20000"/>
              <a:lumOff val="80000"/>
            </a:srgbClr>
          </a:solidFill>
          <a:ln w="3175">
            <a:solidFill>
              <a:sysClr val="windowText" lastClr="000000"/>
            </a:solidFill>
            <a:extLst>
              <a:ext uri="{C807C97D-BFC1-408E-A445-0C87EB9F89A2}">
                <ask:lineSketchStyleProps xmlns:ask="http://schemas.microsoft.com/office/drawing/2018/sketchyshapes" sd="1795169809">
                  <a:custGeom>
                    <a:avLst/>
                    <a:gdLst>
                      <a:gd name="connsiteX0" fmla="*/ 0 w 1916697"/>
                      <a:gd name="connsiteY0" fmla="*/ 0 h 338554"/>
                      <a:gd name="connsiteX1" fmla="*/ 619732 w 1916697"/>
                      <a:gd name="connsiteY1" fmla="*/ 0 h 338554"/>
                      <a:gd name="connsiteX2" fmla="*/ 1220297 w 1916697"/>
                      <a:gd name="connsiteY2" fmla="*/ 0 h 338554"/>
                      <a:gd name="connsiteX3" fmla="*/ 1916697 w 1916697"/>
                      <a:gd name="connsiteY3" fmla="*/ 0 h 338554"/>
                      <a:gd name="connsiteX4" fmla="*/ 1916697 w 1916697"/>
                      <a:gd name="connsiteY4" fmla="*/ 338554 h 338554"/>
                      <a:gd name="connsiteX5" fmla="*/ 1277798 w 1916697"/>
                      <a:gd name="connsiteY5" fmla="*/ 338554 h 338554"/>
                      <a:gd name="connsiteX6" fmla="*/ 658066 w 1916697"/>
                      <a:gd name="connsiteY6" fmla="*/ 338554 h 338554"/>
                      <a:gd name="connsiteX7" fmla="*/ 0 w 1916697"/>
                      <a:gd name="connsiteY7" fmla="*/ 338554 h 338554"/>
                      <a:gd name="connsiteX8" fmla="*/ 0 w 1916697"/>
                      <a:gd name="connsiteY8" fmla="*/ 0 h 338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6697" h="338554" fill="none" extrusionOk="0">
                        <a:moveTo>
                          <a:pt x="0" y="0"/>
                        </a:moveTo>
                        <a:cubicBezTo>
                          <a:pt x="274857" y="16562"/>
                          <a:pt x="406745" y="-19786"/>
                          <a:pt x="619732" y="0"/>
                        </a:cubicBezTo>
                        <a:cubicBezTo>
                          <a:pt x="832719" y="19786"/>
                          <a:pt x="1066270" y="18590"/>
                          <a:pt x="1220297" y="0"/>
                        </a:cubicBezTo>
                        <a:cubicBezTo>
                          <a:pt x="1374324" y="-18590"/>
                          <a:pt x="1774112" y="12187"/>
                          <a:pt x="1916697" y="0"/>
                        </a:cubicBezTo>
                        <a:cubicBezTo>
                          <a:pt x="1931026" y="110443"/>
                          <a:pt x="1926396" y="235429"/>
                          <a:pt x="1916697" y="338554"/>
                        </a:cubicBezTo>
                        <a:cubicBezTo>
                          <a:pt x="1784075" y="365908"/>
                          <a:pt x="1471651" y="316965"/>
                          <a:pt x="1277798" y="338554"/>
                        </a:cubicBezTo>
                        <a:cubicBezTo>
                          <a:pt x="1083945" y="360143"/>
                          <a:pt x="926149" y="356413"/>
                          <a:pt x="658066" y="338554"/>
                        </a:cubicBezTo>
                        <a:cubicBezTo>
                          <a:pt x="389983" y="320695"/>
                          <a:pt x="159550" y="339852"/>
                          <a:pt x="0" y="338554"/>
                        </a:cubicBezTo>
                        <a:cubicBezTo>
                          <a:pt x="2339" y="197274"/>
                          <a:pt x="9877" y="167239"/>
                          <a:pt x="0" y="0"/>
                        </a:cubicBezTo>
                        <a:close/>
                      </a:path>
                      <a:path w="1916697" h="338554" stroke="0" extrusionOk="0">
                        <a:moveTo>
                          <a:pt x="0" y="0"/>
                        </a:moveTo>
                        <a:cubicBezTo>
                          <a:pt x="213372" y="-12378"/>
                          <a:pt x="363677" y="-19580"/>
                          <a:pt x="600565" y="0"/>
                        </a:cubicBezTo>
                        <a:cubicBezTo>
                          <a:pt x="837453" y="19580"/>
                          <a:pt x="940416" y="-19074"/>
                          <a:pt x="1258631" y="0"/>
                        </a:cubicBezTo>
                        <a:cubicBezTo>
                          <a:pt x="1576846" y="19074"/>
                          <a:pt x="1656086" y="11079"/>
                          <a:pt x="1916697" y="0"/>
                        </a:cubicBezTo>
                        <a:cubicBezTo>
                          <a:pt x="1917839" y="160801"/>
                          <a:pt x="1902715" y="259565"/>
                          <a:pt x="1916697" y="338554"/>
                        </a:cubicBezTo>
                        <a:cubicBezTo>
                          <a:pt x="1753890" y="334464"/>
                          <a:pt x="1580688" y="321450"/>
                          <a:pt x="1277798" y="338554"/>
                        </a:cubicBezTo>
                        <a:cubicBezTo>
                          <a:pt x="974908" y="355658"/>
                          <a:pt x="851072" y="350195"/>
                          <a:pt x="638899" y="338554"/>
                        </a:cubicBezTo>
                        <a:cubicBezTo>
                          <a:pt x="426726" y="326913"/>
                          <a:pt x="276873" y="344492"/>
                          <a:pt x="0" y="338554"/>
                        </a:cubicBezTo>
                        <a:cubicBezTo>
                          <a:pt x="-13720" y="256301"/>
                          <a:pt x="-10878" y="136997"/>
                          <a:pt x="0" y="0"/>
                        </a:cubicBezTo>
                        <a:close/>
                      </a:path>
                    </a:pathLst>
                  </a:custGeom>
                  <ask:type>
                    <ask:lineSketchNone/>
                  </ask:type>
                </ask:lineSketchStyleProps>
              </a:ext>
            </a:extLst>
          </a:ln>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cs typeface="Arial"/>
              </a:rPr>
              <a:t>Smriti’s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cs typeface="Arial"/>
              </a:rPr>
              <a:t>Signature</a:t>
            </a:r>
            <a:endParaRPr kumimoji="0" lang="en-US" sz="1400" b="0" i="0" u="none" strike="noStrike" kern="0" cap="none" spc="0" normalizeH="0" baseline="0" noProof="0" dirty="0">
              <a:ln>
                <a:noFill/>
              </a:ln>
              <a:solidFill>
                <a:prstClr val="black"/>
              </a:solidFill>
              <a:effectLst/>
              <a:uLnTx/>
              <a:uFillTx/>
              <a:cs typeface="Arial"/>
            </a:endParaRPr>
          </a:p>
        </p:txBody>
      </p:sp>
      <p:sp>
        <p:nvSpPr>
          <p:cNvPr id="18" name="Speech Bubble: Rectangle 17">
            <a:extLst>
              <a:ext uri="{FF2B5EF4-FFF2-40B4-BE49-F238E27FC236}">
                <a16:creationId xmlns:a16="http://schemas.microsoft.com/office/drawing/2014/main" id="{76F4E1CE-E5C5-C768-1B62-40AD4A34B3E6}"/>
              </a:ext>
            </a:extLst>
          </p:cNvPr>
          <p:cNvSpPr/>
          <p:nvPr/>
        </p:nvSpPr>
        <p:spPr bwMode="auto">
          <a:xfrm>
            <a:off x="2504575" y="3429000"/>
            <a:ext cx="1684106" cy="939104"/>
          </a:xfrm>
          <a:prstGeom prst="wedgeRectCallout">
            <a:avLst>
              <a:gd name="adj1" fmla="val -20833"/>
              <a:gd name="adj2" fmla="val 72758"/>
            </a:avLst>
          </a:prstGeom>
          <a:solidFill>
            <a:sysClr val="window" lastClr="FFFFFF"/>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cs typeface="Arial"/>
              </a:rPr>
              <a:t>Let me check if it’s  the real signature.</a:t>
            </a:r>
            <a:endParaRPr kumimoji="0" lang="en-IN" sz="1400" b="0" i="0" u="none" strike="noStrike" kern="0" cap="none" spc="0" normalizeH="0" baseline="0" noProof="0" dirty="0">
              <a:ln>
                <a:noFill/>
              </a:ln>
              <a:solidFill>
                <a:prstClr val="black"/>
              </a:solidFill>
              <a:effectLst/>
              <a:uLnTx/>
              <a:uFillTx/>
              <a:cs typeface="Arial"/>
            </a:endParaRPr>
          </a:p>
        </p:txBody>
      </p:sp>
    </p:spTree>
    <p:extLst>
      <p:ext uri="{BB962C8B-B14F-4D97-AF65-F5344CB8AC3E}">
        <p14:creationId xmlns:p14="http://schemas.microsoft.com/office/powerpoint/2010/main" val="7936798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F8A85-B563-45E2-967A-8714968EAF51}"/>
              </a:ext>
            </a:extLst>
          </p:cNvPr>
          <p:cNvSpPr>
            <a:spLocks noGrp="1"/>
          </p:cNvSpPr>
          <p:nvPr>
            <p:ph type="title"/>
          </p:nvPr>
        </p:nvSpPr>
        <p:spPr/>
        <p:txBody>
          <a:bodyPr/>
          <a:lstStyle/>
          <a:p>
            <a:r>
              <a:rPr lang="en-US" cap="none" dirty="0">
                <a:solidFill>
                  <a:srgbClr val="FB8500"/>
                </a:solidFill>
                <a:latin typeface="High Tower Text" panose="02040502050506030303" pitchFamily="18" charset="0"/>
              </a:rPr>
              <a:t>Digital Certificates</a:t>
            </a:r>
            <a:endParaRPr lang="en-IN" cap="none" dirty="0">
              <a:solidFill>
                <a:srgbClr val="FB8500"/>
              </a:solidFill>
              <a:latin typeface="High Tower Text" panose="02040502050506030303" pitchFamily="18" charset="0"/>
            </a:endParaRPr>
          </a:p>
        </p:txBody>
      </p:sp>
      <p:sp>
        <p:nvSpPr>
          <p:cNvPr id="3" name="Content Placeholder 2">
            <a:extLst>
              <a:ext uri="{FF2B5EF4-FFF2-40B4-BE49-F238E27FC236}">
                <a16:creationId xmlns:a16="http://schemas.microsoft.com/office/drawing/2014/main" id="{92A14478-519D-E75B-442C-7B3EEB98259D}"/>
              </a:ext>
            </a:extLst>
          </p:cNvPr>
          <p:cNvSpPr>
            <a:spLocks noGrp="1"/>
          </p:cNvSpPr>
          <p:nvPr>
            <p:ph idx="1"/>
          </p:nvPr>
        </p:nvSpPr>
        <p:spPr>
          <a:xfrm>
            <a:off x="1028122" y="1545731"/>
            <a:ext cx="2857804" cy="545642"/>
          </a:xfrm>
        </p:spPr>
        <p:txBody>
          <a:bodyPr/>
          <a:lstStyle/>
          <a:p>
            <a:r>
              <a:rPr lang="en-US" dirty="0">
                <a:solidFill>
                  <a:schemeClr val="bg1"/>
                </a:solidFill>
              </a:rPr>
              <a:t>Trust based identity </a:t>
            </a:r>
            <a:endParaRPr lang="en-IN" dirty="0">
              <a:solidFill>
                <a:schemeClr val="bg1"/>
              </a:solidFill>
            </a:endParaRPr>
          </a:p>
        </p:txBody>
      </p:sp>
      <p:sp>
        <p:nvSpPr>
          <p:cNvPr id="4" name="Rectangle 3">
            <a:extLst>
              <a:ext uri="{FF2B5EF4-FFF2-40B4-BE49-F238E27FC236}">
                <a16:creationId xmlns:a16="http://schemas.microsoft.com/office/drawing/2014/main" id="{75E0814E-F4C4-4A0F-CD76-6C7497AC8F34}"/>
              </a:ext>
            </a:extLst>
          </p:cNvPr>
          <p:cNvSpPr/>
          <p:nvPr/>
        </p:nvSpPr>
        <p:spPr>
          <a:xfrm>
            <a:off x="0" y="0"/>
            <a:ext cx="806245" cy="6858000"/>
          </a:xfrm>
          <a:prstGeom prst="rect">
            <a:avLst/>
          </a:prstGeom>
          <a:solidFill>
            <a:srgbClr val="219EBC"/>
          </a:solidFill>
          <a:ln>
            <a:solidFill>
              <a:srgbClr val="219E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rgbClr val="219EBC"/>
              </a:solidFill>
            </a:endParaRPr>
          </a:p>
        </p:txBody>
      </p:sp>
      <p:pic>
        <p:nvPicPr>
          <p:cNvPr id="2050" name="Picture 2" descr="Truminds Software Systems | LinkedIn">
            <a:extLst>
              <a:ext uri="{FF2B5EF4-FFF2-40B4-BE49-F238E27FC236}">
                <a16:creationId xmlns:a16="http://schemas.microsoft.com/office/drawing/2014/main" id="{074CEAAD-016E-FE56-B3FF-512C6E5054DE}"/>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28000" b="69500" l="1500" r="97000">
                        <a14:foregroundMark x1="11000" y1="53000" x2="11000" y2="53000"/>
                        <a14:foregroundMark x1="20000" y1="38500" x2="20000" y2="38500"/>
                        <a14:foregroundMark x1="6000" y1="40500" x2="6000" y2="40500"/>
                        <a14:foregroundMark x1="1500" y1="39500" x2="1500" y2="39500"/>
                        <a14:foregroundMark x1="23500" y1="39500" x2="23500" y2="39500"/>
                        <a14:foregroundMark x1="21000" y1="55500" x2="21000" y2="55500"/>
                        <a14:foregroundMark x1="31500" y1="61500" x2="31500" y2="61500"/>
                        <a14:foregroundMark x1="41500" y1="60000" x2="41500" y2="60000"/>
                        <a14:foregroundMark x1="61000" y1="60000" x2="61000" y2="60000"/>
                        <a14:foregroundMark x1="60500" y1="49000" x2="60500" y2="49000"/>
                        <a14:foregroundMark x1="66500" y1="57000" x2="66500" y2="57000"/>
                        <a14:foregroundMark x1="78000" y1="59000" x2="78000" y2="59000"/>
                        <a14:foregroundMark x1="93500" y1="57000" x2="93500" y2="57000"/>
                        <a14:foregroundMark x1="92500" y1="61500" x2="92500" y2="61500"/>
                        <a14:foregroundMark x1="97000" y1="59000" x2="97000" y2="59000"/>
                      </a14:backgroundRemoval>
                    </a14:imgEffect>
                  </a14:imgLayer>
                </a14:imgProps>
              </a:ext>
              <a:ext uri="{28A0092B-C50C-407E-A947-70E740481C1C}">
                <a14:useLocalDpi xmlns:a14="http://schemas.microsoft.com/office/drawing/2010/main" val="0"/>
              </a:ext>
            </a:extLst>
          </a:blip>
          <a:srcRect t="24194" b="24913"/>
          <a:stretch/>
        </p:blipFill>
        <p:spPr bwMode="auto">
          <a:xfrm>
            <a:off x="10890447" y="108178"/>
            <a:ext cx="1197765" cy="609577"/>
          </a:xfrm>
          <a:prstGeom prst="rect">
            <a:avLst/>
          </a:prstGeom>
          <a:noFill/>
          <a:effectLst>
            <a:glow rad="25400">
              <a:srgbClr val="8ECAE6">
                <a:alpha val="31000"/>
              </a:srgbClr>
            </a:glow>
          </a:effectLst>
          <a:extLst>
            <a:ext uri="{909E8E84-426E-40DD-AFC4-6F175D3DCCD1}">
              <a14:hiddenFill xmlns:a14="http://schemas.microsoft.com/office/drawing/2010/main">
                <a:solidFill>
                  <a:srgbClr val="FFFFFF"/>
                </a:solidFill>
              </a14:hiddenFill>
            </a:ext>
          </a:extLst>
        </p:spPr>
      </p:pic>
      <p:pic>
        <p:nvPicPr>
          <p:cNvPr id="77" name="Graphic 76" descr="Male profile with solid fill">
            <a:extLst>
              <a:ext uri="{FF2B5EF4-FFF2-40B4-BE49-F238E27FC236}">
                <a16:creationId xmlns:a16="http://schemas.microsoft.com/office/drawing/2014/main" id="{9CABF91B-1E7D-2EEB-0DEB-4BD375165C2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bwMode="auto">
          <a:xfrm>
            <a:off x="2318534" y="4517462"/>
            <a:ext cx="1351182" cy="1351182"/>
          </a:xfrm>
          <a:prstGeom prst="rect">
            <a:avLst/>
          </a:prstGeom>
        </p:spPr>
      </p:pic>
      <p:pic>
        <p:nvPicPr>
          <p:cNvPr id="78" name="Graphic 77" descr="Female Profile with solid fill">
            <a:extLst>
              <a:ext uri="{FF2B5EF4-FFF2-40B4-BE49-F238E27FC236}">
                <a16:creationId xmlns:a16="http://schemas.microsoft.com/office/drawing/2014/main" id="{69D7DF92-6ED9-8A40-2A4C-042FAE3E2FD2}"/>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bwMode="auto">
          <a:xfrm>
            <a:off x="5694020" y="2565876"/>
            <a:ext cx="1245840" cy="1245840"/>
          </a:xfrm>
          <a:prstGeom prst="rect">
            <a:avLst/>
          </a:prstGeom>
        </p:spPr>
      </p:pic>
      <p:sp>
        <p:nvSpPr>
          <p:cNvPr id="81" name="TextBox 80">
            <a:extLst>
              <a:ext uri="{FF2B5EF4-FFF2-40B4-BE49-F238E27FC236}">
                <a16:creationId xmlns:a16="http://schemas.microsoft.com/office/drawing/2014/main" id="{329779E4-2AE0-F214-2AC1-C12DE07F6D02}"/>
              </a:ext>
            </a:extLst>
          </p:cNvPr>
          <p:cNvSpPr txBox="1"/>
          <p:nvPr/>
        </p:nvSpPr>
        <p:spPr bwMode="auto">
          <a:xfrm>
            <a:off x="2458510" y="5766804"/>
            <a:ext cx="1071229" cy="369332"/>
          </a:xfrm>
          <a:prstGeom prst="rect">
            <a:avLst/>
          </a:prstGeom>
          <a:noFill/>
        </p:spPr>
        <p:txBody>
          <a:bodyPr wrap="square" rtlCol="0">
            <a:spAutoFit/>
          </a:bodyPr>
          <a:lstStyle/>
          <a:p>
            <a:pPr algn="ctr" defTabSz="914400"/>
            <a:r>
              <a:rPr lang="en-US" kern="0" dirty="0">
                <a:solidFill>
                  <a:prstClr val="black"/>
                </a:solidFill>
                <a:cs typeface="Arial"/>
              </a:rPr>
              <a:t>Utkarsh</a:t>
            </a:r>
            <a:endParaRPr lang="en-IN" kern="0" dirty="0">
              <a:solidFill>
                <a:prstClr val="black"/>
              </a:solidFill>
              <a:cs typeface="Arial"/>
            </a:endParaRPr>
          </a:p>
        </p:txBody>
      </p:sp>
      <p:sp>
        <p:nvSpPr>
          <p:cNvPr id="82" name="TextBox 81">
            <a:extLst>
              <a:ext uri="{FF2B5EF4-FFF2-40B4-BE49-F238E27FC236}">
                <a16:creationId xmlns:a16="http://schemas.microsoft.com/office/drawing/2014/main" id="{95E2DDF0-919A-1000-639B-C171D8FE7A1F}"/>
              </a:ext>
            </a:extLst>
          </p:cNvPr>
          <p:cNvSpPr txBox="1"/>
          <p:nvPr/>
        </p:nvSpPr>
        <p:spPr bwMode="auto">
          <a:xfrm>
            <a:off x="5873060" y="3717010"/>
            <a:ext cx="901080" cy="369332"/>
          </a:xfrm>
          <a:prstGeom prst="rect">
            <a:avLst/>
          </a:prstGeom>
          <a:noFill/>
        </p:spPr>
        <p:txBody>
          <a:bodyPr wrap="square">
            <a:spAutoFit/>
          </a:bodyPr>
          <a:lstStyle/>
          <a:p>
            <a:pPr algn="ctr" defTabSz="914400"/>
            <a:r>
              <a:rPr lang="en-US" kern="0" dirty="0">
                <a:solidFill>
                  <a:prstClr val="black"/>
                </a:solidFill>
                <a:cs typeface="Arial"/>
              </a:rPr>
              <a:t>Smriti</a:t>
            </a:r>
            <a:endParaRPr lang="en-IN" kern="0" dirty="0">
              <a:solidFill>
                <a:prstClr val="black"/>
              </a:solidFill>
              <a:cs typeface="Arial"/>
            </a:endParaRPr>
          </a:p>
        </p:txBody>
      </p:sp>
      <p:pic>
        <p:nvPicPr>
          <p:cNvPr id="83" name="Graphic 82" descr="Male profile with solid fill">
            <a:extLst>
              <a:ext uri="{FF2B5EF4-FFF2-40B4-BE49-F238E27FC236}">
                <a16:creationId xmlns:a16="http://schemas.microsoft.com/office/drawing/2014/main" id="{DB58D3E8-9A15-870B-F5C8-17B5DAE6C148}"/>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bwMode="auto">
          <a:xfrm>
            <a:off x="8770927" y="4511445"/>
            <a:ext cx="1351182" cy="1351182"/>
          </a:xfrm>
          <a:prstGeom prst="rect">
            <a:avLst/>
          </a:prstGeom>
        </p:spPr>
      </p:pic>
      <p:sp>
        <p:nvSpPr>
          <p:cNvPr id="84" name="TextBox 83">
            <a:extLst>
              <a:ext uri="{FF2B5EF4-FFF2-40B4-BE49-F238E27FC236}">
                <a16:creationId xmlns:a16="http://schemas.microsoft.com/office/drawing/2014/main" id="{70E9AC89-8F04-45A4-97E3-CDDC2441A865}"/>
              </a:ext>
            </a:extLst>
          </p:cNvPr>
          <p:cNvSpPr txBox="1"/>
          <p:nvPr/>
        </p:nvSpPr>
        <p:spPr bwMode="auto">
          <a:xfrm>
            <a:off x="8910903" y="5753047"/>
            <a:ext cx="1071229" cy="369332"/>
          </a:xfrm>
          <a:prstGeom prst="rect">
            <a:avLst/>
          </a:prstGeom>
          <a:noFill/>
        </p:spPr>
        <p:txBody>
          <a:bodyPr wrap="square" rtlCol="0">
            <a:spAutoFit/>
          </a:bodyPr>
          <a:lstStyle/>
          <a:p>
            <a:pPr algn="ctr" defTabSz="914400"/>
            <a:r>
              <a:rPr lang="en-US" kern="0" dirty="0">
                <a:solidFill>
                  <a:prstClr val="black"/>
                </a:solidFill>
                <a:cs typeface="Arial"/>
              </a:rPr>
              <a:t>Saurabh</a:t>
            </a:r>
            <a:endParaRPr lang="en-IN" kern="0" dirty="0">
              <a:solidFill>
                <a:prstClr val="black"/>
              </a:solidFill>
              <a:cs typeface="Arial"/>
            </a:endParaRPr>
          </a:p>
        </p:txBody>
      </p:sp>
      <p:sp>
        <p:nvSpPr>
          <p:cNvPr id="19" name="Speech Bubble: Rectangle 18">
            <a:extLst>
              <a:ext uri="{FF2B5EF4-FFF2-40B4-BE49-F238E27FC236}">
                <a16:creationId xmlns:a16="http://schemas.microsoft.com/office/drawing/2014/main" id="{35472A83-29E6-CD39-A763-6C10C05F7210}"/>
              </a:ext>
            </a:extLst>
          </p:cNvPr>
          <p:cNvSpPr/>
          <p:nvPr/>
        </p:nvSpPr>
        <p:spPr bwMode="auto">
          <a:xfrm>
            <a:off x="2555492" y="3352928"/>
            <a:ext cx="1684106" cy="939104"/>
          </a:xfrm>
          <a:prstGeom prst="wedgeRectCallout">
            <a:avLst>
              <a:gd name="adj1" fmla="val -20833"/>
              <a:gd name="adj2" fmla="val 72758"/>
            </a:avLst>
          </a:prstGeom>
          <a:solidFill>
            <a:sysClr val="window" lastClr="FFFFFF"/>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cs typeface="Arial"/>
              </a:rPr>
              <a:t>Yup it’s the same signature. I trust you now. Hi Saurabh!</a:t>
            </a:r>
            <a:endParaRPr kumimoji="0" lang="en-IN" sz="1400" b="0" i="0" u="none" strike="noStrike" kern="0" cap="none" spc="0" normalizeH="0" baseline="0" noProof="0" dirty="0">
              <a:ln>
                <a:noFill/>
              </a:ln>
              <a:solidFill>
                <a:prstClr val="black"/>
              </a:solidFill>
              <a:effectLst/>
              <a:uLnTx/>
              <a:uFillTx/>
              <a:cs typeface="Arial"/>
            </a:endParaRPr>
          </a:p>
        </p:txBody>
      </p:sp>
      <p:sp>
        <p:nvSpPr>
          <p:cNvPr id="20" name="Arrow: Left 19">
            <a:extLst>
              <a:ext uri="{FF2B5EF4-FFF2-40B4-BE49-F238E27FC236}">
                <a16:creationId xmlns:a16="http://schemas.microsoft.com/office/drawing/2014/main" id="{96309FE4-1730-65C8-DC87-0FA45384BE2A}"/>
              </a:ext>
            </a:extLst>
          </p:cNvPr>
          <p:cNvSpPr/>
          <p:nvPr/>
        </p:nvSpPr>
        <p:spPr bwMode="auto">
          <a:xfrm rot="10800000">
            <a:off x="3804380" y="5127603"/>
            <a:ext cx="4581157" cy="369332"/>
          </a:xfrm>
          <a:prstGeom prst="leftArrow">
            <a:avLst/>
          </a:prstGeom>
          <a:solidFill>
            <a:srgbClr val="219EBC"/>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alibri"/>
              <a:cs typeface="Arial"/>
            </a:endParaRPr>
          </a:p>
        </p:txBody>
      </p:sp>
    </p:spTree>
    <p:extLst>
      <p:ext uri="{BB962C8B-B14F-4D97-AF65-F5344CB8AC3E}">
        <p14:creationId xmlns:p14="http://schemas.microsoft.com/office/powerpoint/2010/main" val="21079072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F8A85-B563-45E2-967A-8714968EAF51}"/>
              </a:ext>
            </a:extLst>
          </p:cNvPr>
          <p:cNvSpPr>
            <a:spLocks noGrp="1"/>
          </p:cNvSpPr>
          <p:nvPr>
            <p:ph type="title"/>
          </p:nvPr>
        </p:nvSpPr>
        <p:spPr/>
        <p:txBody>
          <a:bodyPr/>
          <a:lstStyle/>
          <a:p>
            <a:r>
              <a:rPr lang="en-US" cap="none" dirty="0">
                <a:solidFill>
                  <a:srgbClr val="FB8500"/>
                </a:solidFill>
                <a:latin typeface="High Tower Text" panose="02040502050506030303" pitchFamily="18" charset="0"/>
              </a:rPr>
              <a:t>Digital Certificates</a:t>
            </a:r>
            <a:endParaRPr lang="en-IN" cap="none" dirty="0">
              <a:solidFill>
                <a:srgbClr val="FB8500"/>
              </a:solidFill>
              <a:latin typeface="High Tower Text" panose="02040502050506030303" pitchFamily="18" charset="0"/>
            </a:endParaRPr>
          </a:p>
        </p:txBody>
      </p:sp>
      <p:sp>
        <p:nvSpPr>
          <p:cNvPr id="3" name="Content Placeholder 2">
            <a:extLst>
              <a:ext uri="{FF2B5EF4-FFF2-40B4-BE49-F238E27FC236}">
                <a16:creationId xmlns:a16="http://schemas.microsoft.com/office/drawing/2014/main" id="{92A14478-519D-E75B-442C-7B3EEB98259D}"/>
              </a:ext>
            </a:extLst>
          </p:cNvPr>
          <p:cNvSpPr>
            <a:spLocks noGrp="1"/>
          </p:cNvSpPr>
          <p:nvPr>
            <p:ph idx="1"/>
          </p:nvPr>
        </p:nvSpPr>
        <p:spPr>
          <a:xfrm>
            <a:off x="1059726" y="1520115"/>
            <a:ext cx="2857804" cy="545642"/>
          </a:xfrm>
        </p:spPr>
        <p:txBody>
          <a:bodyPr/>
          <a:lstStyle/>
          <a:p>
            <a:r>
              <a:rPr lang="en-US" dirty="0">
                <a:solidFill>
                  <a:srgbClr val="023047"/>
                </a:solidFill>
              </a:rPr>
              <a:t>Secure</a:t>
            </a:r>
            <a:endParaRPr lang="en-IN" dirty="0">
              <a:solidFill>
                <a:srgbClr val="023047"/>
              </a:solidFill>
            </a:endParaRPr>
          </a:p>
        </p:txBody>
      </p:sp>
      <p:sp>
        <p:nvSpPr>
          <p:cNvPr id="4" name="Rectangle 3">
            <a:extLst>
              <a:ext uri="{FF2B5EF4-FFF2-40B4-BE49-F238E27FC236}">
                <a16:creationId xmlns:a16="http://schemas.microsoft.com/office/drawing/2014/main" id="{75E0814E-F4C4-4A0F-CD76-6C7497AC8F34}"/>
              </a:ext>
            </a:extLst>
          </p:cNvPr>
          <p:cNvSpPr/>
          <p:nvPr/>
        </p:nvSpPr>
        <p:spPr>
          <a:xfrm>
            <a:off x="0" y="0"/>
            <a:ext cx="806245" cy="6858000"/>
          </a:xfrm>
          <a:prstGeom prst="rect">
            <a:avLst/>
          </a:prstGeom>
          <a:solidFill>
            <a:srgbClr val="219EBC"/>
          </a:solidFill>
          <a:ln>
            <a:solidFill>
              <a:srgbClr val="219E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rgbClr val="219EBC"/>
              </a:solidFill>
            </a:endParaRPr>
          </a:p>
        </p:txBody>
      </p:sp>
      <p:pic>
        <p:nvPicPr>
          <p:cNvPr id="2050" name="Picture 2" descr="Truminds Software Systems | LinkedIn">
            <a:extLst>
              <a:ext uri="{FF2B5EF4-FFF2-40B4-BE49-F238E27FC236}">
                <a16:creationId xmlns:a16="http://schemas.microsoft.com/office/drawing/2014/main" id="{074CEAAD-016E-FE56-B3FF-512C6E5054DE}"/>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28000" b="69500" l="1500" r="97000">
                        <a14:foregroundMark x1="11000" y1="53000" x2="11000" y2="53000"/>
                        <a14:foregroundMark x1="20000" y1="38500" x2="20000" y2="38500"/>
                        <a14:foregroundMark x1="6000" y1="40500" x2="6000" y2="40500"/>
                        <a14:foregroundMark x1="1500" y1="39500" x2="1500" y2="39500"/>
                        <a14:foregroundMark x1="23500" y1="39500" x2="23500" y2="39500"/>
                        <a14:foregroundMark x1="21000" y1="55500" x2="21000" y2="55500"/>
                        <a14:foregroundMark x1="31500" y1="61500" x2="31500" y2="61500"/>
                        <a14:foregroundMark x1="41500" y1="60000" x2="41500" y2="60000"/>
                        <a14:foregroundMark x1="61000" y1="60000" x2="61000" y2="60000"/>
                        <a14:foregroundMark x1="60500" y1="49000" x2="60500" y2="49000"/>
                        <a14:foregroundMark x1="66500" y1="57000" x2="66500" y2="57000"/>
                        <a14:foregroundMark x1="78000" y1="59000" x2="78000" y2="59000"/>
                        <a14:foregroundMark x1="93500" y1="57000" x2="93500" y2="57000"/>
                        <a14:foregroundMark x1="92500" y1="61500" x2="92500" y2="61500"/>
                        <a14:foregroundMark x1="97000" y1="59000" x2="97000" y2="59000"/>
                      </a14:backgroundRemoval>
                    </a14:imgEffect>
                  </a14:imgLayer>
                </a14:imgProps>
              </a:ext>
              <a:ext uri="{28A0092B-C50C-407E-A947-70E740481C1C}">
                <a14:useLocalDpi xmlns:a14="http://schemas.microsoft.com/office/drawing/2010/main" val="0"/>
              </a:ext>
            </a:extLst>
          </a:blip>
          <a:srcRect t="24194" b="24913"/>
          <a:stretch/>
        </p:blipFill>
        <p:spPr bwMode="auto">
          <a:xfrm>
            <a:off x="10890447" y="108178"/>
            <a:ext cx="1197765" cy="609577"/>
          </a:xfrm>
          <a:prstGeom prst="rect">
            <a:avLst/>
          </a:prstGeom>
          <a:noFill/>
          <a:effectLst>
            <a:glow rad="25400">
              <a:srgbClr val="8ECAE6">
                <a:alpha val="31000"/>
              </a:srgbClr>
            </a:glow>
          </a:effectLst>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FEC9D046-C389-1883-AF42-11DFE14609B3}"/>
              </a:ext>
            </a:extLst>
          </p:cNvPr>
          <p:cNvGrpSpPr/>
          <p:nvPr/>
        </p:nvGrpSpPr>
        <p:grpSpPr>
          <a:xfrm>
            <a:off x="7392144" y="2636912"/>
            <a:ext cx="4176464" cy="2592288"/>
            <a:chOff x="7392144" y="2826442"/>
            <a:chExt cx="4176464" cy="2592288"/>
          </a:xfrm>
        </p:grpSpPr>
        <p:sp>
          <p:nvSpPr>
            <p:cNvPr id="21" name="Rectangle 20">
              <a:extLst>
                <a:ext uri="{FF2B5EF4-FFF2-40B4-BE49-F238E27FC236}">
                  <a16:creationId xmlns:a16="http://schemas.microsoft.com/office/drawing/2014/main" id="{B15959CD-965C-F022-F4CE-0D9FB60B14C4}"/>
                </a:ext>
              </a:extLst>
            </p:cNvPr>
            <p:cNvSpPr/>
            <p:nvPr/>
          </p:nvSpPr>
          <p:spPr>
            <a:xfrm>
              <a:off x="7392144" y="2826442"/>
              <a:ext cx="4176464" cy="2592288"/>
            </a:xfrm>
            <a:prstGeom prst="rect">
              <a:avLst/>
            </a:prstGeom>
            <a:solidFill>
              <a:sysClr val="window" lastClr="FFFFFF"/>
            </a:solidFill>
            <a:ln w="76200" cap="flat" cmpd="sng" algn="ctr">
              <a:solidFill>
                <a:srgbClr val="FF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cs typeface="Arial"/>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prstClr val="white"/>
                </a:solidFill>
                <a:effectLst/>
                <a:uLnTx/>
                <a:uFillTx/>
                <a:latin typeface="Calibri"/>
                <a:cs typeface="Arial"/>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prstClr val="white"/>
                </a:solidFill>
                <a:effectLst/>
                <a:uLnTx/>
                <a:uFillTx/>
                <a:latin typeface="Calibri"/>
                <a:cs typeface="Arial"/>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prstClr val="white"/>
                </a:solidFill>
                <a:effectLst/>
                <a:uLnTx/>
                <a:uFillTx/>
                <a:latin typeface="Calibri"/>
                <a:cs typeface="Arial"/>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prstClr val="white"/>
                </a:solidFill>
                <a:effectLst/>
                <a:uLnTx/>
                <a:uFillTx/>
                <a:latin typeface="Calibri"/>
                <a:cs typeface="Arial"/>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prstClr val="white"/>
                </a:solidFill>
                <a:effectLst/>
                <a:uLnTx/>
                <a:uFillTx/>
                <a:latin typeface="Calibri"/>
                <a:cs typeface="Arial"/>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1" i="0" u="none" strike="noStrike" kern="0" cap="none" spc="0" normalizeH="0" baseline="0" noProof="0" dirty="0">
                <a:ln>
                  <a:noFill/>
                </a:ln>
                <a:solidFill>
                  <a:srgbClr val="FF0000"/>
                </a:solidFill>
                <a:effectLst/>
                <a:uLnTx/>
                <a:uFillTx/>
                <a:latin typeface="Calibri"/>
                <a:cs typeface="Arial"/>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800" b="1" i="0" u="none" strike="noStrike" kern="0" cap="none" spc="0" normalizeH="0" baseline="0" noProof="0" dirty="0">
                  <a:ln>
                    <a:noFill/>
                  </a:ln>
                  <a:solidFill>
                    <a:srgbClr val="FF0000"/>
                  </a:solidFill>
                  <a:effectLst/>
                  <a:uLnTx/>
                  <a:uFillTx/>
                  <a:latin typeface="Calibri"/>
                  <a:cs typeface="Arial"/>
                </a:rPr>
                <a:t>SIGNED BY SMRITI’S PRIVATE KEY</a:t>
              </a:r>
            </a:p>
          </p:txBody>
        </p:sp>
        <p:sp>
          <p:nvSpPr>
            <p:cNvPr id="22" name="TextBox 21">
              <a:extLst>
                <a:ext uri="{FF2B5EF4-FFF2-40B4-BE49-F238E27FC236}">
                  <a16:creationId xmlns:a16="http://schemas.microsoft.com/office/drawing/2014/main" id="{0086B831-7B9B-0B02-126B-52CA09F8D18A}"/>
                </a:ext>
              </a:extLst>
            </p:cNvPr>
            <p:cNvSpPr txBox="1"/>
            <p:nvPr/>
          </p:nvSpPr>
          <p:spPr>
            <a:xfrm>
              <a:off x="7536160" y="3034077"/>
              <a:ext cx="3869959" cy="1677382"/>
            </a:xfrm>
            <a:prstGeom prst="rect">
              <a:avLst/>
            </a:prstGeom>
            <a:solidFill>
              <a:srgbClr val="ED7D31">
                <a:lumMod val="20000"/>
                <a:lumOff val="80000"/>
              </a:srgbClr>
            </a:solidFill>
            <a:ln w="28575">
              <a:noFill/>
              <a:extLst>
                <a:ext uri="{C807C97D-BFC1-408E-A445-0C87EB9F89A2}">
                  <ask:lineSketchStyleProps xmlns:ask="http://schemas.microsoft.com/office/drawing/2018/sketchyshapes" sd="1795169809">
                    <a:custGeom>
                      <a:avLst/>
                      <a:gdLst>
                        <a:gd name="connsiteX0" fmla="*/ 0 w 3869959"/>
                        <a:gd name="connsiteY0" fmla="*/ 0 h 1862048"/>
                        <a:gd name="connsiteX1" fmla="*/ 567594 w 3869959"/>
                        <a:gd name="connsiteY1" fmla="*/ 0 h 1862048"/>
                        <a:gd name="connsiteX2" fmla="*/ 1096488 w 3869959"/>
                        <a:gd name="connsiteY2" fmla="*/ 0 h 1862048"/>
                        <a:gd name="connsiteX3" fmla="*/ 1664082 w 3869959"/>
                        <a:gd name="connsiteY3" fmla="*/ 0 h 1862048"/>
                        <a:gd name="connsiteX4" fmla="*/ 2270376 w 3869959"/>
                        <a:gd name="connsiteY4" fmla="*/ 0 h 1862048"/>
                        <a:gd name="connsiteX5" fmla="*/ 2837970 w 3869959"/>
                        <a:gd name="connsiteY5" fmla="*/ 0 h 1862048"/>
                        <a:gd name="connsiteX6" fmla="*/ 3869959 w 3869959"/>
                        <a:gd name="connsiteY6" fmla="*/ 0 h 1862048"/>
                        <a:gd name="connsiteX7" fmla="*/ 3869959 w 3869959"/>
                        <a:gd name="connsiteY7" fmla="*/ 564821 h 1862048"/>
                        <a:gd name="connsiteX8" fmla="*/ 3869959 w 3869959"/>
                        <a:gd name="connsiteY8" fmla="*/ 1222745 h 1862048"/>
                        <a:gd name="connsiteX9" fmla="*/ 3869959 w 3869959"/>
                        <a:gd name="connsiteY9" fmla="*/ 1862048 h 1862048"/>
                        <a:gd name="connsiteX10" fmla="*/ 3341065 w 3869959"/>
                        <a:gd name="connsiteY10" fmla="*/ 1862048 h 1862048"/>
                        <a:gd name="connsiteX11" fmla="*/ 2773471 w 3869959"/>
                        <a:gd name="connsiteY11" fmla="*/ 1862048 h 1862048"/>
                        <a:gd name="connsiteX12" fmla="*/ 2089778 w 3869959"/>
                        <a:gd name="connsiteY12" fmla="*/ 1862048 h 1862048"/>
                        <a:gd name="connsiteX13" fmla="*/ 1367386 w 3869959"/>
                        <a:gd name="connsiteY13" fmla="*/ 1862048 h 1862048"/>
                        <a:gd name="connsiteX14" fmla="*/ 722392 w 3869959"/>
                        <a:gd name="connsiteY14" fmla="*/ 1862048 h 1862048"/>
                        <a:gd name="connsiteX15" fmla="*/ 0 w 3869959"/>
                        <a:gd name="connsiteY15" fmla="*/ 1862048 h 1862048"/>
                        <a:gd name="connsiteX16" fmla="*/ 0 w 3869959"/>
                        <a:gd name="connsiteY16" fmla="*/ 1222745 h 1862048"/>
                        <a:gd name="connsiteX17" fmla="*/ 0 w 3869959"/>
                        <a:gd name="connsiteY17" fmla="*/ 583442 h 1862048"/>
                        <a:gd name="connsiteX18" fmla="*/ 0 w 3869959"/>
                        <a:gd name="connsiteY18" fmla="*/ 0 h 1862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869959" h="1862048" fill="none" extrusionOk="0">
                          <a:moveTo>
                            <a:pt x="0" y="0"/>
                          </a:moveTo>
                          <a:cubicBezTo>
                            <a:pt x="183667" y="16440"/>
                            <a:pt x="333188" y="2582"/>
                            <a:pt x="567594" y="0"/>
                          </a:cubicBezTo>
                          <a:cubicBezTo>
                            <a:pt x="802000" y="-2582"/>
                            <a:pt x="971243" y="-26207"/>
                            <a:pt x="1096488" y="0"/>
                          </a:cubicBezTo>
                          <a:cubicBezTo>
                            <a:pt x="1221733" y="26207"/>
                            <a:pt x="1427422" y="-26982"/>
                            <a:pt x="1664082" y="0"/>
                          </a:cubicBezTo>
                          <a:cubicBezTo>
                            <a:pt x="1900742" y="26982"/>
                            <a:pt x="2026642" y="20541"/>
                            <a:pt x="2270376" y="0"/>
                          </a:cubicBezTo>
                          <a:cubicBezTo>
                            <a:pt x="2514110" y="-20541"/>
                            <a:pt x="2680581" y="24968"/>
                            <a:pt x="2837970" y="0"/>
                          </a:cubicBezTo>
                          <a:cubicBezTo>
                            <a:pt x="2995359" y="-24968"/>
                            <a:pt x="3639289" y="42038"/>
                            <a:pt x="3869959" y="0"/>
                          </a:cubicBezTo>
                          <a:cubicBezTo>
                            <a:pt x="3866236" y="219211"/>
                            <a:pt x="3897593" y="295894"/>
                            <a:pt x="3869959" y="564821"/>
                          </a:cubicBezTo>
                          <a:cubicBezTo>
                            <a:pt x="3842325" y="833748"/>
                            <a:pt x="3891365" y="917101"/>
                            <a:pt x="3869959" y="1222745"/>
                          </a:cubicBezTo>
                          <a:cubicBezTo>
                            <a:pt x="3848553" y="1528389"/>
                            <a:pt x="3890781" y="1617107"/>
                            <a:pt x="3869959" y="1862048"/>
                          </a:cubicBezTo>
                          <a:cubicBezTo>
                            <a:pt x="3682107" y="1850139"/>
                            <a:pt x="3522599" y="1881988"/>
                            <a:pt x="3341065" y="1862048"/>
                          </a:cubicBezTo>
                          <a:cubicBezTo>
                            <a:pt x="3159531" y="1842108"/>
                            <a:pt x="2892982" y="1871879"/>
                            <a:pt x="2773471" y="1862048"/>
                          </a:cubicBezTo>
                          <a:cubicBezTo>
                            <a:pt x="2653960" y="1852217"/>
                            <a:pt x="2288738" y="1885710"/>
                            <a:pt x="2089778" y="1862048"/>
                          </a:cubicBezTo>
                          <a:cubicBezTo>
                            <a:pt x="1890818" y="1838386"/>
                            <a:pt x="1679233" y="1844963"/>
                            <a:pt x="1367386" y="1862048"/>
                          </a:cubicBezTo>
                          <a:cubicBezTo>
                            <a:pt x="1055539" y="1879133"/>
                            <a:pt x="1028686" y="1885268"/>
                            <a:pt x="722392" y="1862048"/>
                          </a:cubicBezTo>
                          <a:cubicBezTo>
                            <a:pt x="416098" y="1838828"/>
                            <a:pt x="308842" y="1854974"/>
                            <a:pt x="0" y="1862048"/>
                          </a:cubicBezTo>
                          <a:cubicBezTo>
                            <a:pt x="29460" y="1724787"/>
                            <a:pt x="22925" y="1458491"/>
                            <a:pt x="0" y="1222745"/>
                          </a:cubicBezTo>
                          <a:cubicBezTo>
                            <a:pt x="-22925" y="986999"/>
                            <a:pt x="-13132" y="724924"/>
                            <a:pt x="0" y="583442"/>
                          </a:cubicBezTo>
                          <a:cubicBezTo>
                            <a:pt x="13132" y="441960"/>
                            <a:pt x="-28311" y="272758"/>
                            <a:pt x="0" y="0"/>
                          </a:cubicBezTo>
                          <a:close/>
                        </a:path>
                        <a:path w="3869959" h="1862048" stroke="0" extrusionOk="0">
                          <a:moveTo>
                            <a:pt x="0" y="0"/>
                          </a:moveTo>
                          <a:cubicBezTo>
                            <a:pt x="238801" y="-15139"/>
                            <a:pt x="413588" y="-25484"/>
                            <a:pt x="567594" y="0"/>
                          </a:cubicBezTo>
                          <a:cubicBezTo>
                            <a:pt x="721600" y="25484"/>
                            <a:pt x="1013304" y="-31084"/>
                            <a:pt x="1251287" y="0"/>
                          </a:cubicBezTo>
                          <a:cubicBezTo>
                            <a:pt x="1489270" y="31084"/>
                            <a:pt x="1756840" y="-8274"/>
                            <a:pt x="1934980" y="0"/>
                          </a:cubicBezTo>
                          <a:cubicBezTo>
                            <a:pt x="2113120" y="8274"/>
                            <a:pt x="2341161" y="1313"/>
                            <a:pt x="2502573" y="0"/>
                          </a:cubicBezTo>
                          <a:cubicBezTo>
                            <a:pt x="2663985" y="-1313"/>
                            <a:pt x="2902731" y="-24828"/>
                            <a:pt x="3108867" y="0"/>
                          </a:cubicBezTo>
                          <a:cubicBezTo>
                            <a:pt x="3315003" y="24828"/>
                            <a:pt x="3498483" y="-20913"/>
                            <a:pt x="3869959" y="0"/>
                          </a:cubicBezTo>
                          <a:cubicBezTo>
                            <a:pt x="3851150" y="285236"/>
                            <a:pt x="3862084" y="366449"/>
                            <a:pt x="3869959" y="639303"/>
                          </a:cubicBezTo>
                          <a:cubicBezTo>
                            <a:pt x="3877834" y="912157"/>
                            <a:pt x="3862136" y="1004604"/>
                            <a:pt x="3869959" y="1259986"/>
                          </a:cubicBezTo>
                          <a:cubicBezTo>
                            <a:pt x="3877782" y="1515368"/>
                            <a:pt x="3861937" y="1607341"/>
                            <a:pt x="3869959" y="1862048"/>
                          </a:cubicBezTo>
                          <a:cubicBezTo>
                            <a:pt x="3675315" y="1885219"/>
                            <a:pt x="3482518" y="1867394"/>
                            <a:pt x="3147567" y="1862048"/>
                          </a:cubicBezTo>
                          <a:cubicBezTo>
                            <a:pt x="2812616" y="1856702"/>
                            <a:pt x="2871671" y="1879541"/>
                            <a:pt x="2618672" y="1862048"/>
                          </a:cubicBezTo>
                          <a:cubicBezTo>
                            <a:pt x="2365674" y="1844555"/>
                            <a:pt x="2098128" y="1850853"/>
                            <a:pt x="1896280" y="1862048"/>
                          </a:cubicBezTo>
                          <a:cubicBezTo>
                            <a:pt x="1694432" y="1873243"/>
                            <a:pt x="1389069" y="1896876"/>
                            <a:pt x="1173888" y="1862048"/>
                          </a:cubicBezTo>
                          <a:cubicBezTo>
                            <a:pt x="958707" y="1827220"/>
                            <a:pt x="252598" y="1806694"/>
                            <a:pt x="0" y="1862048"/>
                          </a:cubicBezTo>
                          <a:cubicBezTo>
                            <a:pt x="8019" y="1712889"/>
                            <a:pt x="22879" y="1437174"/>
                            <a:pt x="0" y="1241365"/>
                          </a:cubicBezTo>
                          <a:cubicBezTo>
                            <a:pt x="-22879" y="1045556"/>
                            <a:pt x="-7570" y="762852"/>
                            <a:pt x="0" y="639303"/>
                          </a:cubicBezTo>
                          <a:cubicBezTo>
                            <a:pt x="7570" y="515754"/>
                            <a:pt x="-31653" y="143494"/>
                            <a:pt x="0" y="0"/>
                          </a:cubicBezTo>
                          <a:close/>
                        </a:path>
                      </a:pathLst>
                    </a:custGeom>
                    <ask:type>
                      <ask:lineSketchNone/>
                    </ask:type>
                  </ask:lineSketchStyleProps>
                </a:ext>
              </a:extLst>
            </a:ln>
          </p:spPr>
          <p:txBody>
            <a:bodyPr wrap="square" rtlCol="0">
              <a:spAutoFit/>
            </a:bodyPr>
            <a:lstStyle/>
            <a:p>
              <a:pPr marL="0" marR="0" lvl="0" indent="0" algn="ctr" defTabSz="914400" eaLnBrk="1" fontAlgn="auto" latinLnBrk="0" hangingPunct="1">
                <a:lnSpc>
                  <a:spcPct val="100000"/>
                </a:lnSpc>
                <a:spcBef>
                  <a:spcPts val="0"/>
                </a:spcBef>
                <a:spcAft>
                  <a:spcPts val="600"/>
                </a:spcAft>
                <a:buClrTx/>
                <a:buSzTx/>
                <a:buFontTx/>
                <a:buNone/>
                <a:tabLst/>
                <a:defRPr/>
              </a:pPr>
              <a:r>
                <a:rPr kumimoji="0" lang="en-US" sz="1400" b="1" i="0" u="none" strike="noStrike" kern="0" cap="none" spc="0" normalizeH="0" baseline="0" noProof="0" dirty="0">
                  <a:ln>
                    <a:noFill/>
                  </a:ln>
                  <a:solidFill>
                    <a:prstClr val="black"/>
                  </a:solidFill>
                  <a:effectLst/>
                  <a:uLnTx/>
                  <a:uFillTx/>
                  <a:latin typeface="Segoe UI Variable Display" pitchFamily="2" charset="0"/>
                  <a:cs typeface="Arial"/>
                </a:rPr>
                <a:t>DIGITAL CERTIFICATE</a:t>
              </a: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Segoe UI Variable Static Text" pitchFamily="2" charset="0"/>
                  <a:cs typeface="Arial"/>
                </a:rPr>
                <a:t>Name: Saurabh</a:t>
              </a: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Segoe UI Variable Static Text" pitchFamily="2" charset="0"/>
                  <a:cs typeface="Arial"/>
                </a:rPr>
                <a:t>Locality: Sector 18 Gurugram</a:t>
              </a: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Segoe UI Variable Static Text" pitchFamily="2" charset="0"/>
                  <a:cs typeface="Arial"/>
                </a:rPr>
                <a:t>State: Haryana</a:t>
              </a: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Segoe UI Variable Static Text" pitchFamily="2" charset="0"/>
                  <a:cs typeface="Arial"/>
                </a:rPr>
                <a:t>Country: IN</a:t>
              </a: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Segoe UI Variable Static Text" pitchFamily="2" charset="0"/>
                  <a:cs typeface="Arial"/>
                </a:rPr>
                <a:t>Hostname: </a:t>
              </a:r>
              <a:r>
                <a:rPr kumimoji="0" lang="en-US" sz="1400" b="0" i="0" u="none" strike="noStrike" kern="0" cap="none" spc="0" normalizeH="0" baseline="0" noProof="0" dirty="0">
                  <a:ln>
                    <a:noFill/>
                  </a:ln>
                  <a:solidFill>
                    <a:prstClr val="black"/>
                  </a:solidFill>
                  <a:effectLst/>
                  <a:uLnTx/>
                  <a:uFillTx/>
                  <a:latin typeface="Consolas" panose="020B0609020204030204" pitchFamily="49" charset="0"/>
                  <a:cs typeface="Arial"/>
                </a:rPr>
                <a:t>realSaurabh.com</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Segoe UI Variable Static Text" pitchFamily="2" charset="0"/>
                  <a:cs typeface="Arial"/>
                </a:rPr>
                <a:t>Validity: 06/02/2022 to 17/02/2022</a:t>
              </a:r>
            </a:p>
          </p:txBody>
        </p:sp>
      </p:grpSp>
      <p:sp>
        <p:nvSpPr>
          <p:cNvPr id="23" name="TextBox 22">
            <a:extLst>
              <a:ext uri="{FF2B5EF4-FFF2-40B4-BE49-F238E27FC236}">
                <a16:creationId xmlns:a16="http://schemas.microsoft.com/office/drawing/2014/main" id="{0EAEEC03-A73D-36EB-2F44-0F663F69771C}"/>
              </a:ext>
            </a:extLst>
          </p:cNvPr>
          <p:cNvSpPr txBox="1"/>
          <p:nvPr/>
        </p:nvSpPr>
        <p:spPr bwMode="auto">
          <a:xfrm>
            <a:off x="1128552" y="2778894"/>
            <a:ext cx="5112568" cy="2308324"/>
          </a:xfrm>
          <a:prstGeom prst="rect">
            <a:avLst/>
          </a:prstGeom>
          <a:noFill/>
        </p:spPr>
        <p:txBody>
          <a:bodyPr wrap="square" lIns="91440" tIns="45720" rIns="91440" bIns="45720" rtlCol="0" anchor="t">
            <a:spAutoFit/>
          </a:bodyPr>
          <a:lstStyle/>
          <a:p>
            <a:pPr algn="ctr" defTabSz="914400"/>
            <a:r>
              <a:rPr lang="en-US" kern="0" dirty="0">
                <a:solidFill>
                  <a:srgbClr val="023047"/>
                </a:solidFill>
                <a:cs typeface="Arial"/>
              </a:rPr>
              <a:t>“Signature” is a metaphor.</a:t>
            </a:r>
          </a:p>
          <a:p>
            <a:pPr algn="ctr" defTabSz="914400"/>
            <a:endParaRPr lang="en-US" kern="0" dirty="0">
              <a:solidFill>
                <a:srgbClr val="023047"/>
              </a:solidFill>
              <a:cs typeface="Arial"/>
            </a:endParaRPr>
          </a:p>
          <a:p>
            <a:pPr algn="ctr" defTabSz="914400"/>
            <a:endParaRPr lang="en-US" kern="0" dirty="0">
              <a:solidFill>
                <a:srgbClr val="023047"/>
              </a:solidFill>
              <a:cs typeface="Arial"/>
            </a:endParaRPr>
          </a:p>
          <a:p>
            <a:pPr algn="ctr" defTabSz="914400"/>
            <a:r>
              <a:rPr lang="en-US" kern="0" dirty="0">
                <a:solidFill>
                  <a:srgbClr val="023047"/>
                </a:solidFill>
                <a:cs typeface="Arial"/>
              </a:rPr>
              <a:t>It’s an encryption key (a pair of keys) that provide the "signature-ness".</a:t>
            </a:r>
          </a:p>
          <a:p>
            <a:pPr algn="ctr" defTabSz="914400"/>
            <a:endParaRPr lang="en-US" kern="0" dirty="0">
              <a:solidFill>
                <a:srgbClr val="023047"/>
              </a:solidFill>
              <a:cs typeface="Arial"/>
            </a:endParaRPr>
          </a:p>
          <a:p>
            <a:pPr algn="ctr" defTabSz="914400"/>
            <a:endParaRPr lang="en-US" kern="0" dirty="0">
              <a:solidFill>
                <a:srgbClr val="023047"/>
              </a:solidFill>
              <a:cs typeface="Arial"/>
            </a:endParaRPr>
          </a:p>
          <a:p>
            <a:pPr algn="ctr" defTabSz="914400"/>
            <a:r>
              <a:rPr lang="en-US" kern="0" dirty="0">
                <a:solidFill>
                  <a:srgbClr val="023047"/>
                </a:solidFill>
                <a:cs typeface="Arial"/>
              </a:rPr>
              <a:t>There is no concept of “forging” a signature.</a:t>
            </a:r>
          </a:p>
        </p:txBody>
      </p:sp>
    </p:spTree>
    <p:extLst>
      <p:ext uri="{BB962C8B-B14F-4D97-AF65-F5344CB8AC3E}">
        <p14:creationId xmlns:p14="http://schemas.microsoft.com/office/powerpoint/2010/main" val="8484936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5E0814E-F4C4-4A0F-CD76-6C7497AC8F34}"/>
              </a:ext>
            </a:extLst>
          </p:cNvPr>
          <p:cNvSpPr/>
          <p:nvPr/>
        </p:nvSpPr>
        <p:spPr>
          <a:xfrm>
            <a:off x="0" y="0"/>
            <a:ext cx="806245" cy="6858000"/>
          </a:xfrm>
          <a:prstGeom prst="rect">
            <a:avLst/>
          </a:prstGeom>
          <a:solidFill>
            <a:srgbClr val="219EBC"/>
          </a:solidFill>
          <a:ln>
            <a:solidFill>
              <a:srgbClr val="219E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rgbClr val="219EBC"/>
              </a:solidFill>
            </a:endParaRPr>
          </a:p>
        </p:txBody>
      </p:sp>
      <p:pic>
        <p:nvPicPr>
          <p:cNvPr id="2050" name="Picture 2" descr="Truminds Software Systems | LinkedIn">
            <a:extLst>
              <a:ext uri="{FF2B5EF4-FFF2-40B4-BE49-F238E27FC236}">
                <a16:creationId xmlns:a16="http://schemas.microsoft.com/office/drawing/2014/main" id="{074CEAAD-016E-FE56-B3FF-512C6E5054DE}"/>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28000" b="69500" l="1500" r="97000">
                        <a14:foregroundMark x1="11000" y1="53000" x2="11000" y2="53000"/>
                        <a14:foregroundMark x1="20000" y1="38500" x2="20000" y2="38500"/>
                        <a14:foregroundMark x1="6000" y1="40500" x2="6000" y2="40500"/>
                        <a14:foregroundMark x1="1500" y1="39500" x2="1500" y2="39500"/>
                        <a14:foregroundMark x1="23500" y1="39500" x2="23500" y2="39500"/>
                        <a14:foregroundMark x1="21000" y1="55500" x2="21000" y2="55500"/>
                        <a14:foregroundMark x1="31500" y1="61500" x2="31500" y2="61500"/>
                        <a14:foregroundMark x1="41500" y1="60000" x2="41500" y2="60000"/>
                        <a14:foregroundMark x1="61000" y1="60000" x2="61000" y2="60000"/>
                        <a14:foregroundMark x1="60500" y1="49000" x2="60500" y2="49000"/>
                        <a14:foregroundMark x1="66500" y1="57000" x2="66500" y2="57000"/>
                        <a14:foregroundMark x1="78000" y1="59000" x2="78000" y2="59000"/>
                        <a14:foregroundMark x1="93500" y1="57000" x2="93500" y2="57000"/>
                        <a14:foregroundMark x1="92500" y1="61500" x2="92500" y2="61500"/>
                        <a14:foregroundMark x1="97000" y1="59000" x2="97000" y2="59000"/>
                      </a14:backgroundRemoval>
                    </a14:imgEffect>
                  </a14:imgLayer>
                </a14:imgProps>
              </a:ext>
              <a:ext uri="{28A0092B-C50C-407E-A947-70E740481C1C}">
                <a14:useLocalDpi xmlns:a14="http://schemas.microsoft.com/office/drawing/2010/main" val="0"/>
              </a:ext>
            </a:extLst>
          </a:blip>
          <a:srcRect t="24194" b="24913"/>
          <a:stretch/>
        </p:blipFill>
        <p:spPr bwMode="auto">
          <a:xfrm>
            <a:off x="10890447" y="108178"/>
            <a:ext cx="1197765" cy="609577"/>
          </a:xfrm>
          <a:prstGeom prst="rect">
            <a:avLst/>
          </a:prstGeom>
          <a:noFill/>
          <a:effectLst>
            <a:glow rad="25400">
              <a:srgbClr val="8ECAE6">
                <a:alpha val="31000"/>
              </a:srgbClr>
            </a:glow>
          </a:effectLst>
          <a:extLst>
            <a:ext uri="{909E8E84-426E-40DD-AFC4-6F175D3DCCD1}">
              <a14:hiddenFill xmlns:a14="http://schemas.microsoft.com/office/drawing/2010/main">
                <a:solidFill>
                  <a:srgbClr val="FFFFFF"/>
                </a:solidFill>
              </a14:hiddenFill>
            </a:ext>
          </a:extLst>
        </p:spPr>
      </p:pic>
      <p:sp>
        <p:nvSpPr>
          <p:cNvPr id="25" name="Title 4">
            <a:extLst>
              <a:ext uri="{FF2B5EF4-FFF2-40B4-BE49-F238E27FC236}">
                <a16:creationId xmlns:a16="http://schemas.microsoft.com/office/drawing/2014/main" id="{0D138AE8-D3AF-4FF6-F286-05C606263009}"/>
              </a:ext>
            </a:extLst>
          </p:cNvPr>
          <p:cNvSpPr txBox="1">
            <a:spLocks/>
          </p:cNvSpPr>
          <p:nvPr/>
        </p:nvSpPr>
        <p:spPr bwMode="auto">
          <a:xfrm>
            <a:off x="838199" y="2002632"/>
            <a:ext cx="10515600" cy="2852736"/>
          </a:xfrm>
          <a:prstGeom prst="rect">
            <a:avLst/>
          </a:prstGeom>
        </p:spPr>
        <p:txBody>
          <a:bodyPr vert="horz" lIns="91440" tIns="45720" rIns="91440" bIns="45720" rtlCol="0" anchor="b">
            <a:normAutofit/>
          </a:bodyPr>
          <a:lstStyle>
            <a:lvl1pPr algn="l" defTabSz="914400">
              <a:lnSpc>
                <a:spcPct val="90000"/>
              </a:lnSpc>
              <a:spcBef>
                <a:spcPts val="0"/>
              </a:spcBef>
              <a:buNone/>
              <a:defRPr sz="6000">
                <a:solidFill>
                  <a:schemeClr val="tx1"/>
                </a:solidFill>
                <a:latin typeface="+mj-lt"/>
                <a:ea typeface="+mj-ea"/>
                <a:cs typeface="+mj-cs"/>
              </a:defRPr>
            </a:lvl1pPr>
          </a:lstStyle>
          <a:p>
            <a:pPr algn="ctr"/>
            <a:r>
              <a:rPr lang="en-US" kern="0" dirty="0">
                <a:solidFill>
                  <a:srgbClr val="219EBC"/>
                </a:solidFill>
                <a:latin typeface="High Tower Text" panose="02040502050506030303" pitchFamily="18" charset="0"/>
              </a:rPr>
              <a:t>Certificate Generator</a:t>
            </a:r>
            <a:endParaRPr lang="en-IN" kern="0" dirty="0">
              <a:solidFill>
                <a:srgbClr val="219EBC"/>
              </a:solidFill>
              <a:latin typeface="High Tower Text" panose="02040502050506030303" pitchFamily="18" charset="0"/>
            </a:endParaRPr>
          </a:p>
        </p:txBody>
      </p:sp>
      <p:sp>
        <p:nvSpPr>
          <p:cNvPr id="26" name="Text Placeholder 5">
            <a:extLst>
              <a:ext uri="{FF2B5EF4-FFF2-40B4-BE49-F238E27FC236}">
                <a16:creationId xmlns:a16="http://schemas.microsoft.com/office/drawing/2014/main" id="{F7995003-79D9-6CB9-ACD5-CC882CBB7F3E}"/>
              </a:ext>
            </a:extLst>
          </p:cNvPr>
          <p:cNvSpPr txBox="1">
            <a:spLocks/>
          </p:cNvSpPr>
          <p:nvPr/>
        </p:nvSpPr>
        <p:spPr bwMode="auto">
          <a:xfrm>
            <a:off x="838199" y="4882357"/>
            <a:ext cx="10515600" cy="1500186"/>
          </a:xfrm>
          <a:prstGeom prst="rect">
            <a:avLst/>
          </a:prstGeom>
        </p:spPr>
        <p:txBody>
          <a:bodyPr vert="horz" lIns="91440" tIns="45720" rIns="91440" bIns="45720" rtlCol="0">
            <a:normAutofit/>
          </a:bodyPr>
          <a:lstStyle>
            <a:lvl1pPr marL="0" indent="0" algn="l" defTabSz="914400">
              <a:lnSpc>
                <a:spcPct val="90000"/>
              </a:lnSpc>
              <a:spcBef>
                <a:spcPts val="1000"/>
              </a:spcBef>
              <a:buFont typeface="Arial"/>
              <a:buNone/>
              <a:defRPr sz="2400">
                <a:solidFill>
                  <a:schemeClr val="tx1">
                    <a:tint val="75000"/>
                  </a:schemeClr>
                </a:solidFill>
                <a:latin typeface="+mn-lt"/>
                <a:ea typeface="+mn-ea"/>
                <a:cs typeface="+mn-cs"/>
              </a:defRPr>
            </a:lvl1pPr>
            <a:lvl2pPr marL="457200" indent="0" algn="l" defTabSz="914400">
              <a:lnSpc>
                <a:spcPct val="90000"/>
              </a:lnSpc>
              <a:spcBef>
                <a:spcPts val="500"/>
              </a:spcBef>
              <a:buFont typeface="Arial"/>
              <a:buNone/>
              <a:defRPr sz="2000">
                <a:solidFill>
                  <a:schemeClr val="tx1">
                    <a:tint val="75000"/>
                  </a:schemeClr>
                </a:solidFill>
                <a:latin typeface="+mn-lt"/>
                <a:ea typeface="+mn-ea"/>
                <a:cs typeface="+mn-cs"/>
              </a:defRPr>
            </a:lvl2pPr>
            <a:lvl3pPr marL="914400" indent="0" algn="l" defTabSz="914400">
              <a:lnSpc>
                <a:spcPct val="90000"/>
              </a:lnSpc>
              <a:spcBef>
                <a:spcPts val="500"/>
              </a:spcBef>
              <a:buFont typeface="Arial"/>
              <a:buNone/>
              <a:defRPr sz="1800">
                <a:solidFill>
                  <a:schemeClr val="tx1">
                    <a:tint val="75000"/>
                  </a:schemeClr>
                </a:solidFill>
                <a:latin typeface="+mn-lt"/>
                <a:ea typeface="+mn-ea"/>
                <a:cs typeface="+mn-cs"/>
              </a:defRPr>
            </a:lvl3pPr>
            <a:lvl4pPr marL="1371600" indent="0" algn="l" defTabSz="914400">
              <a:lnSpc>
                <a:spcPct val="90000"/>
              </a:lnSpc>
              <a:spcBef>
                <a:spcPts val="500"/>
              </a:spcBef>
              <a:buFont typeface="Arial"/>
              <a:buNone/>
              <a:defRPr sz="1600">
                <a:solidFill>
                  <a:schemeClr val="tx1">
                    <a:tint val="75000"/>
                  </a:schemeClr>
                </a:solidFill>
                <a:latin typeface="+mn-lt"/>
                <a:ea typeface="+mn-ea"/>
                <a:cs typeface="+mn-cs"/>
              </a:defRPr>
            </a:lvl4pPr>
            <a:lvl5pPr marL="1828800" indent="0" algn="l" defTabSz="914400">
              <a:lnSpc>
                <a:spcPct val="90000"/>
              </a:lnSpc>
              <a:spcBef>
                <a:spcPts val="500"/>
              </a:spcBef>
              <a:buFont typeface="Arial"/>
              <a:buNone/>
              <a:defRPr sz="1600">
                <a:solidFill>
                  <a:schemeClr val="tx1">
                    <a:tint val="75000"/>
                  </a:schemeClr>
                </a:solidFill>
                <a:latin typeface="+mn-lt"/>
                <a:ea typeface="+mn-ea"/>
                <a:cs typeface="+mn-cs"/>
              </a:defRPr>
            </a:lvl5pPr>
            <a:lvl6pPr marL="2286000" indent="0" algn="l" defTabSz="914400">
              <a:lnSpc>
                <a:spcPct val="90000"/>
              </a:lnSpc>
              <a:spcBef>
                <a:spcPts val="500"/>
              </a:spcBef>
              <a:buFont typeface="Arial"/>
              <a:buNone/>
              <a:defRPr sz="1600">
                <a:solidFill>
                  <a:schemeClr val="tx1">
                    <a:tint val="75000"/>
                  </a:schemeClr>
                </a:solidFill>
                <a:latin typeface="+mn-lt"/>
                <a:ea typeface="+mn-ea"/>
                <a:cs typeface="+mn-cs"/>
              </a:defRPr>
            </a:lvl6pPr>
            <a:lvl7pPr marL="2743200" indent="0" algn="l" defTabSz="914400">
              <a:lnSpc>
                <a:spcPct val="90000"/>
              </a:lnSpc>
              <a:spcBef>
                <a:spcPts val="500"/>
              </a:spcBef>
              <a:buFont typeface="Arial"/>
              <a:buNone/>
              <a:defRPr sz="1600">
                <a:solidFill>
                  <a:schemeClr val="tx1">
                    <a:tint val="75000"/>
                  </a:schemeClr>
                </a:solidFill>
                <a:latin typeface="+mn-lt"/>
                <a:ea typeface="+mn-ea"/>
                <a:cs typeface="+mn-cs"/>
              </a:defRPr>
            </a:lvl7pPr>
            <a:lvl8pPr marL="3200400" indent="0" algn="l" defTabSz="914400">
              <a:lnSpc>
                <a:spcPct val="90000"/>
              </a:lnSpc>
              <a:spcBef>
                <a:spcPts val="500"/>
              </a:spcBef>
              <a:buFont typeface="Arial"/>
              <a:buNone/>
              <a:defRPr sz="1600">
                <a:solidFill>
                  <a:schemeClr val="tx1">
                    <a:tint val="75000"/>
                  </a:schemeClr>
                </a:solidFill>
                <a:latin typeface="+mn-lt"/>
                <a:ea typeface="+mn-ea"/>
                <a:cs typeface="+mn-cs"/>
              </a:defRPr>
            </a:lvl8pPr>
            <a:lvl9pPr marL="3657600" indent="0" algn="l" defTabSz="914400">
              <a:lnSpc>
                <a:spcPct val="90000"/>
              </a:lnSpc>
              <a:spcBef>
                <a:spcPts val="500"/>
              </a:spcBef>
              <a:buFont typeface="Arial"/>
              <a:buNone/>
              <a:defRPr sz="1600">
                <a:solidFill>
                  <a:schemeClr val="tx1">
                    <a:tint val="75000"/>
                  </a:schemeClr>
                </a:solidFill>
                <a:latin typeface="+mn-lt"/>
                <a:ea typeface="+mn-ea"/>
                <a:cs typeface="+mn-cs"/>
              </a:defRPr>
            </a:lvl9pPr>
          </a:lstStyle>
          <a:p>
            <a:pPr marL="0" marR="0" lvl="0" indent="0" algn="ctr" defTabSz="914400" eaLnBrk="1" fontAlgn="auto" latinLnBrk="0" hangingPunct="1">
              <a:lnSpc>
                <a:spcPct val="90000"/>
              </a:lnSpc>
              <a:spcBef>
                <a:spcPts val="1000"/>
              </a:spcBef>
              <a:spcAft>
                <a:spcPts val="0"/>
              </a:spcAft>
              <a:buClrTx/>
              <a:buSzTx/>
              <a:buFont typeface="Arial"/>
              <a:buNone/>
              <a:tabLst/>
              <a:defRPr/>
            </a:pPr>
            <a:r>
              <a:rPr kumimoji="0" lang="en-US" sz="2400" b="0" i="0" u="none" strike="noStrike" kern="0" cap="none" spc="0" normalizeH="0" baseline="0" noProof="0" dirty="0">
                <a:ln>
                  <a:noFill/>
                </a:ln>
                <a:solidFill>
                  <a:srgbClr val="023047"/>
                </a:solidFill>
                <a:effectLst/>
                <a:uLnTx/>
                <a:uFillTx/>
                <a:latin typeface="+mj-lt"/>
                <a:cs typeface="Arial"/>
              </a:rPr>
              <a:t>Digital Certificates Made Easy!</a:t>
            </a:r>
            <a:endParaRPr kumimoji="0" lang="en-IN" sz="2400" b="0" i="0" u="none" strike="noStrike" kern="0" cap="none" spc="0" normalizeH="0" baseline="0" noProof="0" dirty="0">
              <a:ln>
                <a:noFill/>
              </a:ln>
              <a:solidFill>
                <a:srgbClr val="023047"/>
              </a:solidFill>
              <a:effectLst/>
              <a:uLnTx/>
              <a:uFillTx/>
              <a:latin typeface="+mj-lt"/>
              <a:cs typeface="Arial"/>
            </a:endParaRPr>
          </a:p>
        </p:txBody>
      </p:sp>
      <p:pic>
        <p:nvPicPr>
          <p:cNvPr id="27" name="Picture 26">
            <a:extLst>
              <a:ext uri="{FF2B5EF4-FFF2-40B4-BE49-F238E27FC236}">
                <a16:creationId xmlns:a16="http://schemas.microsoft.com/office/drawing/2014/main" id="{8DD81EFE-87DA-D419-F8E0-B7DD594C90B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auto">
          <a:xfrm>
            <a:off x="5303912" y="1975643"/>
            <a:ext cx="1584176" cy="1584176"/>
          </a:xfrm>
          <a:prstGeom prst="rect">
            <a:avLst/>
          </a:prstGeom>
        </p:spPr>
      </p:pic>
    </p:spTree>
    <p:extLst>
      <p:ext uri="{BB962C8B-B14F-4D97-AF65-F5344CB8AC3E}">
        <p14:creationId xmlns:p14="http://schemas.microsoft.com/office/powerpoint/2010/main" val="29006845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F8A85-B563-45E2-967A-8714968EAF51}"/>
              </a:ext>
            </a:extLst>
          </p:cNvPr>
          <p:cNvSpPr>
            <a:spLocks noGrp="1"/>
          </p:cNvSpPr>
          <p:nvPr>
            <p:ph type="title"/>
          </p:nvPr>
        </p:nvSpPr>
        <p:spPr/>
        <p:txBody>
          <a:bodyPr/>
          <a:lstStyle/>
          <a:p>
            <a:r>
              <a:rPr lang="en-US" cap="none" dirty="0">
                <a:solidFill>
                  <a:srgbClr val="FB8500"/>
                </a:solidFill>
                <a:latin typeface="High Tower Text" panose="02040502050506030303" pitchFamily="18" charset="0"/>
              </a:rPr>
              <a:t>Certificate Generator</a:t>
            </a:r>
            <a:endParaRPr lang="en-IN" cap="none" dirty="0">
              <a:solidFill>
                <a:srgbClr val="FB8500"/>
              </a:solidFill>
              <a:latin typeface="High Tower Text" panose="02040502050506030303" pitchFamily="18" charset="0"/>
            </a:endParaRPr>
          </a:p>
        </p:txBody>
      </p:sp>
      <p:sp>
        <p:nvSpPr>
          <p:cNvPr id="4" name="Rectangle 3">
            <a:extLst>
              <a:ext uri="{FF2B5EF4-FFF2-40B4-BE49-F238E27FC236}">
                <a16:creationId xmlns:a16="http://schemas.microsoft.com/office/drawing/2014/main" id="{75E0814E-F4C4-4A0F-CD76-6C7497AC8F34}"/>
              </a:ext>
            </a:extLst>
          </p:cNvPr>
          <p:cNvSpPr/>
          <p:nvPr/>
        </p:nvSpPr>
        <p:spPr>
          <a:xfrm>
            <a:off x="0" y="0"/>
            <a:ext cx="806245" cy="6858000"/>
          </a:xfrm>
          <a:prstGeom prst="rect">
            <a:avLst/>
          </a:prstGeom>
          <a:solidFill>
            <a:srgbClr val="219EBC"/>
          </a:solidFill>
          <a:ln>
            <a:solidFill>
              <a:srgbClr val="219E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rgbClr val="219EBC"/>
              </a:solidFill>
            </a:endParaRPr>
          </a:p>
        </p:txBody>
      </p:sp>
      <p:pic>
        <p:nvPicPr>
          <p:cNvPr id="2050" name="Picture 2" descr="Truminds Software Systems | LinkedIn">
            <a:extLst>
              <a:ext uri="{FF2B5EF4-FFF2-40B4-BE49-F238E27FC236}">
                <a16:creationId xmlns:a16="http://schemas.microsoft.com/office/drawing/2014/main" id="{074CEAAD-016E-FE56-B3FF-512C6E5054DE}"/>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28000" b="69500" l="1500" r="97000">
                        <a14:foregroundMark x1="11000" y1="53000" x2="11000" y2="53000"/>
                        <a14:foregroundMark x1="20000" y1="38500" x2="20000" y2="38500"/>
                        <a14:foregroundMark x1="6000" y1="40500" x2="6000" y2="40500"/>
                        <a14:foregroundMark x1="1500" y1="39500" x2="1500" y2="39500"/>
                        <a14:foregroundMark x1="23500" y1="39500" x2="23500" y2="39500"/>
                        <a14:foregroundMark x1="21000" y1="55500" x2="21000" y2="55500"/>
                        <a14:foregroundMark x1="31500" y1="61500" x2="31500" y2="61500"/>
                        <a14:foregroundMark x1="41500" y1="60000" x2="41500" y2="60000"/>
                        <a14:foregroundMark x1="61000" y1="60000" x2="61000" y2="60000"/>
                        <a14:foregroundMark x1="60500" y1="49000" x2="60500" y2="49000"/>
                        <a14:foregroundMark x1="66500" y1="57000" x2="66500" y2="57000"/>
                        <a14:foregroundMark x1="78000" y1="59000" x2="78000" y2="59000"/>
                        <a14:foregroundMark x1="93500" y1="57000" x2="93500" y2="57000"/>
                        <a14:foregroundMark x1="92500" y1="61500" x2="92500" y2="61500"/>
                        <a14:foregroundMark x1="97000" y1="59000" x2="97000" y2="59000"/>
                      </a14:backgroundRemoval>
                    </a14:imgEffect>
                  </a14:imgLayer>
                </a14:imgProps>
              </a:ext>
              <a:ext uri="{28A0092B-C50C-407E-A947-70E740481C1C}">
                <a14:useLocalDpi xmlns:a14="http://schemas.microsoft.com/office/drawing/2010/main" val="0"/>
              </a:ext>
            </a:extLst>
          </a:blip>
          <a:srcRect t="24194" b="24913"/>
          <a:stretch/>
        </p:blipFill>
        <p:spPr bwMode="auto">
          <a:xfrm>
            <a:off x="10890447" y="108178"/>
            <a:ext cx="1197765" cy="609577"/>
          </a:xfrm>
          <a:prstGeom prst="rect">
            <a:avLst/>
          </a:prstGeom>
          <a:noFill/>
          <a:effectLst>
            <a:glow rad="25400">
              <a:srgbClr val="8ECAE6">
                <a:alpha val="31000"/>
              </a:srgbClr>
            </a:glow>
          </a:effectLst>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2FB457C4-91E6-0BC6-DD2D-1C1BF34FE640}"/>
              </a:ext>
            </a:extLst>
          </p:cNvPr>
          <p:cNvPicPr>
            <a:picLocks noChangeAspect="1"/>
          </p:cNvPicPr>
          <p:nvPr/>
        </p:nvPicPr>
        <p:blipFill>
          <a:blip r:embed="rId5"/>
          <a:stretch>
            <a:fillRect/>
          </a:stretch>
        </p:blipFill>
        <p:spPr>
          <a:xfrm>
            <a:off x="1968631" y="2553407"/>
            <a:ext cx="1979598" cy="1751183"/>
          </a:xfrm>
          <a:prstGeom prst="rect">
            <a:avLst/>
          </a:prstGeom>
        </p:spPr>
      </p:pic>
      <p:pic>
        <p:nvPicPr>
          <p:cNvPr id="14" name="Picture 13">
            <a:extLst>
              <a:ext uri="{FF2B5EF4-FFF2-40B4-BE49-F238E27FC236}">
                <a16:creationId xmlns:a16="http://schemas.microsoft.com/office/drawing/2014/main" id="{714BC02C-674B-4D87-3A13-395FE4880CEC}"/>
              </a:ext>
            </a:extLst>
          </p:cNvPr>
          <p:cNvPicPr>
            <a:picLocks noChangeAspect="1"/>
          </p:cNvPicPr>
          <p:nvPr/>
        </p:nvPicPr>
        <p:blipFill>
          <a:blip r:embed="rId6"/>
          <a:stretch>
            <a:fillRect/>
          </a:stretch>
        </p:blipFill>
        <p:spPr>
          <a:xfrm>
            <a:off x="5110616" y="2553408"/>
            <a:ext cx="1970767" cy="1751183"/>
          </a:xfrm>
          <a:prstGeom prst="rect">
            <a:avLst/>
          </a:prstGeom>
        </p:spPr>
      </p:pic>
      <p:pic>
        <p:nvPicPr>
          <p:cNvPr id="16" name="Picture 15">
            <a:extLst>
              <a:ext uri="{FF2B5EF4-FFF2-40B4-BE49-F238E27FC236}">
                <a16:creationId xmlns:a16="http://schemas.microsoft.com/office/drawing/2014/main" id="{665319D4-43C0-9BF2-680D-9DE0194268E9}"/>
              </a:ext>
            </a:extLst>
          </p:cNvPr>
          <p:cNvPicPr>
            <a:picLocks noChangeAspect="1"/>
          </p:cNvPicPr>
          <p:nvPr/>
        </p:nvPicPr>
        <p:blipFill>
          <a:blip r:embed="rId7"/>
          <a:stretch>
            <a:fillRect/>
          </a:stretch>
        </p:blipFill>
        <p:spPr>
          <a:xfrm>
            <a:off x="8241688" y="2553407"/>
            <a:ext cx="1925334" cy="1751183"/>
          </a:xfrm>
          <a:prstGeom prst="rect">
            <a:avLst/>
          </a:prstGeom>
        </p:spPr>
      </p:pic>
      <p:sp>
        <p:nvSpPr>
          <p:cNvPr id="17" name="TextBox 16">
            <a:extLst>
              <a:ext uri="{FF2B5EF4-FFF2-40B4-BE49-F238E27FC236}">
                <a16:creationId xmlns:a16="http://schemas.microsoft.com/office/drawing/2014/main" id="{327EBBFE-968D-7C92-7935-B8EE7F5DF7CD}"/>
              </a:ext>
            </a:extLst>
          </p:cNvPr>
          <p:cNvSpPr txBox="1"/>
          <p:nvPr/>
        </p:nvSpPr>
        <p:spPr>
          <a:xfrm>
            <a:off x="2201848" y="4304590"/>
            <a:ext cx="1504335" cy="369332"/>
          </a:xfrm>
          <a:prstGeom prst="rect">
            <a:avLst/>
          </a:prstGeom>
          <a:noFill/>
        </p:spPr>
        <p:txBody>
          <a:bodyPr wrap="square" rtlCol="0">
            <a:spAutoFit/>
          </a:bodyPr>
          <a:lstStyle/>
          <a:p>
            <a:pPr algn="ctr"/>
            <a:r>
              <a:rPr lang="en-US" dirty="0">
                <a:solidFill>
                  <a:srgbClr val="023047"/>
                </a:solidFill>
              </a:rPr>
              <a:t>Graphical UI</a:t>
            </a:r>
            <a:endParaRPr lang="en-IN" dirty="0">
              <a:solidFill>
                <a:srgbClr val="023047"/>
              </a:solidFill>
            </a:endParaRPr>
          </a:p>
        </p:txBody>
      </p:sp>
      <p:sp>
        <p:nvSpPr>
          <p:cNvPr id="31" name="TextBox 30">
            <a:extLst>
              <a:ext uri="{FF2B5EF4-FFF2-40B4-BE49-F238E27FC236}">
                <a16:creationId xmlns:a16="http://schemas.microsoft.com/office/drawing/2014/main" id="{2C92B778-139B-EA62-3547-D578C2BED939}"/>
              </a:ext>
            </a:extLst>
          </p:cNvPr>
          <p:cNvSpPr txBox="1"/>
          <p:nvPr/>
        </p:nvSpPr>
        <p:spPr>
          <a:xfrm>
            <a:off x="5164264" y="4304590"/>
            <a:ext cx="1861390" cy="369332"/>
          </a:xfrm>
          <a:prstGeom prst="rect">
            <a:avLst/>
          </a:prstGeom>
          <a:noFill/>
        </p:spPr>
        <p:txBody>
          <a:bodyPr wrap="square" rtlCol="0">
            <a:spAutoFit/>
          </a:bodyPr>
          <a:lstStyle/>
          <a:p>
            <a:pPr algn="ctr"/>
            <a:r>
              <a:rPr lang="en-US" dirty="0">
                <a:solidFill>
                  <a:srgbClr val="023047"/>
                </a:solidFill>
              </a:rPr>
              <a:t>Command Line</a:t>
            </a:r>
            <a:endParaRPr lang="en-IN" dirty="0">
              <a:solidFill>
                <a:srgbClr val="023047"/>
              </a:solidFill>
            </a:endParaRPr>
          </a:p>
        </p:txBody>
      </p:sp>
      <p:sp>
        <p:nvSpPr>
          <p:cNvPr id="32" name="TextBox 31">
            <a:extLst>
              <a:ext uri="{FF2B5EF4-FFF2-40B4-BE49-F238E27FC236}">
                <a16:creationId xmlns:a16="http://schemas.microsoft.com/office/drawing/2014/main" id="{0EF93E53-F4BC-C828-18F5-C73342CC2744}"/>
              </a:ext>
            </a:extLst>
          </p:cNvPr>
          <p:cNvSpPr txBox="1"/>
          <p:nvPr/>
        </p:nvSpPr>
        <p:spPr>
          <a:xfrm>
            <a:off x="8096753" y="4304590"/>
            <a:ext cx="2195540" cy="369332"/>
          </a:xfrm>
          <a:prstGeom prst="rect">
            <a:avLst/>
          </a:prstGeom>
          <a:noFill/>
        </p:spPr>
        <p:txBody>
          <a:bodyPr wrap="square" rtlCol="0">
            <a:spAutoFit/>
          </a:bodyPr>
          <a:lstStyle/>
          <a:p>
            <a:pPr algn="ctr"/>
            <a:r>
              <a:rPr lang="en-US" dirty="0">
                <a:solidFill>
                  <a:srgbClr val="023047"/>
                </a:solidFill>
              </a:rPr>
              <a:t>Python Library</a:t>
            </a:r>
            <a:endParaRPr lang="en-IN" dirty="0">
              <a:solidFill>
                <a:srgbClr val="023047"/>
              </a:solidFill>
            </a:endParaRPr>
          </a:p>
        </p:txBody>
      </p:sp>
    </p:spTree>
    <p:extLst>
      <p:ext uri="{BB962C8B-B14F-4D97-AF65-F5344CB8AC3E}">
        <p14:creationId xmlns:p14="http://schemas.microsoft.com/office/powerpoint/2010/main" val="6034653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F8A85-B563-45E2-967A-8714968EAF51}"/>
              </a:ext>
            </a:extLst>
          </p:cNvPr>
          <p:cNvSpPr>
            <a:spLocks noGrp="1"/>
          </p:cNvSpPr>
          <p:nvPr>
            <p:ph type="title"/>
          </p:nvPr>
        </p:nvSpPr>
        <p:spPr>
          <a:xfrm>
            <a:off x="1203960" y="284176"/>
            <a:ext cx="9784080" cy="1508760"/>
          </a:xfrm>
        </p:spPr>
        <p:txBody>
          <a:bodyPr/>
          <a:lstStyle/>
          <a:p>
            <a:r>
              <a:rPr lang="en-US" cap="none" dirty="0">
                <a:solidFill>
                  <a:srgbClr val="FB8500"/>
                </a:solidFill>
                <a:latin typeface="High Tower Text" panose="02040502050506030303" pitchFamily="18" charset="0"/>
              </a:rPr>
              <a:t>Requirements</a:t>
            </a:r>
            <a:endParaRPr lang="en-IN" cap="none" dirty="0">
              <a:solidFill>
                <a:srgbClr val="FB8500"/>
              </a:solidFill>
              <a:latin typeface="High Tower Text" panose="02040502050506030303" pitchFamily="18" charset="0"/>
            </a:endParaRPr>
          </a:p>
        </p:txBody>
      </p:sp>
      <p:sp>
        <p:nvSpPr>
          <p:cNvPr id="4" name="Rectangle 3">
            <a:extLst>
              <a:ext uri="{FF2B5EF4-FFF2-40B4-BE49-F238E27FC236}">
                <a16:creationId xmlns:a16="http://schemas.microsoft.com/office/drawing/2014/main" id="{75E0814E-F4C4-4A0F-CD76-6C7497AC8F34}"/>
              </a:ext>
            </a:extLst>
          </p:cNvPr>
          <p:cNvSpPr/>
          <p:nvPr/>
        </p:nvSpPr>
        <p:spPr>
          <a:xfrm>
            <a:off x="0" y="0"/>
            <a:ext cx="806245" cy="6858000"/>
          </a:xfrm>
          <a:prstGeom prst="rect">
            <a:avLst/>
          </a:prstGeom>
          <a:solidFill>
            <a:srgbClr val="219EBC"/>
          </a:solidFill>
          <a:ln>
            <a:solidFill>
              <a:srgbClr val="219E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rgbClr val="219EBC"/>
              </a:solidFill>
            </a:endParaRPr>
          </a:p>
        </p:txBody>
      </p:sp>
      <p:pic>
        <p:nvPicPr>
          <p:cNvPr id="2050" name="Picture 2" descr="Truminds Software Systems | LinkedIn">
            <a:extLst>
              <a:ext uri="{FF2B5EF4-FFF2-40B4-BE49-F238E27FC236}">
                <a16:creationId xmlns:a16="http://schemas.microsoft.com/office/drawing/2014/main" id="{074CEAAD-016E-FE56-B3FF-512C6E5054DE}"/>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28000" b="69500" l="1500" r="97000">
                        <a14:foregroundMark x1="11000" y1="53000" x2="11000" y2="53000"/>
                        <a14:foregroundMark x1="20000" y1="38500" x2="20000" y2="38500"/>
                        <a14:foregroundMark x1="6000" y1="40500" x2="6000" y2="40500"/>
                        <a14:foregroundMark x1="1500" y1="39500" x2="1500" y2="39500"/>
                        <a14:foregroundMark x1="23500" y1="39500" x2="23500" y2="39500"/>
                        <a14:foregroundMark x1="21000" y1="55500" x2="21000" y2="55500"/>
                        <a14:foregroundMark x1="31500" y1="61500" x2="31500" y2="61500"/>
                        <a14:foregroundMark x1="41500" y1="60000" x2="41500" y2="60000"/>
                        <a14:foregroundMark x1="61000" y1="60000" x2="61000" y2="60000"/>
                        <a14:foregroundMark x1="60500" y1="49000" x2="60500" y2="49000"/>
                        <a14:foregroundMark x1="66500" y1="57000" x2="66500" y2="57000"/>
                        <a14:foregroundMark x1="78000" y1="59000" x2="78000" y2="59000"/>
                        <a14:foregroundMark x1="93500" y1="57000" x2="93500" y2="57000"/>
                        <a14:foregroundMark x1="92500" y1="61500" x2="92500" y2="61500"/>
                        <a14:foregroundMark x1="97000" y1="59000" x2="97000" y2="59000"/>
                      </a14:backgroundRemoval>
                    </a14:imgEffect>
                  </a14:imgLayer>
                </a14:imgProps>
              </a:ext>
              <a:ext uri="{28A0092B-C50C-407E-A947-70E740481C1C}">
                <a14:useLocalDpi xmlns:a14="http://schemas.microsoft.com/office/drawing/2010/main" val="0"/>
              </a:ext>
            </a:extLst>
          </a:blip>
          <a:srcRect t="24194" b="24913"/>
          <a:stretch/>
        </p:blipFill>
        <p:spPr bwMode="auto">
          <a:xfrm>
            <a:off x="10890447" y="108178"/>
            <a:ext cx="1197765" cy="609577"/>
          </a:xfrm>
          <a:prstGeom prst="rect">
            <a:avLst/>
          </a:prstGeom>
          <a:noFill/>
          <a:effectLst>
            <a:glow rad="25400">
              <a:srgbClr val="8ECAE6">
                <a:alpha val="31000"/>
              </a:srgbClr>
            </a:glow>
          </a:effectLst>
          <a:extLst>
            <a:ext uri="{909E8E84-426E-40DD-AFC4-6F175D3DCCD1}">
              <a14:hiddenFill xmlns:a14="http://schemas.microsoft.com/office/drawing/2010/main">
                <a:solidFill>
                  <a:srgbClr val="FFFFFF"/>
                </a:solidFill>
              </a14:hiddenFill>
            </a:ext>
          </a:extLst>
        </p:spPr>
      </p:pic>
      <p:sp>
        <p:nvSpPr>
          <p:cNvPr id="6" name="Content Placeholder 5">
            <a:extLst>
              <a:ext uri="{FF2B5EF4-FFF2-40B4-BE49-F238E27FC236}">
                <a16:creationId xmlns:a16="http://schemas.microsoft.com/office/drawing/2014/main" id="{91A1F8A5-6C0A-2CBE-68EC-85EC65018C80}"/>
              </a:ext>
            </a:extLst>
          </p:cNvPr>
          <p:cNvSpPr>
            <a:spLocks noGrp="1"/>
          </p:cNvSpPr>
          <p:nvPr>
            <p:ph idx="1"/>
          </p:nvPr>
        </p:nvSpPr>
        <p:spPr>
          <a:xfrm>
            <a:off x="8535098" y="1792936"/>
            <a:ext cx="3051065" cy="4206240"/>
          </a:xfrm>
          <a:ln>
            <a:solidFill>
              <a:srgbClr val="023047"/>
            </a:solidFill>
          </a:ln>
        </p:spPr>
        <p:txBody>
          <a:bodyPr/>
          <a:lstStyle/>
          <a:p>
            <a:pPr marL="0" indent="0">
              <a:buNone/>
            </a:pPr>
            <a:r>
              <a:rPr lang="en-US" dirty="0">
                <a:solidFill>
                  <a:srgbClr val="023047"/>
                </a:solidFill>
                <a:highlight>
                  <a:srgbClr val="00FFFF"/>
                </a:highlight>
              </a:rPr>
              <a:t>Backend Developer</a:t>
            </a:r>
          </a:p>
          <a:p>
            <a:pPr>
              <a:buClr>
                <a:schemeClr val="bg1"/>
              </a:buClr>
              <a:buFont typeface="Wingdings" panose="05000000000000000000" pitchFamily="2" charset="2"/>
              <a:buChar char="§"/>
            </a:pPr>
            <a:r>
              <a:rPr lang="en-US" sz="1800" dirty="0">
                <a:solidFill>
                  <a:srgbClr val="023047"/>
                </a:solidFill>
              </a:rPr>
              <a:t>Knows exactly what goes into creating a certificate.</a:t>
            </a:r>
          </a:p>
          <a:p>
            <a:pPr>
              <a:buClr>
                <a:schemeClr val="bg1"/>
              </a:buClr>
              <a:buFont typeface="Wingdings" panose="05000000000000000000" pitchFamily="2" charset="2"/>
              <a:buChar char="§"/>
            </a:pPr>
            <a:r>
              <a:rPr lang="en-US" sz="1800" dirty="0">
                <a:solidFill>
                  <a:srgbClr val="023047"/>
                </a:solidFill>
              </a:rPr>
              <a:t>Wants to embed digital certificate related functionality in his own project.</a:t>
            </a:r>
          </a:p>
          <a:p>
            <a:pPr>
              <a:buClr>
                <a:schemeClr val="bg1"/>
              </a:buClr>
              <a:buFont typeface="Wingdings" panose="05000000000000000000" pitchFamily="2" charset="2"/>
              <a:buChar char="§"/>
            </a:pPr>
            <a:r>
              <a:rPr lang="en-US" sz="1800" dirty="0">
                <a:solidFill>
                  <a:srgbClr val="023047"/>
                </a:solidFill>
              </a:rPr>
              <a:t>Needs as much customization as possible.</a:t>
            </a:r>
          </a:p>
          <a:p>
            <a:pPr>
              <a:buClr>
                <a:schemeClr val="bg1"/>
              </a:buClr>
              <a:buFont typeface="Wingdings" panose="05000000000000000000" pitchFamily="2" charset="2"/>
              <a:buChar char="§"/>
            </a:pPr>
            <a:r>
              <a:rPr lang="en-US" sz="1800" dirty="0">
                <a:solidFill>
                  <a:srgbClr val="023047"/>
                </a:solidFill>
              </a:rPr>
              <a:t>Knows programming.</a:t>
            </a:r>
          </a:p>
          <a:p>
            <a:pPr marL="0" indent="0">
              <a:buClr>
                <a:schemeClr val="bg1"/>
              </a:buClr>
              <a:buNone/>
            </a:pPr>
            <a:r>
              <a:rPr lang="en-US" sz="1800" dirty="0">
                <a:solidFill>
                  <a:srgbClr val="023047"/>
                </a:solidFill>
              </a:rPr>
              <a:t>…..</a:t>
            </a:r>
          </a:p>
        </p:txBody>
      </p:sp>
      <p:sp>
        <p:nvSpPr>
          <p:cNvPr id="16" name="Content Placeholder 5">
            <a:extLst>
              <a:ext uri="{FF2B5EF4-FFF2-40B4-BE49-F238E27FC236}">
                <a16:creationId xmlns:a16="http://schemas.microsoft.com/office/drawing/2014/main" id="{F2C64FE9-A11E-AC9A-8096-B52AE0B2202B}"/>
              </a:ext>
            </a:extLst>
          </p:cNvPr>
          <p:cNvSpPr txBox="1">
            <a:spLocks/>
          </p:cNvSpPr>
          <p:nvPr/>
        </p:nvSpPr>
        <p:spPr>
          <a:xfrm>
            <a:off x="4941792" y="1792936"/>
            <a:ext cx="3051065" cy="4206240"/>
          </a:xfrm>
          <a:prstGeom prst="rect">
            <a:avLst/>
          </a:prstGeom>
          <a:ln>
            <a:solidFill>
              <a:srgbClr val="023047"/>
            </a:solidFill>
          </a:ln>
        </p:spPr>
        <p:txBody>
          <a:bodyPr vert="horz" lIns="91440" tIns="45720" rIns="91440" bIns="45720" rtlCol="0">
            <a:normAutofit/>
          </a:bodyPr>
          <a:lstStyle>
            <a:lvl1pPr marL="182880" indent="-182880" algn="l" defTabSz="914400" rtl="0" eaLnBrk="1" latinLnBrk="0" hangingPunct="1">
              <a:lnSpc>
                <a:spcPct val="90000"/>
              </a:lnSpc>
              <a:spcBef>
                <a:spcPts val="1200"/>
              </a:spcBef>
              <a:spcAft>
                <a:spcPts val="200"/>
              </a:spcAft>
              <a:buClr>
                <a:schemeClr val="tx1"/>
              </a:buClr>
              <a:buFont typeface="Wingdings" pitchFamily="2" charset="2"/>
              <a:buChar char=""/>
              <a:defRPr sz="2200" kern="1200">
                <a:solidFill>
                  <a:schemeClr val="tx1"/>
                </a:solidFill>
                <a:latin typeface="+mn-lt"/>
                <a:ea typeface="+mn-ea"/>
                <a:cs typeface="+mn-cs"/>
              </a:defRPr>
            </a:lvl1pPr>
            <a:lvl2pPr marL="411480" indent="-182880" algn="l" defTabSz="914400" rtl="0" eaLnBrk="1" latinLnBrk="0" hangingPunct="1">
              <a:lnSpc>
                <a:spcPct val="90000"/>
              </a:lnSpc>
              <a:spcBef>
                <a:spcPts val="200"/>
              </a:spcBef>
              <a:spcAft>
                <a:spcPts val="400"/>
              </a:spcAft>
              <a:buClr>
                <a:schemeClr val="tx1"/>
              </a:buClr>
              <a:buFont typeface="Wingdings" pitchFamily="2" charset="2"/>
              <a:buChar char=""/>
              <a:defRPr sz="2000" kern="1200">
                <a:solidFill>
                  <a:schemeClr val="tx1"/>
                </a:solidFill>
                <a:latin typeface="+mn-lt"/>
                <a:ea typeface="+mn-ea"/>
                <a:cs typeface="+mn-cs"/>
              </a:defRPr>
            </a:lvl2pPr>
            <a:lvl3pPr marL="640080" indent="-182880" algn="l" defTabSz="914400" rtl="0" eaLnBrk="1" latinLnBrk="0" hangingPunct="1">
              <a:lnSpc>
                <a:spcPct val="90000"/>
              </a:lnSpc>
              <a:spcBef>
                <a:spcPts val="200"/>
              </a:spcBef>
              <a:spcAft>
                <a:spcPts val="400"/>
              </a:spcAft>
              <a:buClr>
                <a:schemeClr val="tx1"/>
              </a:buClr>
              <a:buFont typeface="Wingdings" pitchFamily="2" charset="2"/>
              <a:buChar char=""/>
              <a:defRPr sz="1800" kern="1200">
                <a:solidFill>
                  <a:schemeClr val="tx1"/>
                </a:solidFill>
                <a:latin typeface="+mn-lt"/>
                <a:ea typeface="+mn-ea"/>
                <a:cs typeface="+mn-cs"/>
              </a:defRPr>
            </a:lvl3pPr>
            <a:lvl4pPr marL="8686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4pPr>
            <a:lvl5pPr marL="10972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5pPr>
            <a:lvl6pPr marL="12846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6pPr>
            <a:lvl7pPr marL="14718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7pPr>
            <a:lvl8pPr marL="16290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8pPr>
            <a:lvl9pPr marL="18062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9pPr>
          </a:lstStyle>
          <a:p>
            <a:pPr marL="0" indent="0">
              <a:buFont typeface="Wingdings" pitchFamily="2" charset="2"/>
              <a:buNone/>
            </a:pPr>
            <a:r>
              <a:rPr lang="en-US" dirty="0">
                <a:solidFill>
                  <a:srgbClr val="023047"/>
                </a:solidFill>
                <a:highlight>
                  <a:srgbClr val="00FF00"/>
                </a:highlight>
              </a:rPr>
              <a:t>Project Manager</a:t>
            </a:r>
          </a:p>
          <a:p>
            <a:pPr>
              <a:buClr>
                <a:schemeClr val="bg1"/>
              </a:buClr>
              <a:buFont typeface="Wingdings" panose="05000000000000000000" pitchFamily="2" charset="2"/>
              <a:buChar char="§"/>
            </a:pPr>
            <a:r>
              <a:rPr lang="en-US" sz="1800" dirty="0">
                <a:solidFill>
                  <a:srgbClr val="023047"/>
                </a:solidFill>
              </a:rPr>
              <a:t>Knows about digital certificates and encryption keys.</a:t>
            </a:r>
          </a:p>
          <a:p>
            <a:pPr>
              <a:buClr>
                <a:schemeClr val="bg1"/>
              </a:buClr>
              <a:buFont typeface="Wingdings" panose="05000000000000000000" pitchFamily="2" charset="2"/>
              <a:buChar char="§"/>
            </a:pPr>
            <a:r>
              <a:rPr lang="en-US" sz="1800" dirty="0">
                <a:solidFill>
                  <a:srgbClr val="023047"/>
                </a:solidFill>
              </a:rPr>
              <a:t>Wants to quickly create or sign certificates in bulk quantities.</a:t>
            </a:r>
          </a:p>
          <a:p>
            <a:pPr>
              <a:buClr>
                <a:schemeClr val="bg1"/>
              </a:buClr>
              <a:buFont typeface="Wingdings" panose="05000000000000000000" pitchFamily="2" charset="2"/>
              <a:buChar char="§"/>
            </a:pPr>
            <a:r>
              <a:rPr lang="en-US" sz="1800" dirty="0">
                <a:solidFill>
                  <a:srgbClr val="023047"/>
                </a:solidFill>
              </a:rPr>
              <a:t>Knows shell scripting.</a:t>
            </a:r>
          </a:p>
          <a:p>
            <a:pPr>
              <a:buClr>
                <a:schemeClr val="bg1"/>
              </a:buClr>
              <a:buFont typeface="Wingdings" panose="05000000000000000000" pitchFamily="2" charset="2"/>
              <a:buChar char="§"/>
            </a:pPr>
            <a:r>
              <a:rPr lang="en-US" sz="1800" dirty="0">
                <a:solidFill>
                  <a:srgbClr val="023047"/>
                </a:solidFill>
              </a:rPr>
              <a:t>Needs some customizability.</a:t>
            </a:r>
          </a:p>
          <a:p>
            <a:pPr marL="0" indent="0">
              <a:buClr>
                <a:schemeClr val="bg1"/>
              </a:buClr>
              <a:buNone/>
            </a:pPr>
            <a:r>
              <a:rPr lang="en-US" sz="1800" dirty="0">
                <a:solidFill>
                  <a:srgbClr val="023047"/>
                </a:solidFill>
              </a:rPr>
              <a:t>…..</a:t>
            </a:r>
          </a:p>
          <a:p>
            <a:pPr marL="0" indent="0">
              <a:buFont typeface="Wingdings" pitchFamily="2" charset="2"/>
              <a:buNone/>
            </a:pPr>
            <a:endParaRPr lang="en-IN" dirty="0">
              <a:solidFill>
                <a:srgbClr val="023047"/>
              </a:solidFill>
              <a:highlight>
                <a:srgbClr val="00FF00"/>
              </a:highlight>
            </a:endParaRPr>
          </a:p>
        </p:txBody>
      </p:sp>
      <p:sp>
        <p:nvSpPr>
          <p:cNvPr id="17" name="Content Placeholder 5">
            <a:extLst>
              <a:ext uri="{FF2B5EF4-FFF2-40B4-BE49-F238E27FC236}">
                <a16:creationId xmlns:a16="http://schemas.microsoft.com/office/drawing/2014/main" id="{48D8C20E-4076-B970-BB7F-88F0D730D632}"/>
              </a:ext>
            </a:extLst>
          </p:cNvPr>
          <p:cNvSpPr txBox="1">
            <a:spLocks/>
          </p:cNvSpPr>
          <p:nvPr/>
        </p:nvSpPr>
        <p:spPr>
          <a:xfrm>
            <a:off x="1348486" y="1792936"/>
            <a:ext cx="3051065" cy="4206240"/>
          </a:xfrm>
          <a:prstGeom prst="rect">
            <a:avLst/>
          </a:prstGeom>
          <a:ln>
            <a:solidFill>
              <a:srgbClr val="023047"/>
            </a:solidFill>
          </a:ln>
        </p:spPr>
        <p:txBody>
          <a:bodyPr vert="horz" lIns="91440" tIns="45720" rIns="91440" bIns="45720" rtlCol="0">
            <a:normAutofit/>
          </a:bodyPr>
          <a:lstStyle>
            <a:lvl1pPr marL="182880" indent="-182880" algn="l" defTabSz="914400" rtl="0" eaLnBrk="1" latinLnBrk="0" hangingPunct="1">
              <a:lnSpc>
                <a:spcPct val="90000"/>
              </a:lnSpc>
              <a:spcBef>
                <a:spcPts val="1200"/>
              </a:spcBef>
              <a:spcAft>
                <a:spcPts val="200"/>
              </a:spcAft>
              <a:buClr>
                <a:schemeClr val="tx1"/>
              </a:buClr>
              <a:buFont typeface="Wingdings" pitchFamily="2" charset="2"/>
              <a:buChar char=""/>
              <a:defRPr sz="2200" kern="1200">
                <a:solidFill>
                  <a:schemeClr val="tx1"/>
                </a:solidFill>
                <a:latin typeface="+mn-lt"/>
                <a:ea typeface="+mn-ea"/>
                <a:cs typeface="+mn-cs"/>
              </a:defRPr>
            </a:lvl1pPr>
            <a:lvl2pPr marL="411480" indent="-182880" algn="l" defTabSz="914400" rtl="0" eaLnBrk="1" latinLnBrk="0" hangingPunct="1">
              <a:lnSpc>
                <a:spcPct val="90000"/>
              </a:lnSpc>
              <a:spcBef>
                <a:spcPts val="200"/>
              </a:spcBef>
              <a:spcAft>
                <a:spcPts val="400"/>
              </a:spcAft>
              <a:buClr>
                <a:schemeClr val="tx1"/>
              </a:buClr>
              <a:buFont typeface="Wingdings" pitchFamily="2" charset="2"/>
              <a:buChar char=""/>
              <a:defRPr sz="2000" kern="1200">
                <a:solidFill>
                  <a:schemeClr val="tx1"/>
                </a:solidFill>
                <a:latin typeface="+mn-lt"/>
                <a:ea typeface="+mn-ea"/>
                <a:cs typeface="+mn-cs"/>
              </a:defRPr>
            </a:lvl2pPr>
            <a:lvl3pPr marL="640080" indent="-182880" algn="l" defTabSz="914400" rtl="0" eaLnBrk="1" latinLnBrk="0" hangingPunct="1">
              <a:lnSpc>
                <a:spcPct val="90000"/>
              </a:lnSpc>
              <a:spcBef>
                <a:spcPts val="200"/>
              </a:spcBef>
              <a:spcAft>
                <a:spcPts val="400"/>
              </a:spcAft>
              <a:buClr>
                <a:schemeClr val="tx1"/>
              </a:buClr>
              <a:buFont typeface="Wingdings" pitchFamily="2" charset="2"/>
              <a:buChar char=""/>
              <a:defRPr sz="1800" kern="1200">
                <a:solidFill>
                  <a:schemeClr val="tx1"/>
                </a:solidFill>
                <a:latin typeface="+mn-lt"/>
                <a:ea typeface="+mn-ea"/>
                <a:cs typeface="+mn-cs"/>
              </a:defRPr>
            </a:lvl3pPr>
            <a:lvl4pPr marL="8686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4pPr>
            <a:lvl5pPr marL="10972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5pPr>
            <a:lvl6pPr marL="12846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6pPr>
            <a:lvl7pPr marL="14718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7pPr>
            <a:lvl8pPr marL="16290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8pPr>
            <a:lvl9pPr marL="18062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9pPr>
          </a:lstStyle>
          <a:p>
            <a:pPr marL="0" indent="0">
              <a:buFont typeface="Wingdings" pitchFamily="2" charset="2"/>
              <a:buNone/>
            </a:pPr>
            <a:r>
              <a:rPr lang="en-US" dirty="0">
                <a:solidFill>
                  <a:srgbClr val="023047"/>
                </a:solidFill>
                <a:highlight>
                  <a:srgbClr val="FFFF00"/>
                </a:highlight>
              </a:rPr>
              <a:t>Senior Executive</a:t>
            </a:r>
          </a:p>
          <a:p>
            <a:pPr>
              <a:buClr>
                <a:schemeClr val="bg1"/>
              </a:buClr>
              <a:buFont typeface="Wingdings" panose="05000000000000000000" pitchFamily="2" charset="2"/>
              <a:buChar char="§"/>
            </a:pPr>
            <a:r>
              <a:rPr lang="en-US" sz="1800" dirty="0">
                <a:solidFill>
                  <a:srgbClr val="023047"/>
                </a:solidFill>
              </a:rPr>
              <a:t>Knows absolute basics of what a Digital Certificate is.</a:t>
            </a:r>
          </a:p>
          <a:p>
            <a:pPr>
              <a:buClr>
                <a:schemeClr val="bg1"/>
              </a:buClr>
              <a:buFont typeface="Wingdings" panose="05000000000000000000" pitchFamily="2" charset="2"/>
              <a:buChar char="§"/>
            </a:pPr>
            <a:r>
              <a:rPr lang="en-US" sz="1800" dirty="0">
                <a:solidFill>
                  <a:srgbClr val="023047"/>
                </a:solidFill>
              </a:rPr>
              <a:t>Wants an easy &amp; quick way to create &amp; sign certificates.</a:t>
            </a:r>
          </a:p>
          <a:p>
            <a:pPr>
              <a:buClr>
                <a:schemeClr val="bg1"/>
              </a:buClr>
              <a:buFont typeface="Wingdings" panose="05000000000000000000" pitchFamily="2" charset="2"/>
              <a:buChar char="§"/>
            </a:pPr>
            <a:r>
              <a:rPr lang="en-US" sz="1800" dirty="0">
                <a:solidFill>
                  <a:srgbClr val="023047"/>
                </a:solidFill>
              </a:rPr>
              <a:t>Doesn’t need many customization options.</a:t>
            </a:r>
          </a:p>
          <a:p>
            <a:pPr>
              <a:buClr>
                <a:schemeClr val="bg1"/>
              </a:buClr>
              <a:buFont typeface="Wingdings" panose="05000000000000000000" pitchFamily="2" charset="2"/>
              <a:buChar char="§"/>
            </a:pPr>
            <a:r>
              <a:rPr lang="en-US" sz="1800" dirty="0">
                <a:solidFill>
                  <a:srgbClr val="023047"/>
                </a:solidFill>
              </a:rPr>
              <a:t>Has never used a Console.</a:t>
            </a:r>
          </a:p>
          <a:p>
            <a:pPr marL="0" indent="0">
              <a:buClr>
                <a:schemeClr val="bg1"/>
              </a:buClr>
              <a:buNone/>
            </a:pPr>
            <a:r>
              <a:rPr lang="en-US" sz="1800" dirty="0">
                <a:solidFill>
                  <a:srgbClr val="023047"/>
                </a:solidFill>
              </a:rPr>
              <a:t>…..</a:t>
            </a:r>
          </a:p>
          <a:p>
            <a:pPr>
              <a:buClr>
                <a:schemeClr val="bg1"/>
              </a:buClr>
              <a:buFont typeface="Wingdings" panose="05000000000000000000" pitchFamily="2" charset="2"/>
              <a:buChar char="§"/>
            </a:pPr>
            <a:endParaRPr lang="en-US" sz="1800" dirty="0">
              <a:solidFill>
                <a:srgbClr val="023047"/>
              </a:solidFill>
            </a:endParaRPr>
          </a:p>
          <a:p>
            <a:pPr>
              <a:buClr>
                <a:schemeClr val="bg1"/>
              </a:buClr>
              <a:buFont typeface="Wingdings" panose="05000000000000000000" pitchFamily="2" charset="2"/>
              <a:buChar char="§"/>
            </a:pPr>
            <a:endParaRPr lang="en-IN" sz="1800" dirty="0">
              <a:solidFill>
                <a:srgbClr val="023047"/>
              </a:solidFill>
            </a:endParaRPr>
          </a:p>
        </p:txBody>
      </p:sp>
    </p:spTree>
    <p:extLst>
      <p:ext uri="{BB962C8B-B14F-4D97-AF65-F5344CB8AC3E}">
        <p14:creationId xmlns:p14="http://schemas.microsoft.com/office/powerpoint/2010/main" val="27021123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F8A85-B563-45E2-967A-8714968EAF51}"/>
              </a:ext>
            </a:extLst>
          </p:cNvPr>
          <p:cNvSpPr>
            <a:spLocks noGrp="1"/>
          </p:cNvSpPr>
          <p:nvPr>
            <p:ph type="title"/>
          </p:nvPr>
        </p:nvSpPr>
        <p:spPr>
          <a:xfrm>
            <a:off x="1203960" y="284176"/>
            <a:ext cx="9784080" cy="1508760"/>
          </a:xfrm>
        </p:spPr>
        <p:txBody>
          <a:bodyPr/>
          <a:lstStyle/>
          <a:p>
            <a:r>
              <a:rPr lang="en-US" cap="none" dirty="0">
                <a:solidFill>
                  <a:srgbClr val="219EBC"/>
                </a:solidFill>
                <a:latin typeface="High Tower Text" panose="02040502050506030303" pitchFamily="18" charset="0"/>
              </a:rPr>
              <a:t>Action Plan</a:t>
            </a:r>
            <a:endParaRPr lang="en-IN" cap="none" dirty="0">
              <a:solidFill>
                <a:srgbClr val="219EBC"/>
              </a:solidFill>
              <a:latin typeface="High Tower Text" panose="02040502050506030303" pitchFamily="18" charset="0"/>
            </a:endParaRPr>
          </a:p>
        </p:txBody>
      </p:sp>
      <p:sp>
        <p:nvSpPr>
          <p:cNvPr id="4" name="Rectangle 3">
            <a:extLst>
              <a:ext uri="{FF2B5EF4-FFF2-40B4-BE49-F238E27FC236}">
                <a16:creationId xmlns:a16="http://schemas.microsoft.com/office/drawing/2014/main" id="{75E0814E-F4C4-4A0F-CD76-6C7497AC8F34}"/>
              </a:ext>
            </a:extLst>
          </p:cNvPr>
          <p:cNvSpPr/>
          <p:nvPr/>
        </p:nvSpPr>
        <p:spPr>
          <a:xfrm>
            <a:off x="0" y="0"/>
            <a:ext cx="806245" cy="6858000"/>
          </a:xfrm>
          <a:prstGeom prst="rect">
            <a:avLst/>
          </a:prstGeom>
          <a:solidFill>
            <a:srgbClr val="219EBC"/>
          </a:solidFill>
          <a:ln>
            <a:solidFill>
              <a:srgbClr val="219E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rgbClr val="219EBC"/>
              </a:solidFill>
            </a:endParaRPr>
          </a:p>
        </p:txBody>
      </p:sp>
      <p:pic>
        <p:nvPicPr>
          <p:cNvPr id="2050" name="Picture 2" descr="Truminds Software Systems | LinkedIn">
            <a:extLst>
              <a:ext uri="{FF2B5EF4-FFF2-40B4-BE49-F238E27FC236}">
                <a16:creationId xmlns:a16="http://schemas.microsoft.com/office/drawing/2014/main" id="{074CEAAD-016E-FE56-B3FF-512C6E5054DE}"/>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28000" b="69500" l="1500" r="97000">
                        <a14:foregroundMark x1="11000" y1="53000" x2="11000" y2="53000"/>
                        <a14:foregroundMark x1="20000" y1="38500" x2="20000" y2="38500"/>
                        <a14:foregroundMark x1="6000" y1="40500" x2="6000" y2="40500"/>
                        <a14:foregroundMark x1="1500" y1="39500" x2="1500" y2="39500"/>
                        <a14:foregroundMark x1="23500" y1="39500" x2="23500" y2="39500"/>
                        <a14:foregroundMark x1="21000" y1="55500" x2="21000" y2="55500"/>
                        <a14:foregroundMark x1="31500" y1="61500" x2="31500" y2="61500"/>
                        <a14:foregroundMark x1="41500" y1="60000" x2="41500" y2="60000"/>
                        <a14:foregroundMark x1="61000" y1="60000" x2="61000" y2="60000"/>
                        <a14:foregroundMark x1="60500" y1="49000" x2="60500" y2="49000"/>
                        <a14:foregroundMark x1="66500" y1="57000" x2="66500" y2="57000"/>
                        <a14:foregroundMark x1="78000" y1="59000" x2="78000" y2="59000"/>
                        <a14:foregroundMark x1="93500" y1="57000" x2="93500" y2="57000"/>
                        <a14:foregroundMark x1="92500" y1="61500" x2="92500" y2="61500"/>
                        <a14:foregroundMark x1="97000" y1="59000" x2="97000" y2="59000"/>
                      </a14:backgroundRemoval>
                    </a14:imgEffect>
                  </a14:imgLayer>
                </a14:imgProps>
              </a:ext>
              <a:ext uri="{28A0092B-C50C-407E-A947-70E740481C1C}">
                <a14:useLocalDpi xmlns:a14="http://schemas.microsoft.com/office/drawing/2010/main" val="0"/>
              </a:ext>
            </a:extLst>
          </a:blip>
          <a:srcRect t="24194" b="24913"/>
          <a:stretch/>
        </p:blipFill>
        <p:spPr bwMode="auto">
          <a:xfrm>
            <a:off x="10890447" y="108178"/>
            <a:ext cx="1197765" cy="609577"/>
          </a:xfrm>
          <a:prstGeom prst="rect">
            <a:avLst/>
          </a:prstGeom>
          <a:noFill/>
          <a:effectLst>
            <a:glow rad="25400">
              <a:srgbClr val="8ECAE6">
                <a:alpha val="31000"/>
              </a:srgbClr>
            </a:glow>
          </a:effectLst>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258F9B21-D403-6D1A-A3CB-FAF4BD39D0D5}"/>
              </a:ext>
            </a:extLst>
          </p:cNvPr>
          <p:cNvSpPr txBox="1"/>
          <p:nvPr/>
        </p:nvSpPr>
        <p:spPr>
          <a:xfrm>
            <a:off x="1203960" y="1478107"/>
            <a:ext cx="4768645" cy="369332"/>
          </a:xfrm>
          <a:prstGeom prst="rect">
            <a:avLst/>
          </a:prstGeom>
          <a:noFill/>
        </p:spPr>
        <p:txBody>
          <a:bodyPr wrap="square" rtlCol="0">
            <a:spAutoFit/>
          </a:bodyPr>
          <a:lstStyle/>
          <a:p>
            <a:r>
              <a:rPr lang="en-US" dirty="0">
                <a:solidFill>
                  <a:srgbClr val="023047"/>
                </a:solidFill>
              </a:rPr>
              <a:t>Agile Methodology</a:t>
            </a:r>
            <a:endParaRPr lang="en-IN" dirty="0">
              <a:solidFill>
                <a:srgbClr val="023047"/>
              </a:solidFill>
            </a:endParaRPr>
          </a:p>
        </p:txBody>
      </p:sp>
      <p:pic>
        <p:nvPicPr>
          <p:cNvPr id="3076" name="Picture 4" descr="Olufemi Sonuga | Agile Coach/ScrumMaster - freelancer on Worksome | Worksome">
            <a:extLst>
              <a:ext uri="{FF2B5EF4-FFF2-40B4-BE49-F238E27FC236}">
                <a16:creationId xmlns:a16="http://schemas.microsoft.com/office/drawing/2014/main" id="{FF38D61F-8414-ED2C-B436-35B3CA7C7CA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1084" y="1968934"/>
            <a:ext cx="8584771" cy="39992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08737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F8A85-B563-45E2-967A-8714968EAF51}"/>
              </a:ext>
            </a:extLst>
          </p:cNvPr>
          <p:cNvSpPr>
            <a:spLocks noGrp="1"/>
          </p:cNvSpPr>
          <p:nvPr>
            <p:ph type="title"/>
          </p:nvPr>
        </p:nvSpPr>
        <p:spPr>
          <a:xfrm>
            <a:off x="1203960" y="284176"/>
            <a:ext cx="9784080" cy="1508760"/>
          </a:xfrm>
        </p:spPr>
        <p:txBody>
          <a:bodyPr/>
          <a:lstStyle/>
          <a:p>
            <a:r>
              <a:rPr lang="en-US" cap="none" dirty="0">
                <a:solidFill>
                  <a:schemeClr val="accent4"/>
                </a:solidFill>
                <a:latin typeface="High Tower Text" panose="02040502050506030303" pitchFamily="18" charset="0"/>
              </a:rPr>
              <a:t>Action Plan</a:t>
            </a:r>
            <a:endParaRPr lang="en-IN" cap="none" dirty="0">
              <a:solidFill>
                <a:schemeClr val="accent4"/>
              </a:solidFill>
              <a:latin typeface="High Tower Text" panose="02040502050506030303" pitchFamily="18" charset="0"/>
            </a:endParaRPr>
          </a:p>
        </p:txBody>
      </p:sp>
      <p:sp>
        <p:nvSpPr>
          <p:cNvPr id="4" name="Rectangle 3">
            <a:extLst>
              <a:ext uri="{FF2B5EF4-FFF2-40B4-BE49-F238E27FC236}">
                <a16:creationId xmlns:a16="http://schemas.microsoft.com/office/drawing/2014/main" id="{75E0814E-F4C4-4A0F-CD76-6C7497AC8F34}"/>
              </a:ext>
            </a:extLst>
          </p:cNvPr>
          <p:cNvSpPr/>
          <p:nvPr/>
        </p:nvSpPr>
        <p:spPr>
          <a:xfrm>
            <a:off x="0" y="0"/>
            <a:ext cx="806245" cy="6858000"/>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rgbClr val="219EBC"/>
              </a:solidFill>
            </a:endParaRPr>
          </a:p>
        </p:txBody>
      </p:sp>
      <p:pic>
        <p:nvPicPr>
          <p:cNvPr id="2050" name="Picture 2" descr="Truminds Software Systems | LinkedIn">
            <a:extLst>
              <a:ext uri="{FF2B5EF4-FFF2-40B4-BE49-F238E27FC236}">
                <a16:creationId xmlns:a16="http://schemas.microsoft.com/office/drawing/2014/main" id="{074CEAAD-016E-FE56-B3FF-512C6E5054DE}"/>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28000" b="69500" l="1500" r="97000">
                        <a14:foregroundMark x1="11000" y1="53000" x2="11000" y2="53000"/>
                        <a14:foregroundMark x1="20000" y1="38500" x2="20000" y2="38500"/>
                        <a14:foregroundMark x1="6000" y1="40500" x2="6000" y2="40500"/>
                        <a14:foregroundMark x1="1500" y1="39500" x2="1500" y2="39500"/>
                        <a14:foregroundMark x1="23500" y1="39500" x2="23500" y2="39500"/>
                        <a14:foregroundMark x1="21000" y1="55500" x2="21000" y2="55500"/>
                        <a14:foregroundMark x1="31500" y1="61500" x2="31500" y2="61500"/>
                        <a14:foregroundMark x1="41500" y1="60000" x2="41500" y2="60000"/>
                        <a14:foregroundMark x1="61000" y1="60000" x2="61000" y2="60000"/>
                        <a14:foregroundMark x1="60500" y1="49000" x2="60500" y2="49000"/>
                        <a14:foregroundMark x1="66500" y1="57000" x2="66500" y2="57000"/>
                        <a14:foregroundMark x1="78000" y1="59000" x2="78000" y2="59000"/>
                        <a14:foregroundMark x1="93500" y1="57000" x2="93500" y2="57000"/>
                        <a14:foregroundMark x1="92500" y1="61500" x2="92500" y2="61500"/>
                        <a14:foregroundMark x1="97000" y1="59000" x2="97000" y2="59000"/>
                      </a14:backgroundRemoval>
                    </a14:imgEffect>
                  </a14:imgLayer>
                </a14:imgProps>
              </a:ext>
              <a:ext uri="{28A0092B-C50C-407E-A947-70E740481C1C}">
                <a14:useLocalDpi xmlns:a14="http://schemas.microsoft.com/office/drawing/2010/main" val="0"/>
              </a:ext>
            </a:extLst>
          </a:blip>
          <a:srcRect t="24194" b="24913"/>
          <a:stretch/>
        </p:blipFill>
        <p:spPr bwMode="auto">
          <a:xfrm>
            <a:off x="10890447" y="108178"/>
            <a:ext cx="1197765" cy="609577"/>
          </a:xfrm>
          <a:prstGeom prst="rect">
            <a:avLst/>
          </a:prstGeom>
          <a:noFill/>
          <a:effectLst>
            <a:glow rad="25400">
              <a:srgbClr val="8ECAE6">
                <a:alpha val="31000"/>
              </a:srgbClr>
            </a:glow>
          </a:effectLst>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4B54117D-0291-D35C-3549-8185812BE399}"/>
              </a:ext>
            </a:extLst>
          </p:cNvPr>
          <p:cNvPicPr>
            <a:picLocks noChangeAspect="1"/>
          </p:cNvPicPr>
          <p:nvPr/>
        </p:nvPicPr>
        <p:blipFill>
          <a:blip r:embed="rId5"/>
          <a:stretch>
            <a:fillRect/>
          </a:stretch>
        </p:blipFill>
        <p:spPr>
          <a:xfrm>
            <a:off x="1966336" y="2271275"/>
            <a:ext cx="8259328" cy="4067743"/>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14" name="TextBox 13">
            <a:extLst>
              <a:ext uri="{FF2B5EF4-FFF2-40B4-BE49-F238E27FC236}">
                <a16:creationId xmlns:a16="http://schemas.microsoft.com/office/drawing/2014/main" id="{258F9B21-D403-6D1A-A3CB-FAF4BD39D0D5}"/>
              </a:ext>
            </a:extLst>
          </p:cNvPr>
          <p:cNvSpPr txBox="1"/>
          <p:nvPr/>
        </p:nvSpPr>
        <p:spPr>
          <a:xfrm>
            <a:off x="1203960" y="1478107"/>
            <a:ext cx="4768645" cy="369332"/>
          </a:xfrm>
          <a:prstGeom prst="rect">
            <a:avLst/>
          </a:prstGeom>
          <a:noFill/>
        </p:spPr>
        <p:txBody>
          <a:bodyPr wrap="square" rtlCol="0">
            <a:spAutoFit/>
          </a:bodyPr>
          <a:lstStyle/>
          <a:p>
            <a:r>
              <a:rPr lang="en-US" dirty="0">
                <a:solidFill>
                  <a:srgbClr val="023047"/>
                </a:solidFill>
              </a:rPr>
              <a:t>Kanban Tracking</a:t>
            </a:r>
            <a:endParaRPr lang="en-IN" dirty="0">
              <a:solidFill>
                <a:srgbClr val="023047"/>
              </a:solidFill>
            </a:endParaRPr>
          </a:p>
        </p:txBody>
      </p:sp>
    </p:spTree>
    <p:extLst>
      <p:ext uri="{BB962C8B-B14F-4D97-AF65-F5344CB8AC3E}">
        <p14:creationId xmlns:p14="http://schemas.microsoft.com/office/powerpoint/2010/main" val="31767204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F8A85-B563-45E2-967A-8714968EAF51}"/>
              </a:ext>
            </a:extLst>
          </p:cNvPr>
          <p:cNvSpPr>
            <a:spLocks noGrp="1"/>
          </p:cNvSpPr>
          <p:nvPr>
            <p:ph type="title"/>
          </p:nvPr>
        </p:nvSpPr>
        <p:spPr>
          <a:xfrm>
            <a:off x="1203960" y="284176"/>
            <a:ext cx="9784080" cy="1508760"/>
          </a:xfrm>
        </p:spPr>
        <p:txBody>
          <a:bodyPr/>
          <a:lstStyle/>
          <a:p>
            <a:r>
              <a:rPr lang="en-US" cap="none" dirty="0">
                <a:solidFill>
                  <a:srgbClr val="FB8500"/>
                </a:solidFill>
                <a:latin typeface="High Tower Text" panose="02040502050506030303" pitchFamily="18" charset="0"/>
              </a:rPr>
              <a:t>Architecture</a:t>
            </a:r>
            <a:endParaRPr lang="en-IN" cap="none" dirty="0">
              <a:solidFill>
                <a:srgbClr val="FB8500"/>
              </a:solidFill>
              <a:latin typeface="High Tower Text" panose="02040502050506030303" pitchFamily="18" charset="0"/>
            </a:endParaRPr>
          </a:p>
        </p:txBody>
      </p:sp>
      <p:sp>
        <p:nvSpPr>
          <p:cNvPr id="4" name="Rectangle 3">
            <a:extLst>
              <a:ext uri="{FF2B5EF4-FFF2-40B4-BE49-F238E27FC236}">
                <a16:creationId xmlns:a16="http://schemas.microsoft.com/office/drawing/2014/main" id="{75E0814E-F4C4-4A0F-CD76-6C7497AC8F34}"/>
              </a:ext>
            </a:extLst>
          </p:cNvPr>
          <p:cNvSpPr/>
          <p:nvPr/>
        </p:nvSpPr>
        <p:spPr>
          <a:xfrm>
            <a:off x="0" y="0"/>
            <a:ext cx="806245" cy="6858000"/>
          </a:xfrm>
          <a:prstGeom prst="rect">
            <a:avLst/>
          </a:prstGeom>
          <a:solidFill>
            <a:srgbClr val="FB8500"/>
          </a:solidFill>
          <a:ln>
            <a:solidFill>
              <a:srgbClr val="FB85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rgbClr val="219EBC"/>
              </a:solidFill>
            </a:endParaRPr>
          </a:p>
        </p:txBody>
      </p:sp>
      <p:pic>
        <p:nvPicPr>
          <p:cNvPr id="2050" name="Picture 2" descr="Truminds Software Systems | LinkedIn">
            <a:extLst>
              <a:ext uri="{FF2B5EF4-FFF2-40B4-BE49-F238E27FC236}">
                <a16:creationId xmlns:a16="http://schemas.microsoft.com/office/drawing/2014/main" id="{074CEAAD-016E-FE56-B3FF-512C6E5054DE}"/>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28000" b="69500" l="1500" r="97000">
                        <a14:foregroundMark x1="11000" y1="53000" x2="11000" y2="53000"/>
                        <a14:foregroundMark x1="20000" y1="38500" x2="20000" y2="38500"/>
                        <a14:foregroundMark x1="6000" y1="40500" x2="6000" y2="40500"/>
                        <a14:foregroundMark x1="1500" y1="39500" x2="1500" y2="39500"/>
                        <a14:foregroundMark x1="23500" y1="39500" x2="23500" y2="39500"/>
                        <a14:foregroundMark x1="21000" y1="55500" x2="21000" y2="55500"/>
                        <a14:foregroundMark x1="31500" y1="61500" x2="31500" y2="61500"/>
                        <a14:foregroundMark x1="41500" y1="60000" x2="41500" y2="60000"/>
                        <a14:foregroundMark x1="61000" y1="60000" x2="61000" y2="60000"/>
                        <a14:foregroundMark x1="60500" y1="49000" x2="60500" y2="49000"/>
                        <a14:foregroundMark x1="66500" y1="57000" x2="66500" y2="57000"/>
                        <a14:foregroundMark x1="78000" y1="59000" x2="78000" y2="59000"/>
                        <a14:foregroundMark x1="93500" y1="57000" x2="93500" y2="57000"/>
                        <a14:foregroundMark x1="92500" y1="61500" x2="92500" y2="61500"/>
                        <a14:foregroundMark x1="97000" y1="59000" x2="97000" y2="59000"/>
                      </a14:backgroundRemoval>
                    </a14:imgEffect>
                  </a14:imgLayer>
                </a14:imgProps>
              </a:ext>
              <a:ext uri="{28A0092B-C50C-407E-A947-70E740481C1C}">
                <a14:useLocalDpi xmlns:a14="http://schemas.microsoft.com/office/drawing/2010/main" val="0"/>
              </a:ext>
            </a:extLst>
          </a:blip>
          <a:srcRect t="24194" b="24913"/>
          <a:stretch/>
        </p:blipFill>
        <p:spPr bwMode="auto">
          <a:xfrm>
            <a:off x="10890447" y="108178"/>
            <a:ext cx="1197765" cy="609577"/>
          </a:xfrm>
          <a:prstGeom prst="rect">
            <a:avLst/>
          </a:prstGeom>
          <a:noFill/>
          <a:effectLst>
            <a:glow rad="25400">
              <a:srgbClr val="8ECAE6">
                <a:alpha val="31000"/>
              </a:srgbClr>
            </a:glow>
          </a:effectLst>
          <a:extLst>
            <a:ext uri="{909E8E84-426E-40DD-AFC4-6F175D3DCCD1}">
              <a14:hiddenFill xmlns:a14="http://schemas.microsoft.com/office/drawing/2010/main">
                <a:solidFill>
                  <a:srgbClr val="FFFFFF"/>
                </a:solidFill>
              </a14:hiddenFill>
            </a:ext>
          </a:extLst>
        </p:spPr>
      </p:pic>
      <p:sp>
        <p:nvSpPr>
          <p:cNvPr id="31" name="Rectangle 30">
            <a:extLst>
              <a:ext uri="{FF2B5EF4-FFF2-40B4-BE49-F238E27FC236}">
                <a16:creationId xmlns:a16="http://schemas.microsoft.com/office/drawing/2014/main" id="{7FBCD20F-38E6-D03B-B865-0E346337A628}"/>
              </a:ext>
            </a:extLst>
          </p:cNvPr>
          <p:cNvSpPr/>
          <p:nvPr/>
        </p:nvSpPr>
        <p:spPr bwMode="auto">
          <a:xfrm>
            <a:off x="3771797" y="1669779"/>
            <a:ext cx="5472608" cy="3588852"/>
          </a:xfrm>
          <a:prstGeom prst="rect">
            <a:avLst/>
          </a:prstGeom>
          <a:noFill/>
          <a:ln w="28575" cap="flat" cmpd="sng" algn="ctr">
            <a:solidFill>
              <a:sysClr val="windowText" lastClr="000000"/>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alibri"/>
              <a:cs typeface="Arial"/>
            </a:endParaRPr>
          </a:p>
        </p:txBody>
      </p:sp>
      <p:sp>
        <p:nvSpPr>
          <p:cNvPr id="32" name="Rectangle 31">
            <a:extLst>
              <a:ext uri="{FF2B5EF4-FFF2-40B4-BE49-F238E27FC236}">
                <a16:creationId xmlns:a16="http://schemas.microsoft.com/office/drawing/2014/main" id="{C4A820CD-BA52-EA2B-DE04-C387DE9077F8}"/>
              </a:ext>
            </a:extLst>
          </p:cNvPr>
          <p:cNvSpPr/>
          <p:nvPr/>
        </p:nvSpPr>
        <p:spPr bwMode="auto">
          <a:xfrm>
            <a:off x="3961791" y="3032155"/>
            <a:ext cx="1584176" cy="864097"/>
          </a:xfrm>
          <a:prstGeom prst="rect">
            <a:avLst/>
          </a:prstGeom>
          <a:solidFill>
            <a:srgbClr val="FFC000">
              <a:lumMod val="60000"/>
              <a:lumOff val="4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lumMod val="65000"/>
                    <a:lumOff val="35000"/>
                  </a:prstClr>
                </a:solidFill>
                <a:effectLst/>
                <a:uLnTx/>
                <a:uFillTx/>
                <a:latin typeface="Segoe UI Variable Static Text" pitchFamily="2" charset="0"/>
                <a:cs typeface="Arial"/>
              </a:rPr>
              <a:t>Core</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lumMod val="65000"/>
                    <a:lumOff val="35000"/>
                  </a:prstClr>
                </a:solidFill>
                <a:effectLst/>
                <a:uLnTx/>
                <a:uFillTx/>
                <a:latin typeface="Segoe UI Variable Static Text" pitchFamily="2" charset="0"/>
                <a:cs typeface="Arial"/>
              </a:rPr>
              <a:t>Load, Create &amp; Sign Certificates</a:t>
            </a:r>
            <a:endParaRPr kumimoji="0" lang="en-IN" sz="2000" b="0" i="0" u="none" strike="noStrike" kern="0" cap="none" spc="0" normalizeH="0" baseline="0" noProof="0" dirty="0">
              <a:ln>
                <a:noFill/>
              </a:ln>
              <a:solidFill>
                <a:prstClr val="black">
                  <a:lumMod val="65000"/>
                  <a:lumOff val="35000"/>
                </a:prstClr>
              </a:solidFill>
              <a:effectLst/>
              <a:uLnTx/>
              <a:uFillTx/>
              <a:latin typeface="Segoe UI Variable Static Text" pitchFamily="2" charset="0"/>
              <a:cs typeface="Arial"/>
            </a:endParaRPr>
          </a:p>
        </p:txBody>
      </p:sp>
      <p:sp>
        <p:nvSpPr>
          <p:cNvPr id="33" name="Rectangle 32">
            <a:extLst>
              <a:ext uri="{FF2B5EF4-FFF2-40B4-BE49-F238E27FC236}">
                <a16:creationId xmlns:a16="http://schemas.microsoft.com/office/drawing/2014/main" id="{E7E3F183-128A-732A-32C3-B6D2E7F03248}"/>
              </a:ext>
            </a:extLst>
          </p:cNvPr>
          <p:cNvSpPr/>
          <p:nvPr/>
        </p:nvSpPr>
        <p:spPr bwMode="auto">
          <a:xfrm>
            <a:off x="1847528" y="2801422"/>
            <a:ext cx="1584176" cy="1325563"/>
          </a:xfrm>
          <a:prstGeom prst="rect">
            <a:avLst/>
          </a:prstGeom>
          <a:solidFill>
            <a:sysClr val="window" lastClr="FFFFFF">
              <a:lumMod val="50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Variable Static Text" pitchFamily="2" charset="0"/>
                <a:cs typeface="Arial"/>
              </a:rPr>
              <a:t>Encryption Library</a:t>
            </a:r>
            <a:endParaRPr kumimoji="0" lang="en-IN" sz="1800" b="0" i="0" u="none" strike="noStrike" kern="0" cap="none" spc="0" normalizeH="0" baseline="0" noProof="0" dirty="0">
              <a:ln>
                <a:noFill/>
              </a:ln>
              <a:solidFill>
                <a:prstClr val="white"/>
              </a:solidFill>
              <a:effectLst/>
              <a:uLnTx/>
              <a:uFillTx/>
              <a:latin typeface="Segoe UI Variable Static Text" pitchFamily="2" charset="0"/>
              <a:cs typeface="Arial"/>
            </a:endParaRPr>
          </a:p>
        </p:txBody>
      </p:sp>
      <p:sp>
        <p:nvSpPr>
          <p:cNvPr id="34" name="Rectangle 33">
            <a:extLst>
              <a:ext uri="{FF2B5EF4-FFF2-40B4-BE49-F238E27FC236}">
                <a16:creationId xmlns:a16="http://schemas.microsoft.com/office/drawing/2014/main" id="{1A077143-CB4F-9656-F6D3-B69ECFAB41C7}"/>
              </a:ext>
            </a:extLst>
          </p:cNvPr>
          <p:cNvSpPr/>
          <p:nvPr/>
        </p:nvSpPr>
        <p:spPr bwMode="auto">
          <a:xfrm>
            <a:off x="7320136" y="1776509"/>
            <a:ext cx="1584176" cy="749498"/>
          </a:xfrm>
          <a:prstGeom prst="rect">
            <a:avLst/>
          </a:prstGeom>
          <a:solidFill>
            <a:srgbClr val="FFC000">
              <a:lumMod val="60000"/>
              <a:lumOff val="4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lumMod val="65000"/>
                    <a:lumOff val="35000"/>
                  </a:prstClr>
                </a:solidFill>
                <a:effectLst/>
                <a:uLnTx/>
                <a:uFillTx/>
                <a:latin typeface="Segoe UI Variable Static Text" pitchFamily="2" charset="0"/>
                <a:cs typeface="Arial"/>
              </a:rPr>
              <a:t>CLI</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lumMod val="65000"/>
                    <a:lumOff val="35000"/>
                  </a:prstClr>
                </a:solidFill>
                <a:effectLst/>
                <a:uLnTx/>
                <a:uFillTx/>
                <a:latin typeface="Segoe UI Variable Static Text" pitchFamily="2" charset="0"/>
                <a:cs typeface="Arial"/>
              </a:rPr>
              <a:t>Command Line Interface</a:t>
            </a:r>
            <a:endParaRPr kumimoji="0" lang="en-IN" sz="2000" b="0" i="0" u="none" strike="noStrike" kern="0" cap="none" spc="0" normalizeH="0" baseline="0" noProof="0" dirty="0">
              <a:ln>
                <a:noFill/>
              </a:ln>
              <a:solidFill>
                <a:prstClr val="black">
                  <a:lumMod val="65000"/>
                  <a:lumOff val="35000"/>
                </a:prstClr>
              </a:solidFill>
              <a:effectLst/>
              <a:uLnTx/>
              <a:uFillTx/>
              <a:latin typeface="Segoe UI Variable Static Text" pitchFamily="2" charset="0"/>
              <a:cs typeface="Arial"/>
            </a:endParaRPr>
          </a:p>
        </p:txBody>
      </p:sp>
      <p:sp>
        <p:nvSpPr>
          <p:cNvPr id="35" name="Rectangle 34">
            <a:extLst>
              <a:ext uri="{FF2B5EF4-FFF2-40B4-BE49-F238E27FC236}">
                <a16:creationId xmlns:a16="http://schemas.microsoft.com/office/drawing/2014/main" id="{D3DA4869-6462-2D29-D101-A97747D2901A}"/>
              </a:ext>
            </a:extLst>
          </p:cNvPr>
          <p:cNvSpPr/>
          <p:nvPr/>
        </p:nvSpPr>
        <p:spPr bwMode="auto">
          <a:xfrm>
            <a:off x="3972879" y="4353566"/>
            <a:ext cx="1584176" cy="749501"/>
          </a:xfrm>
          <a:prstGeom prst="rect">
            <a:avLst/>
          </a:prstGeom>
          <a:solidFill>
            <a:srgbClr val="FFC000">
              <a:lumMod val="60000"/>
              <a:lumOff val="4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lumMod val="65000"/>
                    <a:lumOff val="35000"/>
                  </a:prstClr>
                </a:solidFill>
                <a:effectLst/>
                <a:uLnTx/>
                <a:uFillTx/>
                <a:latin typeface="Segoe UI Variable Static Text" pitchFamily="2" charset="0"/>
                <a:cs typeface="Arial"/>
              </a:rPr>
              <a:t>Logger</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lumMod val="65000"/>
                    <a:lumOff val="35000"/>
                  </a:prstClr>
                </a:solidFill>
                <a:effectLst/>
                <a:uLnTx/>
                <a:uFillTx/>
                <a:latin typeface="Segoe UI Variable Static Text" pitchFamily="2" charset="0"/>
                <a:cs typeface="Arial"/>
              </a:rPr>
              <a:t>Log important events</a:t>
            </a:r>
            <a:endParaRPr kumimoji="0" lang="en-IN" sz="2000" b="0" i="0" u="none" strike="noStrike" kern="0" cap="none" spc="0" normalizeH="0" baseline="0" noProof="0" dirty="0">
              <a:ln>
                <a:noFill/>
              </a:ln>
              <a:solidFill>
                <a:prstClr val="black">
                  <a:lumMod val="65000"/>
                  <a:lumOff val="35000"/>
                </a:prstClr>
              </a:solidFill>
              <a:effectLst/>
              <a:uLnTx/>
              <a:uFillTx/>
              <a:latin typeface="Segoe UI Variable Static Text" pitchFamily="2" charset="0"/>
              <a:cs typeface="Arial"/>
            </a:endParaRPr>
          </a:p>
        </p:txBody>
      </p:sp>
      <p:sp>
        <p:nvSpPr>
          <p:cNvPr id="36" name="Rectangle 35">
            <a:extLst>
              <a:ext uri="{FF2B5EF4-FFF2-40B4-BE49-F238E27FC236}">
                <a16:creationId xmlns:a16="http://schemas.microsoft.com/office/drawing/2014/main" id="{F2CC059A-CD8E-338F-35F4-7FD3F8515A88}"/>
              </a:ext>
            </a:extLst>
          </p:cNvPr>
          <p:cNvSpPr/>
          <p:nvPr/>
        </p:nvSpPr>
        <p:spPr bwMode="auto">
          <a:xfrm>
            <a:off x="7335958" y="4353566"/>
            <a:ext cx="1584176" cy="749501"/>
          </a:xfrm>
          <a:prstGeom prst="rect">
            <a:avLst/>
          </a:prstGeom>
          <a:solidFill>
            <a:srgbClr val="FFC000">
              <a:lumMod val="60000"/>
              <a:lumOff val="4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lumMod val="65000"/>
                    <a:lumOff val="35000"/>
                  </a:prstClr>
                </a:solidFill>
                <a:effectLst/>
                <a:uLnTx/>
                <a:uFillTx/>
                <a:latin typeface="Segoe UI Variable Static Text" pitchFamily="2" charset="0"/>
                <a:cs typeface="Arial"/>
              </a:rPr>
              <a:t>GUI</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lumMod val="65000"/>
                    <a:lumOff val="35000"/>
                  </a:prstClr>
                </a:solidFill>
                <a:effectLst/>
                <a:uLnTx/>
                <a:uFillTx/>
                <a:latin typeface="Segoe UI Variable Static Text" pitchFamily="2" charset="0"/>
                <a:cs typeface="Arial"/>
              </a:rPr>
              <a:t>Graphical User Interface</a:t>
            </a:r>
            <a:endParaRPr kumimoji="0" lang="en-IN" sz="2000" b="0" i="0" u="none" strike="noStrike" kern="0" cap="none" spc="0" normalizeH="0" baseline="0" noProof="0" dirty="0">
              <a:ln>
                <a:noFill/>
              </a:ln>
              <a:solidFill>
                <a:prstClr val="black">
                  <a:lumMod val="65000"/>
                  <a:lumOff val="35000"/>
                </a:prstClr>
              </a:solidFill>
              <a:effectLst/>
              <a:uLnTx/>
              <a:uFillTx/>
              <a:latin typeface="Segoe UI Variable Static Text" pitchFamily="2" charset="0"/>
              <a:cs typeface="Arial"/>
            </a:endParaRPr>
          </a:p>
        </p:txBody>
      </p:sp>
      <p:sp>
        <p:nvSpPr>
          <p:cNvPr id="37" name="Rectangle 36">
            <a:extLst>
              <a:ext uri="{FF2B5EF4-FFF2-40B4-BE49-F238E27FC236}">
                <a16:creationId xmlns:a16="http://schemas.microsoft.com/office/drawing/2014/main" id="{F864EFD5-D46B-73A8-1F92-667FA5665757}"/>
              </a:ext>
            </a:extLst>
          </p:cNvPr>
          <p:cNvSpPr/>
          <p:nvPr/>
        </p:nvSpPr>
        <p:spPr bwMode="auto">
          <a:xfrm>
            <a:off x="7320136" y="3065037"/>
            <a:ext cx="1584176" cy="749499"/>
          </a:xfrm>
          <a:prstGeom prst="rect">
            <a:avLst/>
          </a:prstGeom>
          <a:solidFill>
            <a:srgbClr val="FFC000">
              <a:lumMod val="60000"/>
              <a:lumOff val="4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lumMod val="65000"/>
                    <a:lumOff val="35000"/>
                  </a:prstClr>
                </a:solidFill>
                <a:effectLst/>
                <a:uLnTx/>
                <a:uFillTx/>
                <a:latin typeface="Segoe UI Variable Static Text" pitchFamily="2" charset="0"/>
                <a:cs typeface="Arial"/>
              </a:rPr>
              <a:t>Common</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lumMod val="65000"/>
                    <a:lumOff val="35000"/>
                  </a:prstClr>
                </a:solidFill>
                <a:effectLst/>
                <a:uLnTx/>
                <a:uFillTx/>
                <a:latin typeface="Segoe UI Variable Static Text" pitchFamily="2" charset="0"/>
                <a:cs typeface="Arial"/>
              </a:rPr>
              <a:t>Common functions used by CLI &amp; GUI</a:t>
            </a:r>
            <a:endParaRPr kumimoji="0" lang="en-IN" sz="2000" b="0" i="0" u="none" strike="noStrike" kern="0" cap="none" spc="0" normalizeH="0" baseline="0" noProof="0" dirty="0">
              <a:ln>
                <a:noFill/>
              </a:ln>
              <a:solidFill>
                <a:prstClr val="black">
                  <a:lumMod val="65000"/>
                  <a:lumOff val="35000"/>
                </a:prstClr>
              </a:solidFill>
              <a:effectLst/>
              <a:uLnTx/>
              <a:uFillTx/>
              <a:latin typeface="Segoe UI Variable Static Text" pitchFamily="2" charset="0"/>
              <a:cs typeface="Arial"/>
            </a:endParaRPr>
          </a:p>
        </p:txBody>
      </p:sp>
      <p:sp>
        <p:nvSpPr>
          <p:cNvPr id="38" name="Rectangle 37">
            <a:extLst>
              <a:ext uri="{FF2B5EF4-FFF2-40B4-BE49-F238E27FC236}">
                <a16:creationId xmlns:a16="http://schemas.microsoft.com/office/drawing/2014/main" id="{99A7598E-D297-22D4-5808-E3C6E9C691E2}"/>
              </a:ext>
            </a:extLst>
          </p:cNvPr>
          <p:cNvSpPr/>
          <p:nvPr/>
        </p:nvSpPr>
        <p:spPr bwMode="auto">
          <a:xfrm>
            <a:off x="7320136" y="216969"/>
            <a:ext cx="1584176" cy="1078060"/>
          </a:xfrm>
          <a:prstGeom prst="rect">
            <a:avLst/>
          </a:prstGeom>
          <a:solidFill>
            <a:sysClr val="window" lastClr="FFFFFF">
              <a:lumMod val="50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Variable Static Text" pitchFamily="2" charset="0"/>
                <a:cs typeface="Arial"/>
              </a:rPr>
              <a:t>Argument Parser Library</a:t>
            </a:r>
            <a:endParaRPr kumimoji="0" lang="en-IN" sz="1800" b="0" i="0" u="none" strike="noStrike" kern="0" cap="none" spc="0" normalizeH="0" baseline="0" noProof="0" dirty="0">
              <a:ln>
                <a:noFill/>
              </a:ln>
              <a:solidFill>
                <a:prstClr val="white"/>
              </a:solidFill>
              <a:effectLst/>
              <a:uLnTx/>
              <a:uFillTx/>
              <a:latin typeface="Segoe UI Variable Static Text" pitchFamily="2" charset="0"/>
              <a:cs typeface="Arial"/>
            </a:endParaRPr>
          </a:p>
        </p:txBody>
      </p:sp>
      <p:sp>
        <p:nvSpPr>
          <p:cNvPr id="39" name="Rectangle 38">
            <a:extLst>
              <a:ext uri="{FF2B5EF4-FFF2-40B4-BE49-F238E27FC236}">
                <a16:creationId xmlns:a16="http://schemas.microsoft.com/office/drawing/2014/main" id="{0574CC66-A4AC-132B-4922-39292229BB9D}"/>
              </a:ext>
            </a:extLst>
          </p:cNvPr>
          <p:cNvSpPr/>
          <p:nvPr/>
        </p:nvSpPr>
        <p:spPr bwMode="auto">
          <a:xfrm>
            <a:off x="7335958" y="5657798"/>
            <a:ext cx="1584176" cy="928148"/>
          </a:xfrm>
          <a:prstGeom prst="rect">
            <a:avLst/>
          </a:prstGeom>
          <a:solidFill>
            <a:sysClr val="window" lastClr="FFFFFF">
              <a:lumMod val="50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Variable Static Text" pitchFamily="2" charset="0"/>
                <a:cs typeface="Arial"/>
              </a:rPr>
              <a:t>Graphics Library</a:t>
            </a:r>
            <a:endParaRPr kumimoji="0" lang="en-IN" sz="1800" b="0" i="0" u="none" strike="noStrike" kern="0" cap="none" spc="0" normalizeH="0" baseline="0" noProof="0" dirty="0">
              <a:ln>
                <a:noFill/>
              </a:ln>
              <a:solidFill>
                <a:prstClr val="white"/>
              </a:solidFill>
              <a:effectLst/>
              <a:uLnTx/>
              <a:uFillTx/>
              <a:latin typeface="Segoe UI Variable Static Text" pitchFamily="2" charset="0"/>
              <a:cs typeface="Arial"/>
            </a:endParaRPr>
          </a:p>
        </p:txBody>
      </p:sp>
      <p:pic>
        <p:nvPicPr>
          <p:cNvPr id="40" name="Graphic 39" descr="Document with solid fill">
            <a:extLst>
              <a:ext uri="{FF2B5EF4-FFF2-40B4-BE49-F238E27FC236}">
                <a16:creationId xmlns:a16="http://schemas.microsoft.com/office/drawing/2014/main" id="{6CB50A7C-1DE7-A544-98A3-0FCEEF2A1A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bwMode="auto">
          <a:xfrm>
            <a:off x="4214055" y="5539207"/>
            <a:ext cx="1101824" cy="1101824"/>
          </a:xfrm>
          <a:prstGeom prst="rect">
            <a:avLst/>
          </a:prstGeom>
        </p:spPr>
      </p:pic>
      <p:cxnSp>
        <p:nvCxnSpPr>
          <p:cNvPr id="41" name="Straight Arrow Connector 40">
            <a:extLst>
              <a:ext uri="{FF2B5EF4-FFF2-40B4-BE49-F238E27FC236}">
                <a16:creationId xmlns:a16="http://schemas.microsoft.com/office/drawing/2014/main" id="{66FC0EBA-50C0-F25E-F52C-1862FEE01FFF}"/>
              </a:ext>
            </a:extLst>
          </p:cNvPr>
          <p:cNvCxnSpPr>
            <a:stCxn id="33" idx="3"/>
            <a:endCxn id="32" idx="1"/>
          </p:cNvCxnSpPr>
          <p:nvPr/>
        </p:nvCxnSpPr>
        <p:spPr bwMode="auto">
          <a:xfrm>
            <a:off x="3431704" y="3464204"/>
            <a:ext cx="530087" cy="0"/>
          </a:xfrm>
          <a:prstGeom prst="straightConnector1">
            <a:avLst/>
          </a:prstGeom>
          <a:noFill/>
          <a:ln w="57150" cap="flat" cmpd="sng" algn="ctr">
            <a:solidFill>
              <a:srgbClr val="4472C4"/>
            </a:solidFill>
            <a:prstDash val="solid"/>
            <a:miter lim="800000"/>
            <a:headEnd type="triangle"/>
            <a:tailEnd type="triangle"/>
          </a:ln>
          <a:effectLst/>
        </p:spPr>
      </p:cxnSp>
      <p:cxnSp>
        <p:nvCxnSpPr>
          <p:cNvPr id="42" name="Straight Arrow Connector 41">
            <a:extLst>
              <a:ext uri="{FF2B5EF4-FFF2-40B4-BE49-F238E27FC236}">
                <a16:creationId xmlns:a16="http://schemas.microsoft.com/office/drawing/2014/main" id="{50F879FF-8B1F-1072-69E6-51A568A22879}"/>
              </a:ext>
            </a:extLst>
          </p:cNvPr>
          <p:cNvCxnSpPr>
            <a:cxnSpLocks/>
            <a:stCxn id="38" idx="2"/>
            <a:endCxn id="34" idx="0"/>
          </p:cNvCxnSpPr>
          <p:nvPr/>
        </p:nvCxnSpPr>
        <p:spPr bwMode="auto">
          <a:xfrm>
            <a:off x="8112224" y="1295029"/>
            <a:ext cx="0" cy="481480"/>
          </a:xfrm>
          <a:prstGeom prst="straightConnector1">
            <a:avLst/>
          </a:prstGeom>
          <a:noFill/>
          <a:ln w="57150" cap="flat" cmpd="sng" algn="ctr">
            <a:solidFill>
              <a:srgbClr val="4472C4"/>
            </a:solidFill>
            <a:prstDash val="solid"/>
            <a:miter lim="800000"/>
            <a:headEnd type="triangle"/>
            <a:tailEnd type="triangle"/>
          </a:ln>
          <a:effectLst/>
        </p:spPr>
      </p:cxnSp>
      <p:cxnSp>
        <p:nvCxnSpPr>
          <p:cNvPr id="43" name="Straight Arrow Connector 42">
            <a:extLst>
              <a:ext uri="{FF2B5EF4-FFF2-40B4-BE49-F238E27FC236}">
                <a16:creationId xmlns:a16="http://schemas.microsoft.com/office/drawing/2014/main" id="{D5BA3DA6-9696-2738-5EEA-549AEF739319}"/>
              </a:ext>
            </a:extLst>
          </p:cNvPr>
          <p:cNvCxnSpPr>
            <a:cxnSpLocks/>
            <a:stCxn id="36" idx="2"/>
            <a:endCxn id="39" idx="0"/>
          </p:cNvCxnSpPr>
          <p:nvPr/>
        </p:nvCxnSpPr>
        <p:spPr bwMode="auto">
          <a:xfrm>
            <a:off x="8128046" y="5103067"/>
            <a:ext cx="0" cy="554731"/>
          </a:xfrm>
          <a:prstGeom prst="straightConnector1">
            <a:avLst/>
          </a:prstGeom>
          <a:noFill/>
          <a:ln w="57150" cap="flat" cmpd="sng" algn="ctr">
            <a:solidFill>
              <a:srgbClr val="4472C4"/>
            </a:solidFill>
            <a:prstDash val="solid"/>
            <a:miter lim="800000"/>
            <a:headEnd type="triangle"/>
            <a:tailEnd type="triangle"/>
          </a:ln>
          <a:effectLst/>
        </p:spPr>
      </p:cxnSp>
      <p:cxnSp>
        <p:nvCxnSpPr>
          <p:cNvPr id="44" name="Straight Arrow Connector 43">
            <a:extLst>
              <a:ext uri="{FF2B5EF4-FFF2-40B4-BE49-F238E27FC236}">
                <a16:creationId xmlns:a16="http://schemas.microsoft.com/office/drawing/2014/main" id="{BDE578B2-8426-61D6-9C4D-AE66B70EB2D6}"/>
              </a:ext>
            </a:extLst>
          </p:cNvPr>
          <p:cNvCxnSpPr>
            <a:cxnSpLocks/>
            <a:stCxn id="35" idx="2"/>
            <a:endCxn id="40" idx="0"/>
          </p:cNvCxnSpPr>
          <p:nvPr/>
        </p:nvCxnSpPr>
        <p:spPr bwMode="auto">
          <a:xfrm>
            <a:off x="4764967" y="5103067"/>
            <a:ext cx="0" cy="436140"/>
          </a:xfrm>
          <a:prstGeom prst="straightConnector1">
            <a:avLst/>
          </a:prstGeom>
          <a:noFill/>
          <a:ln w="57150" cap="flat" cmpd="sng" algn="ctr">
            <a:solidFill>
              <a:srgbClr val="4472C4"/>
            </a:solidFill>
            <a:prstDash val="solid"/>
            <a:miter lim="800000"/>
            <a:headEnd type="triangle"/>
            <a:tailEnd type="triangle"/>
          </a:ln>
          <a:effectLst/>
        </p:spPr>
      </p:cxnSp>
      <p:cxnSp>
        <p:nvCxnSpPr>
          <p:cNvPr id="45" name="Straight Arrow Connector 44">
            <a:extLst>
              <a:ext uri="{FF2B5EF4-FFF2-40B4-BE49-F238E27FC236}">
                <a16:creationId xmlns:a16="http://schemas.microsoft.com/office/drawing/2014/main" id="{4A1BBBD0-6E54-8026-F9D2-EF84093A7CA6}"/>
              </a:ext>
            </a:extLst>
          </p:cNvPr>
          <p:cNvCxnSpPr>
            <a:cxnSpLocks/>
            <a:stCxn id="32" idx="3"/>
            <a:endCxn id="34" idx="1"/>
          </p:cNvCxnSpPr>
          <p:nvPr/>
        </p:nvCxnSpPr>
        <p:spPr bwMode="auto">
          <a:xfrm flipV="1">
            <a:off x="5545967" y="2151258"/>
            <a:ext cx="1774169" cy="1312946"/>
          </a:xfrm>
          <a:prstGeom prst="straightConnector1">
            <a:avLst/>
          </a:prstGeom>
          <a:noFill/>
          <a:ln w="57150" cap="flat" cmpd="sng" algn="ctr">
            <a:solidFill>
              <a:srgbClr val="4472C4"/>
            </a:solidFill>
            <a:prstDash val="solid"/>
            <a:miter lim="800000"/>
            <a:headEnd type="triangle"/>
            <a:tailEnd type="triangle"/>
          </a:ln>
          <a:effectLst/>
        </p:spPr>
      </p:cxnSp>
      <p:cxnSp>
        <p:nvCxnSpPr>
          <p:cNvPr id="46" name="Straight Arrow Connector 45">
            <a:extLst>
              <a:ext uri="{FF2B5EF4-FFF2-40B4-BE49-F238E27FC236}">
                <a16:creationId xmlns:a16="http://schemas.microsoft.com/office/drawing/2014/main" id="{509A4448-E93A-9DCF-43D7-DA59C9670175}"/>
              </a:ext>
            </a:extLst>
          </p:cNvPr>
          <p:cNvCxnSpPr>
            <a:cxnSpLocks/>
            <a:endCxn id="36" idx="1"/>
          </p:cNvCxnSpPr>
          <p:nvPr/>
        </p:nvCxnSpPr>
        <p:spPr bwMode="auto">
          <a:xfrm>
            <a:off x="5557055" y="3464203"/>
            <a:ext cx="1778903" cy="1264114"/>
          </a:xfrm>
          <a:prstGeom prst="straightConnector1">
            <a:avLst/>
          </a:prstGeom>
          <a:noFill/>
          <a:ln w="57150" cap="flat" cmpd="sng" algn="ctr">
            <a:solidFill>
              <a:srgbClr val="4472C4"/>
            </a:solidFill>
            <a:prstDash val="solid"/>
            <a:miter lim="800000"/>
            <a:headEnd type="triangle"/>
            <a:tailEnd type="triangle"/>
          </a:ln>
          <a:effectLst/>
        </p:spPr>
      </p:cxnSp>
      <p:pic>
        <p:nvPicPr>
          <p:cNvPr id="47" name="Graphic 46" descr="Computer with solid fill">
            <a:extLst>
              <a:ext uri="{FF2B5EF4-FFF2-40B4-BE49-F238E27FC236}">
                <a16:creationId xmlns:a16="http://schemas.microsoft.com/office/drawing/2014/main" id="{44517DF7-844B-043D-0597-DEE6BC997A2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bwMode="auto">
          <a:xfrm>
            <a:off x="10324525" y="2659575"/>
            <a:ext cx="1609256" cy="1609256"/>
          </a:xfrm>
          <a:prstGeom prst="rect">
            <a:avLst/>
          </a:prstGeom>
        </p:spPr>
      </p:pic>
      <p:cxnSp>
        <p:nvCxnSpPr>
          <p:cNvPr id="48" name="Straight Arrow Connector 47">
            <a:extLst>
              <a:ext uri="{FF2B5EF4-FFF2-40B4-BE49-F238E27FC236}">
                <a16:creationId xmlns:a16="http://schemas.microsoft.com/office/drawing/2014/main" id="{CAA72CEF-A5F8-DBBD-5092-7BD22BB27DC8}"/>
              </a:ext>
            </a:extLst>
          </p:cNvPr>
          <p:cNvCxnSpPr>
            <a:cxnSpLocks/>
            <a:stCxn id="34" idx="3"/>
            <a:endCxn id="47" idx="1"/>
          </p:cNvCxnSpPr>
          <p:nvPr/>
        </p:nvCxnSpPr>
        <p:spPr bwMode="auto">
          <a:xfrm>
            <a:off x="8904312" y="2151258"/>
            <a:ext cx="1420213" cy="1312945"/>
          </a:xfrm>
          <a:prstGeom prst="straightConnector1">
            <a:avLst/>
          </a:prstGeom>
          <a:noFill/>
          <a:ln w="57150" cap="flat" cmpd="sng" algn="ctr">
            <a:solidFill>
              <a:srgbClr val="4472C4"/>
            </a:solidFill>
            <a:prstDash val="solid"/>
            <a:miter lim="800000"/>
            <a:headEnd type="triangle"/>
            <a:tailEnd type="triangle"/>
          </a:ln>
          <a:effectLst/>
        </p:spPr>
      </p:cxnSp>
      <p:cxnSp>
        <p:nvCxnSpPr>
          <p:cNvPr id="49" name="Straight Arrow Connector 48">
            <a:extLst>
              <a:ext uri="{FF2B5EF4-FFF2-40B4-BE49-F238E27FC236}">
                <a16:creationId xmlns:a16="http://schemas.microsoft.com/office/drawing/2014/main" id="{D523D044-7A1C-B438-EE11-D99E0EE0BC7E}"/>
              </a:ext>
            </a:extLst>
          </p:cNvPr>
          <p:cNvCxnSpPr>
            <a:cxnSpLocks/>
            <a:stCxn id="36" idx="3"/>
            <a:endCxn id="47" idx="1"/>
          </p:cNvCxnSpPr>
          <p:nvPr/>
        </p:nvCxnSpPr>
        <p:spPr bwMode="auto">
          <a:xfrm flipV="1">
            <a:off x="8920134" y="3464203"/>
            <a:ext cx="1404391" cy="1264114"/>
          </a:xfrm>
          <a:prstGeom prst="straightConnector1">
            <a:avLst/>
          </a:prstGeom>
          <a:noFill/>
          <a:ln w="57150" cap="flat" cmpd="sng" algn="ctr">
            <a:solidFill>
              <a:srgbClr val="4472C4"/>
            </a:solidFill>
            <a:prstDash val="solid"/>
            <a:miter lim="800000"/>
            <a:headEnd type="triangle"/>
            <a:tailEnd type="triangle"/>
          </a:ln>
          <a:effectLst/>
        </p:spPr>
      </p:cxnSp>
      <p:cxnSp>
        <p:nvCxnSpPr>
          <p:cNvPr id="50" name="Straight Arrow Connector 49">
            <a:extLst>
              <a:ext uri="{FF2B5EF4-FFF2-40B4-BE49-F238E27FC236}">
                <a16:creationId xmlns:a16="http://schemas.microsoft.com/office/drawing/2014/main" id="{04D7ACE9-B927-4DC7-E6A0-3F0A7C53EA05}"/>
              </a:ext>
            </a:extLst>
          </p:cNvPr>
          <p:cNvCxnSpPr>
            <a:stCxn id="37" idx="0"/>
            <a:endCxn id="34" idx="2"/>
          </p:cNvCxnSpPr>
          <p:nvPr/>
        </p:nvCxnSpPr>
        <p:spPr bwMode="auto">
          <a:xfrm flipV="1">
            <a:off x="8112224" y="2526007"/>
            <a:ext cx="0" cy="539030"/>
          </a:xfrm>
          <a:prstGeom prst="straightConnector1">
            <a:avLst/>
          </a:prstGeom>
          <a:noFill/>
          <a:ln w="57150" cap="flat" cmpd="sng" algn="ctr">
            <a:solidFill>
              <a:srgbClr val="4472C4"/>
            </a:solidFill>
            <a:prstDash val="solid"/>
            <a:miter lim="800000"/>
            <a:tailEnd type="triangle"/>
          </a:ln>
          <a:effectLst/>
        </p:spPr>
      </p:cxnSp>
      <p:cxnSp>
        <p:nvCxnSpPr>
          <p:cNvPr id="51" name="Straight Arrow Connector 50">
            <a:extLst>
              <a:ext uri="{FF2B5EF4-FFF2-40B4-BE49-F238E27FC236}">
                <a16:creationId xmlns:a16="http://schemas.microsoft.com/office/drawing/2014/main" id="{1EDCC42E-5E14-93EA-2551-0A3289BA1E3F}"/>
              </a:ext>
            </a:extLst>
          </p:cNvPr>
          <p:cNvCxnSpPr>
            <a:cxnSpLocks/>
            <a:stCxn id="37" idx="2"/>
            <a:endCxn id="36" idx="0"/>
          </p:cNvCxnSpPr>
          <p:nvPr/>
        </p:nvCxnSpPr>
        <p:spPr bwMode="auto">
          <a:xfrm>
            <a:off x="8112224" y="3814536"/>
            <a:ext cx="15822" cy="539030"/>
          </a:xfrm>
          <a:prstGeom prst="straightConnector1">
            <a:avLst/>
          </a:prstGeom>
          <a:noFill/>
          <a:ln w="57150" cap="flat" cmpd="sng" algn="ctr">
            <a:solidFill>
              <a:srgbClr val="4472C4"/>
            </a:solidFill>
            <a:prstDash val="solid"/>
            <a:miter lim="800000"/>
            <a:tailEnd type="triangle"/>
          </a:ln>
          <a:effectLst/>
        </p:spPr>
      </p:cxnSp>
      <p:cxnSp>
        <p:nvCxnSpPr>
          <p:cNvPr id="52" name="Straight Arrow Connector 51">
            <a:extLst>
              <a:ext uri="{FF2B5EF4-FFF2-40B4-BE49-F238E27FC236}">
                <a16:creationId xmlns:a16="http://schemas.microsoft.com/office/drawing/2014/main" id="{74BF0540-4EA9-E02B-54EA-292B601824DC}"/>
              </a:ext>
            </a:extLst>
          </p:cNvPr>
          <p:cNvCxnSpPr>
            <a:cxnSpLocks/>
            <a:stCxn id="32" idx="2"/>
            <a:endCxn id="35" idx="0"/>
          </p:cNvCxnSpPr>
          <p:nvPr/>
        </p:nvCxnSpPr>
        <p:spPr bwMode="auto">
          <a:xfrm>
            <a:off x="4753879" y="3896252"/>
            <a:ext cx="11088" cy="457314"/>
          </a:xfrm>
          <a:prstGeom prst="straightConnector1">
            <a:avLst/>
          </a:prstGeom>
          <a:noFill/>
          <a:ln w="57150" cap="flat" cmpd="sng" algn="ctr">
            <a:solidFill>
              <a:srgbClr val="4472C4"/>
            </a:solidFill>
            <a:prstDash val="solid"/>
            <a:miter lim="800000"/>
            <a:tailEnd type="triangle"/>
          </a:ln>
          <a:effectLst/>
        </p:spPr>
      </p:cxnSp>
    </p:spTree>
    <p:extLst>
      <p:ext uri="{BB962C8B-B14F-4D97-AF65-F5344CB8AC3E}">
        <p14:creationId xmlns:p14="http://schemas.microsoft.com/office/powerpoint/2010/main" val="11587014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F8A85-B563-45E2-967A-8714968EAF51}"/>
              </a:ext>
            </a:extLst>
          </p:cNvPr>
          <p:cNvSpPr>
            <a:spLocks noGrp="1"/>
          </p:cNvSpPr>
          <p:nvPr>
            <p:ph type="title"/>
          </p:nvPr>
        </p:nvSpPr>
        <p:spPr>
          <a:xfrm>
            <a:off x="1203960" y="244847"/>
            <a:ext cx="9784080" cy="1508760"/>
          </a:xfrm>
        </p:spPr>
        <p:txBody>
          <a:bodyPr/>
          <a:lstStyle/>
          <a:p>
            <a:r>
              <a:rPr lang="en-US" cap="none" dirty="0">
                <a:solidFill>
                  <a:srgbClr val="FFB703"/>
                </a:solidFill>
                <a:latin typeface="High Tower Text" panose="02040502050506030303" pitchFamily="18" charset="0"/>
              </a:rPr>
              <a:t>Core Libraries</a:t>
            </a:r>
            <a:endParaRPr lang="en-IN" cap="none" dirty="0">
              <a:solidFill>
                <a:srgbClr val="FFB703"/>
              </a:solidFill>
              <a:latin typeface="High Tower Text" panose="02040502050506030303" pitchFamily="18" charset="0"/>
            </a:endParaRPr>
          </a:p>
        </p:txBody>
      </p:sp>
      <p:sp>
        <p:nvSpPr>
          <p:cNvPr id="4" name="Rectangle 3">
            <a:extLst>
              <a:ext uri="{FF2B5EF4-FFF2-40B4-BE49-F238E27FC236}">
                <a16:creationId xmlns:a16="http://schemas.microsoft.com/office/drawing/2014/main" id="{75E0814E-F4C4-4A0F-CD76-6C7497AC8F34}"/>
              </a:ext>
            </a:extLst>
          </p:cNvPr>
          <p:cNvSpPr/>
          <p:nvPr/>
        </p:nvSpPr>
        <p:spPr>
          <a:xfrm>
            <a:off x="0" y="0"/>
            <a:ext cx="806245" cy="6858000"/>
          </a:xfrm>
          <a:prstGeom prst="rect">
            <a:avLst/>
          </a:prstGeom>
          <a:solidFill>
            <a:srgbClr val="FFB703"/>
          </a:solidFill>
          <a:ln>
            <a:solidFill>
              <a:srgbClr val="FFB70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rgbClr val="7030A0"/>
              </a:solidFill>
            </a:endParaRPr>
          </a:p>
        </p:txBody>
      </p:sp>
      <p:pic>
        <p:nvPicPr>
          <p:cNvPr id="2050" name="Picture 2" descr="Truminds Software Systems | LinkedIn">
            <a:extLst>
              <a:ext uri="{FF2B5EF4-FFF2-40B4-BE49-F238E27FC236}">
                <a16:creationId xmlns:a16="http://schemas.microsoft.com/office/drawing/2014/main" id="{074CEAAD-016E-FE56-B3FF-512C6E5054DE}"/>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28000" b="69500" l="1500" r="97000">
                        <a14:foregroundMark x1="11000" y1="53000" x2="11000" y2="53000"/>
                        <a14:foregroundMark x1="20000" y1="38500" x2="20000" y2="38500"/>
                        <a14:foregroundMark x1="6000" y1="40500" x2="6000" y2="40500"/>
                        <a14:foregroundMark x1="1500" y1="39500" x2="1500" y2="39500"/>
                        <a14:foregroundMark x1="23500" y1="39500" x2="23500" y2="39500"/>
                        <a14:foregroundMark x1="21000" y1="55500" x2="21000" y2="55500"/>
                        <a14:foregroundMark x1="31500" y1="61500" x2="31500" y2="61500"/>
                        <a14:foregroundMark x1="41500" y1="60000" x2="41500" y2="60000"/>
                        <a14:foregroundMark x1="61000" y1="60000" x2="61000" y2="60000"/>
                        <a14:foregroundMark x1="60500" y1="49000" x2="60500" y2="49000"/>
                        <a14:foregroundMark x1="66500" y1="57000" x2="66500" y2="57000"/>
                        <a14:foregroundMark x1="78000" y1="59000" x2="78000" y2="59000"/>
                        <a14:foregroundMark x1="93500" y1="57000" x2="93500" y2="57000"/>
                        <a14:foregroundMark x1="92500" y1="61500" x2="92500" y2="61500"/>
                        <a14:foregroundMark x1="97000" y1="59000" x2="97000" y2="59000"/>
                      </a14:backgroundRemoval>
                    </a14:imgEffect>
                  </a14:imgLayer>
                </a14:imgProps>
              </a:ext>
              <a:ext uri="{28A0092B-C50C-407E-A947-70E740481C1C}">
                <a14:useLocalDpi xmlns:a14="http://schemas.microsoft.com/office/drawing/2010/main" val="0"/>
              </a:ext>
            </a:extLst>
          </a:blip>
          <a:srcRect t="24194" b="24913"/>
          <a:stretch/>
        </p:blipFill>
        <p:spPr bwMode="auto">
          <a:xfrm>
            <a:off x="10890447" y="108178"/>
            <a:ext cx="1197765" cy="609577"/>
          </a:xfrm>
          <a:prstGeom prst="rect">
            <a:avLst/>
          </a:prstGeom>
          <a:noFill/>
          <a:effectLst>
            <a:glow rad="25400">
              <a:srgbClr val="8ECAE6">
                <a:alpha val="31000"/>
              </a:srgbClr>
            </a:glow>
          </a:effectLst>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0711D28A-0C3E-A6F1-F8C9-015E04520474}"/>
              </a:ext>
            </a:extLst>
          </p:cNvPr>
          <p:cNvPicPr>
            <a:picLocks noChangeAspect="1"/>
          </p:cNvPicPr>
          <p:nvPr/>
        </p:nvPicPr>
        <p:blipFill>
          <a:blip r:embed="rId5"/>
          <a:stretch>
            <a:fillRect/>
          </a:stretch>
        </p:blipFill>
        <p:spPr>
          <a:xfrm>
            <a:off x="2464794" y="1970205"/>
            <a:ext cx="6963747" cy="3448531"/>
          </a:xfrm>
          <a:prstGeom prst="rect">
            <a:avLst/>
          </a:prstGeom>
        </p:spPr>
      </p:pic>
    </p:spTree>
    <p:extLst>
      <p:ext uri="{BB962C8B-B14F-4D97-AF65-F5344CB8AC3E}">
        <p14:creationId xmlns:p14="http://schemas.microsoft.com/office/powerpoint/2010/main" val="2477865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F8A85-B563-45E2-967A-8714968EAF51}"/>
              </a:ext>
            </a:extLst>
          </p:cNvPr>
          <p:cNvSpPr>
            <a:spLocks noGrp="1"/>
          </p:cNvSpPr>
          <p:nvPr>
            <p:ph type="title"/>
          </p:nvPr>
        </p:nvSpPr>
        <p:spPr>
          <a:xfrm>
            <a:off x="1203960" y="244847"/>
            <a:ext cx="9784080" cy="1508760"/>
          </a:xfrm>
        </p:spPr>
        <p:txBody>
          <a:bodyPr/>
          <a:lstStyle/>
          <a:p>
            <a:r>
              <a:rPr lang="en-US" cap="none" dirty="0">
                <a:solidFill>
                  <a:srgbClr val="219EBC"/>
                </a:solidFill>
                <a:latin typeface="High Tower Text" panose="02040502050506030303" pitchFamily="18" charset="0"/>
              </a:rPr>
              <a:t>Common Modules</a:t>
            </a:r>
            <a:endParaRPr lang="en-IN" cap="none" dirty="0">
              <a:solidFill>
                <a:srgbClr val="219EBC"/>
              </a:solidFill>
              <a:latin typeface="High Tower Text" panose="02040502050506030303" pitchFamily="18" charset="0"/>
            </a:endParaRPr>
          </a:p>
        </p:txBody>
      </p:sp>
      <p:sp>
        <p:nvSpPr>
          <p:cNvPr id="4" name="Rectangle 3">
            <a:extLst>
              <a:ext uri="{FF2B5EF4-FFF2-40B4-BE49-F238E27FC236}">
                <a16:creationId xmlns:a16="http://schemas.microsoft.com/office/drawing/2014/main" id="{75E0814E-F4C4-4A0F-CD76-6C7497AC8F34}"/>
              </a:ext>
            </a:extLst>
          </p:cNvPr>
          <p:cNvSpPr/>
          <p:nvPr/>
        </p:nvSpPr>
        <p:spPr>
          <a:xfrm>
            <a:off x="0" y="0"/>
            <a:ext cx="806245" cy="6858000"/>
          </a:xfrm>
          <a:prstGeom prst="rect">
            <a:avLst/>
          </a:prstGeom>
          <a:solidFill>
            <a:srgbClr val="FB8500"/>
          </a:solidFill>
          <a:ln>
            <a:solidFill>
              <a:srgbClr val="FB85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rgbClr val="7030A0"/>
              </a:solidFill>
            </a:endParaRPr>
          </a:p>
        </p:txBody>
      </p:sp>
      <p:pic>
        <p:nvPicPr>
          <p:cNvPr id="2050" name="Picture 2" descr="Truminds Software Systems | LinkedIn">
            <a:extLst>
              <a:ext uri="{FF2B5EF4-FFF2-40B4-BE49-F238E27FC236}">
                <a16:creationId xmlns:a16="http://schemas.microsoft.com/office/drawing/2014/main" id="{074CEAAD-016E-FE56-B3FF-512C6E5054DE}"/>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28000" b="69500" l="1500" r="97000">
                        <a14:foregroundMark x1="11000" y1="53000" x2="11000" y2="53000"/>
                        <a14:foregroundMark x1="20000" y1="38500" x2="20000" y2="38500"/>
                        <a14:foregroundMark x1="6000" y1="40500" x2="6000" y2="40500"/>
                        <a14:foregroundMark x1="1500" y1="39500" x2="1500" y2="39500"/>
                        <a14:foregroundMark x1="23500" y1="39500" x2="23500" y2="39500"/>
                        <a14:foregroundMark x1="21000" y1="55500" x2="21000" y2="55500"/>
                        <a14:foregroundMark x1="31500" y1="61500" x2="31500" y2="61500"/>
                        <a14:foregroundMark x1="41500" y1="60000" x2="41500" y2="60000"/>
                        <a14:foregroundMark x1="61000" y1="60000" x2="61000" y2="60000"/>
                        <a14:foregroundMark x1="60500" y1="49000" x2="60500" y2="49000"/>
                        <a14:foregroundMark x1="66500" y1="57000" x2="66500" y2="57000"/>
                        <a14:foregroundMark x1="78000" y1="59000" x2="78000" y2="59000"/>
                        <a14:foregroundMark x1="93500" y1="57000" x2="93500" y2="57000"/>
                        <a14:foregroundMark x1="92500" y1="61500" x2="92500" y2="61500"/>
                        <a14:foregroundMark x1="97000" y1="59000" x2="97000" y2="59000"/>
                      </a14:backgroundRemoval>
                    </a14:imgEffect>
                  </a14:imgLayer>
                </a14:imgProps>
              </a:ext>
              <a:ext uri="{28A0092B-C50C-407E-A947-70E740481C1C}">
                <a14:useLocalDpi xmlns:a14="http://schemas.microsoft.com/office/drawing/2010/main" val="0"/>
              </a:ext>
            </a:extLst>
          </a:blip>
          <a:srcRect t="24194" b="24913"/>
          <a:stretch/>
        </p:blipFill>
        <p:spPr bwMode="auto">
          <a:xfrm>
            <a:off x="10890447" y="108178"/>
            <a:ext cx="1197765" cy="609577"/>
          </a:xfrm>
          <a:prstGeom prst="rect">
            <a:avLst/>
          </a:prstGeom>
          <a:noFill/>
          <a:effectLst>
            <a:glow rad="25400">
              <a:srgbClr val="8ECAE6">
                <a:alpha val="31000"/>
              </a:srgbClr>
            </a:glow>
          </a:effectLst>
          <a:extLst>
            <a:ext uri="{909E8E84-426E-40DD-AFC4-6F175D3DCCD1}">
              <a14:hiddenFill xmlns:a14="http://schemas.microsoft.com/office/drawing/2010/main">
                <a:solidFill>
                  <a:srgbClr val="FFFFFF"/>
                </a:solidFill>
              </a14:hiddenFill>
            </a:ext>
          </a:extLst>
        </p:spPr>
      </p:pic>
      <p:sp>
        <p:nvSpPr>
          <p:cNvPr id="20" name="Rectangle 19">
            <a:extLst>
              <a:ext uri="{FF2B5EF4-FFF2-40B4-BE49-F238E27FC236}">
                <a16:creationId xmlns:a16="http://schemas.microsoft.com/office/drawing/2014/main" id="{74F29FF1-5A5B-A161-9AE5-2ACCF009334A}"/>
              </a:ext>
            </a:extLst>
          </p:cNvPr>
          <p:cNvSpPr/>
          <p:nvPr/>
        </p:nvSpPr>
        <p:spPr>
          <a:xfrm>
            <a:off x="6441547" y="1936042"/>
            <a:ext cx="3063788" cy="3168352"/>
          </a:xfrm>
          <a:prstGeom prst="rect">
            <a:avLst/>
          </a:prstGeom>
          <a:solidFill>
            <a:sysClr val="window" lastClr="FFFFFF"/>
          </a:solidFill>
          <a:ln w="28575" cap="flat" cmpd="sng" algn="ctr">
            <a:solidFill>
              <a:srgbClr val="219EBC"/>
            </a:solidFill>
            <a:prstDash val="solid"/>
            <a:miter lim="800000"/>
          </a:ln>
          <a:effectLst/>
        </p:spPr>
        <p:txBody>
          <a:bodyPr rtlCol="0" anchor="b"/>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prstClr val="black"/>
                </a:solidFill>
                <a:effectLst/>
                <a:uLnTx/>
                <a:uFillTx/>
                <a:cs typeface="Arial"/>
              </a:rPr>
              <a:t>COMMON</a:t>
            </a:r>
            <a:endParaRPr kumimoji="0" lang="en-IN" sz="1800" b="1" i="0" u="none" strike="noStrike" kern="0" cap="none" spc="0" normalizeH="0" baseline="0" noProof="0" dirty="0">
              <a:ln>
                <a:noFill/>
              </a:ln>
              <a:solidFill>
                <a:prstClr val="black"/>
              </a:solidFill>
              <a:effectLst/>
              <a:uLnTx/>
              <a:uFillTx/>
              <a:cs typeface="Arial"/>
            </a:endParaRPr>
          </a:p>
        </p:txBody>
      </p:sp>
      <p:sp>
        <p:nvSpPr>
          <p:cNvPr id="21" name="Rectangle 20">
            <a:extLst>
              <a:ext uri="{FF2B5EF4-FFF2-40B4-BE49-F238E27FC236}">
                <a16:creationId xmlns:a16="http://schemas.microsoft.com/office/drawing/2014/main" id="{5DB32A7C-B3B9-E9FD-B8D7-84353BF294DE}"/>
              </a:ext>
            </a:extLst>
          </p:cNvPr>
          <p:cNvSpPr/>
          <p:nvPr/>
        </p:nvSpPr>
        <p:spPr>
          <a:xfrm>
            <a:off x="2800922" y="1936042"/>
            <a:ext cx="3384376" cy="3168352"/>
          </a:xfrm>
          <a:prstGeom prst="rect">
            <a:avLst/>
          </a:prstGeom>
          <a:solidFill>
            <a:sysClr val="window" lastClr="FFFFFF"/>
          </a:solidFill>
          <a:ln w="28575" cap="flat" cmpd="sng" algn="ctr">
            <a:solidFill>
              <a:srgbClr val="219EBC"/>
            </a:solidFill>
            <a:prstDash val="solid"/>
            <a:miter lim="800000"/>
          </a:ln>
          <a:effectLst/>
        </p:spPr>
        <p:txBody>
          <a:bodyPr rtlCol="0" anchor="b"/>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prstClr val="black"/>
                </a:solidFill>
                <a:effectLst/>
                <a:uLnTx/>
                <a:uFillTx/>
                <a:cs typeface="Arial"/>
              </a:rPr>
              <a:t>CORE</a:t>
            </a:r>
            <a:endParaRPr kumimoji="0" lang="en-IN" sz="1800" b="1" i="0" u="none" strike="noStrike" kern="0" cap="none" spc="0" normalizeH="0" baseline="0" noProof="0" dirty="0">
              <a:ln>
                <a:noFill/>
              </a:ln>
              <a:solidFill>
                <a:prstClr val="black"/>
              </a:solidFill>
              <a:effectLst/>
              <a:uLnTx/>
              <a:uFillTx/>
              <a:cs typeface="Arial"/>
            </a:endParaRPr>
          </a:p>
        </p:txBody>
      </p:sp>
      <p:sp>
        <p:nvSpPr>
          <p:cNvPr id="22" name="Rectangle 21">
            <a:extLst>
              <a:ext uri="{FF2B5EF4-FFF2-40B4-BE49-F238E27FC236}">
                <a16:creationId xmlns:a16="http://schemas.microsoft.com/office/drawing/2014/main" id="{9ABCA2B7-E0A7-AC9E-0609-434F70FDBF36}"/>
              </a:ext>
            </a:extLst>
          </p:cNvPr>
          <p:cNvSpPr/>
          <p:nvPr/>
        </p:nvSpPr>
        <p:spPr>
          <a:xfrm>
            <a:off x="6762135" y="2464368"/>
            <a:ext cx="2448272" cy="1820536"/>
          </a:xfrm>
          <a:prstGeom prst="rect">
            <a:avLst/>
          </a:prstGeom>
          <a:solidFill>
            <a:srgbClr val="FB8500"/>
          </a:solidFill>
          <a:ln w="12700" cap="flat" cmpd="sng" algn="ctr">
            <a:solidFill>
              <a:srgbClr val="FFC000">
                <a:shade val="50000"/>
              </a:srgb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err="1">
                <a:ln>
                  <a:noFill/>
                </a:ln>
                <a:solidFill>
                  <a:prstClr val="white"/>
                </a:solidFill>
                <a:effectLst/>
                <a:uLnTx/>
                <a:uFillTx/>
                <a:latin typeface="Consolas" panose="020B0609020204030204" pitchFamily="49" charset="0"/>
                <a:cs typeface="Arial"/>
              </a:rPr>
              <a:t>ComplexOperation</a:t>
            </a:r>
            <a:r>
              <a:rPr kumimoji="0" lang="en-US" sz="1800" b="0" i="0" u="none" strike="noStrike" kern="0" cap="none" spc="0" normalizeH="0" baseline="0" noProof="0" dirty="0">
                <a:ln>
                  <a:noFill/>
                </a:ln>
                <a:solidFill>
                  <a:prstClr val="white"/>
                </a:solidFill>
                <a:effectLst/>
                <a:uLnTx/>
                <a:uFillTx/>
                <a:latin typeface="Consolas" panose="020B0609020204030204" pitchFamily="49" charset="0"/>
                <a:cs typeface="Arial"/>
              </a:rPr>
              <a:t>:</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onsolas" panose="020B0609020204030204" pitchFamily="49" charset="0"/>
                <a:cs typeface="Arial"/>
              </a:rPr>
              <a:t>  PrimitiveOp1()</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onsolas" panose="020B0609020204030204" pitchFamily="49" charset="0"/>
                <a:cs typeface="Arial"/>
              </a:rPr>
              <a:t>  PrimitiveOp2()</a:t>
            </a:r>
            <a:endParaRPr kumimoji="0" lang="en-IN" sz="1800" b="0" i="0" u="none" strike="noStrike" kern="0" cap="none" spc="0" normalizeH="0" baseline="0" noProof="0" dirty="0">
              <a:ln>
                <a:noFill/>
              </a:ln>
              <a:solidFill>
                <a:prstClr val="white"/>
              </a:solidFill>
              <a:effectLst/>
              <a:uLnTx/>
              <a:uFillTx/>
              <a:latin typeface="Consolas" panose="020B0609020204030204" pitchFamily="49" charset="0"/>
              <a:cs typeface="Arial"/>
            </a:endParaRPr>
          </a:p>
        </p:txBody>
      </p:sp>
      <p:sp>
        <p:nvSpPr>
          <p:cNvPr id="23" name="Rectangle 22">
            <a:extLst>
              <a:ext uri="{FF2B5EF4-FFF2-40B4-BE49-F238E27FC236}">
                <a16:creationId xmlns:a16="http://schemas.microsoft.com/office/drawing/2014/main" id="{C5D878FD-F8AD-46BB-2DC2-4D75948B795E}"/>
              </a:ext>
            </a:extLst>
          </p:cNvPr>
          <p:cNvSpPr/>
          <p:nvPr/>
        </p:nvSpPr>
        <p:spPr>
          <a:xfrm>
            <a:off x="3019228" y="2464368"/>
            <a:ext cx="2884492" cy="665274"/>
          </a:xfrm>
          <a:prstGeom prst="rect">
            <a:avLst/>
          </a:prstGeom>
          <a:solidFill>
            <a:srgbClr val="FB8500"/>
          </a:solidFill>
          <a:ln w="12700" cap="flat" cmpd="sng" algn="ctr">
            <a:solidFill>
              <a:srgbClr val="FFC00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onsolas" panose="020B0609020204030204" pitchFamily="49" charset="0"/>
                <a:cs typeface="Arial"/>
              </a:rPr>
              <a:t>PrimitiveOp1()</a:t>
            </a:r>
            <a:endParaRPr kumimoji="0" lang="en-IN" sz="1800" b="0" i="0" u="none" strike="noStrike" kern="0" cap="none" spc="0" normalizeH="0" baseline="0" noProof="0" dirty="0">
              <a:ln>
                <a:noFill/>
              </a:ln>
              <a:solidFill>
                <a:prstClr val="white"/>
              </a:solidFill>
              <a:effectLst/>
              <a:uLnTx/>
              <a:uFillTx/>
              <a:latin typeface="Consolas" panose="020B0609020204030204" pitchFamily="49" charset="0"/>
              <a:cs typeface="Arial"/>
            </a:endParaRPr>
          </a:p>
        </p:txBody>
      </p:sp>
      <p:cxnSp>
        <p:nvCxnSpPr>
          <p:cNvPr id="24" name="Straight Arrow Connector 23">
            <a:extLst>
              <a:ext uri="{FF2B5EF4-FFF2-40B4-BE49-F238E27FC236}">
                <a16:creationId xmlns:a16="http://schemas.microsoft.com/office/drawing/2014/main" id="{EDAF20B5-538B-1E47-A5CF-FCA3D0B6DF35}"/>
              </a:ext>
            </a:extLst>
          </p:cNvPr>
          <p:cNvCxnSpPr>
            <a:cxnSpLocks/>
          </p:cNvCxnSpPr>
          <p:nvPr/>
        </p:nvCxnSpPr>
        <p:spPr bwMode="auto">
          <a:xfrm>
            <a:off x="5903720" y="2797005"/>
            <a:ext cx="858415" cy="0"/>
          </a:xfrm>
          <a:prstGeom prst="straightConnector1">
            <a:avLst/>
          </a:prstGeom>
          <a:noFill/>
          <a:ln w="57150" cap="flat" cmpd="sng" algn="ctr">
            <a:solidFill>
              <a:srgbClr val="4472C4"/>
            </a:solidFill>
            <a:prstDash val="solid"/>
            <a:miter lim="800000"/>
            <a:headEnd type="triangle"/>
            <a:tailEnd type="triangle"/>
          </a:ln>
          <a:effectLst/>
        </p:spPr>
      </p:cxnSp>
      <p:cxnSp>
        <p:nvCxnSpPr>
          <p:cNvPr id="25" name="Straight Arrow Connector 24">
            <a:extLst>
              <a:ext uri="{FF2B5EF4-FFF2-40B4-BE49-F238E27FC236}">
                <a16:creationId xmlns:a16="http://schemas.microsoft.com/office/drawing/2014/main" id="{A49D280B-05F8-22D4-831A-BA900E979253}"/>
              </a:ext>
            </a:extLst>
          </p:cNvPr>
          <p:cNvCxnSpPr>
            <a:cxnSpLocks/>
            <a:stCxn id="26" idx="3"/>
          </p:cNvCxnSpPr>
          <p:nvPr/>
        </p:nvCxnSpPr>
        <p:spPr bwMode="auto">
          <a:xfrm>
            <a:off x="5915303" y="3952266"/>
            <a:ext cx="846832" cy="0"/>
          </a:xfrm>
          <a:prstGeom prst="straightConnector1">
            <a:avLst/>
          </a:prstGeom>
          <a:noFill/>
          <a:ln w="57150" cap="flat" cmpd="sng" algn="ctr">
            <a:solidFill>
              <a:srgbClr val="4472C4"/>
            </a:solidFill>
            <a:prstDash val="solid"/>
            <a:miter lim="800000"/>
            <a:headEnd type="triangle"/>
            <a:tailEnd type="triangle"/>
          </a:ln>
          <a:effectLst/>
        </p:spPr>
      </p:cxnSp>
      <p:sp>
        <p:nvSpPr>
          <p:cNvPr id="26" name="Rectangle 25">
            <a:extLst>
              <a:ext uri="{FF2B5EF4-FFF2-40B4-BE49-F238E27FC236}">
                <a16:creationId xmlns:a16="http://schemas.microsoft.com/office/drawing/2014/main" id="{F9EE1923-426F-60A6-A03B-6FB167FE5B11}"/>
              </a:ext>
            </a:extLst>
          </p:cNvPr>
          <p:cNvSpPr/>
          <p:nvPr/>
        </p:nvSpPr>
        <p:spPr>
          <a:xfrm>
            <a:off x="3030812" y="3619629"/>
            <a:ext cx="2884491" cy="665274"/>
          </a:xfrm>
          <a:prstGeom prst="rect">
            <a:avLst/>
          </a:prstGeom>
          <a:solidFill>
            <a:srgbClr val="FB8500"/>
          </a:solidFill>
          <a:ln w="12700" cap="flat" cmpd="sng" algn="ctr">
            <a:solidFill>
              <a:srgbClr val="FFC00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onsolas" panose="020B0609020204030204" pitchFamily="49" charset="0"/>
                <a:cs typeface="Arial"/>
              </a:rPr>
              <a:t>PrimitiveOp2()</a:t>
            </a:r>
            <a:endParaRPr kumimoji="0" lang="en-IN" sz="1800" b="0" i="0" u="none" strike="noStrike" kern="0" cap="none" spc="0" normalizeH="0" baseline="0" noProof="0" dirty="0">
              <a:ln>
                <a:noFill/>
              </a:ln>
              <a:solidFill>
                <a:prstClr val="white"/>
              </a:solidFill>
              <a:effectLst/>
              <a:uLnTx/>
              <a:uFillTx/>
              <a:latin typeface="Consolas" panose="020B0609020204030204" pitchFamily="49" charset="0"/>
              <a:cs typeface="Arial"/>
            </a:endParaRPr>
          </a:p>
        </p:txBody>
      </p:sp>
    </p:spTree>
    <p:extLst>
      <p:ext uri="{BB962C8B-B14F-4D97-AF65-F5344CB8AC3E}">
        <p14:creationId xmlns:p14="http://schemas.microsoft.com/office/powerpoint/2010/main" val="41680903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F8A85-B563-45E2-967A-8714968EAF51}"/>
              </a:ext>
            </a:extLst>
          </p:cNvPr>
          <p:cNvSpPr>
            <a:spLocks noGrp="1"/>
          </p:cNvSpPr>
          <p:nvPr>
            <p:ph type="title"/>
          </p:nvPr>
        </p:nvSpPr>
        <p:spPr>
          <a:xfrm>
            <a:off x="1203960" y="244847"/>
            <a:ext cx="9784080" cy="1508760"/>
          </a:xfrm>
        </p:spPr>
        <p:txBody>
          <a:bodyPr/>
          <a:lstStyle/>
          <a:p>
            <a:r>
              <a:rPr lang="en-US" cap="none" dirty="0">
                <a:solidFill>
                  <a:srgbClr val="219EBC"/>
                </a:solidFill>
                <a:latin typeface="High Tower Text" panose="02040502050506030303" pitchFamily="18" charset="0"/>
              </a:rPr>
              <a:t>Implementation</a:t>
            </a:r>
            <a:endParaRPr lang="en-IN" cap="none" dirty="0">
              <a:solidFill>
                <a:srgbClr val="219EBC"/>
              </a:solidFill>
              <a:latin typeface="High Tower Text" panose="02040502050506030303" pitchFamily="18" charset="0"/>
            </a:endParaRPr>
          </a:p>
        </p:txBody>
      </p:sp>
      <p:sp>
        <p:nvSpPr>
          <p:cNvPr id="4" name="Rectangle 3">
            <a:extLst>
              <a:ext uri="{FF2B5EF4-FFF2-40B4-BE49-F238E27FC236}">
                <a16:creationId xmlns:a16="http://schemas.microsoft.com/office/drawing/2014/main" id="{75E0814E-F4C4-4A0F-CD76-6C7497AC8F34}"/>
              </a:ext>
            </a:extLst>
          </p:cNvPr>
          <p:cNvSpPr/>
          <p:nvPr/>
        </p:nvSpPr>
        <p:spPr>
          <a:xfrm>
            <a:off x="0" y="0"/>
            <a:ext cx="806245" cy="6858000"/>
          </a:xfrm>
          <a:prstGeom prst="rect">
            <a:avLst/>
          </a:prstGeom>
          <a:solidFill>
            <a:srgbClr val="219EBC"/>
          </a:solidFill>
          <a:ln>
            <a:solidFill>
              <a:srgbClr val="219E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rgbClr val="7030A0"/>
              </a:solidFill>
            </a:endParaRPr>
          </a:p>
        </p:txBody>
      </p:sp>
      <p:pic>
        <p:nvPicPr>
          <p:cNvPr id="2050" name="Picture 2" descr="Truminds Software Systems | LinkedIn">
            <a:extLst>
              <a:ext uri="{FF2B5EF4-FFF2-40B4-BE49-F238E27FC236}">
                <a16:creationId xmlns:a16="http://schemas.microsoft.com/office/drawing/2014/main" id="{074CEAAD-016E-FE56-B3FF-512C6E5054DE}"/>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28000" b="69500" l="1500" r="97000">
                        <a14:foregroundMark x1="11000" y1="53000" x2="11000" y2="53000"/>
                        <a14:foregroundMark x1="20000" y1="38500" x2="20000" y2="38500"/>
                        <a14:foregroundMark x1="6000" y1="40500" x2="6000" y2="40500"/>
                        <a14:foregroundMark x1="1500" y1="39500" x2="1500" y2="39500"/>
                        <a14:foregroundMark x1="23500" y1="39500" x2="23500" y2="39500"/>
                        <a14:foregroundMark x1="21000" y1="55500" x2="21000" y2="55500"/>
                        <a14:foregroundMark x1="31500" y1="61500" x2="31500" y2="61500"/>
                        <a14:foregroundMark x1="41500" y1="60000" x2="41500" y2="60000"/>
                        <a14:foregroundMark x1="61000" y1="60000" x2="61000" y2="60000"/>
                        <a14:foregroundMark x1="60500" y1="49000" x2="60500" y2="49000"/>
                        <a14:foregroundMark x1="66500" y1="57000" x2="66500" y2="57000"/>
                        <a14:foregroundMark x1="78000" y1="59000" x2="78000" y2="59000"/>
                        <a14:foregroundMark x1="93500" y1="57000" x2="93500" y2="57000"/>
                        <a14:foregroundMark x1="92500" y1="61500" x2="92500" y2="61500"/>
                        <a14:foregroundMark x1="97000" y1="59000" x2="97000" y2="59000"/>
                      </a14:backgroundRemoval>
                    </a14:imgEffect>
                  </a14:imgLayer>
                </a14:imgProps>
              </a:ext>
              <a:ext uri="{28A0092B-C50C-407E-A947-70E740481C1C}">
                <a14:useLocalDpi xmlns:a14="http://schemas.microsoft.com/office/drawing/2010/main" val="0"/>
              </a:ext>
            </a:extLst>
          </a:blip>
          <a:srcRect t="24194" b="24913"/>
          <a:stretch/>
        </p:blipFill>
        <p:spPr bwMode="auto">
          <a:xfrm>
            <a:off x="10890447" y="108178"/>
            <a:ext cx="1197765" cy="609577"/>
          </a:xfrm>
          <a:prstGeom prst="rect">
            <a:avLst/>
          </a:prstGeom>
          <a:noFill/>
          <a:effectLst>
            <a:glow rad="25400">
              <a:srgbClr val="8ECAE6">
                <a:alpha val="31000"/>
              </a:srgbClr>
            </a:glow>
          </a:effectLst>
          <a:extLst>
            <a:ext uri="{909E8E84-426E-40DD-AFC4-6F175D3DCCD1}">
              <a14:hiddenFill xmlns:a14="http://schemas.microsoft.com/office/drawing/2010/main">
                <a:solidFill>
                  <a:srgbClr val="FFFFFF"/>
                </a:solidFill>
              </a14:hiddenFill>
            </a:ext>
          </a:extLst>
        </p:spPr>
      </p:pic>
      <p:pic>
        <p:nvPicPr>
          <p:cNvPr id="4102" name="Picture 6" descr="cryptography/random-numbers.rst at main · pyca/cryptography · GitHub">
            <a:extLst>
              <a:ext uri="{FF2B5EF4-FFF2-40B4-BE49-F238E27FC236}">
                <a16:creationId xmlns:a16="http://schemas.microsoft.com/office/drawing/2014/main" id="{56B52658-1772-32B3-4D5F-29BE2F8C8F2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12115" y="2270245"/>
            <a:ext cx="5722374" cy="2861188"/>
          </a:xfrm>
          <a:prstGeom prst="rect">
            <a:avLst/>
          </a:prstGeom>
          <a:noFill/>
          <a:ln>
            <a:solidFill>
              <a:srgbClr val="023047"/>
            </a:solidFill>
          </a:ln>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5EE2EB2A-5292-FFA8-26E7-BE1DB0FC0A3C}"/>
              </a:ext>
            </a:extLst>
          </p:cNvPr>
          <p:cNvSpPr txBox="1"/>
          <p:nvPr/>
        </p:nvSpPr>
        <p:spPr>
          <a:xfrm>
            <a:off x="8122272" y="3005280"/>
            <a:ext cx="2865768" cy="1122743"/>
          </a:xfrm>
          <a:prstGeom prst="rect">
            <a:avLst/>
          </a:prstGeom>
          <a:noFill/>
        </p:spPr>
        <p:txBody>
          <a:bodyPr wrap="square" rtlCol="0">
            <a:spAutoFit/>
          </a:bodyPr>
          <a:lstStyle/>
          <a:p>
            <a:pPr marL="285750" indent="-285750">
              <a:lnSpc>
                <a:spcPct val="200000"/>
              </a:lnSpc>
              <a:buClr>
                <a:schemeClr val="bg1"/>
              </a:buClr>
              <a:buFont typeface="Wingdings" panose="05000000000000000000" pitchFamily="2" charset="2"/>
              <a:buChar char="v"/>
            </a:pPr>
            <a:r>
              <a:rPr lang="en-US" dirty="0">
                <a:solidFill>
                  <a:srgbClr val="023047"/>
                </a:solidFill>
              </a:rPr>
              <a:t>Encryption Algorithms</a:t>
            </a:r>
          </a:p>
          <a:p>
            <a:pPr marL="285750" indent="-285750">
              <a:lnSpc>
                <a:spcPct val="200000"/>
              </a:lnSpc>
              <a:buClr>
                <a:schemeClr val="bg1"/>
              </a:buClr>
              <a:buFont typeface="Wingdings" panose="05000000000000000000" pitchFamily="2" charset="2"/>
              <a:buChar char="v"/>
            </a:pPr>
            <a:r>
              <a:rPr lang="en-US" dirty="0">
                <a:solidFill>
                  <a:srgbClr val="023047"/>
                </a:solidFill>
              </a:rPr>
              <a:t>X.509 Loader &amp; Unloader</a:t>
            </a:r>
          </a:p>
        </p:txBody>
      </p:sp>
    </p:spTree>
    <p:extLst>
      <p:ext uri="{BB962C8B-B14F-4D97-AF65-F5344CB8AC3E}">
        <p14:creationId xmlns:p14="http://schemas.microsoft.com/office/powerpoint/2010/main" val="35924571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F8A85-B563-45E2-967A-8714968EAF51}"/>
              </a:ext>
            </a:extLst>
          </p:cNvPr>
          <p:cNvSpPr>
            <a:spLocks noGrp="1"/>
          </p:cNvSpPr>
          <p:nvPr>
            <p:ph type="title"/>
          </p:nvPr>
        </p:nvSpPr>
        <p:spPr>
          <a:xfrm>
            <a:off x="1203960" y="205518"/>
            <a:ext cx="9784080" cy="1508760"/>
          </a:xfrm>
        </p:spPr>
        <p:txBody>
          <a:bodyPr/>
          <a:lstStyle/>
          <a:p>
            <a:r>
              <a:rPr lang="en-US" cap="none" dirty="0">
                <a:solidFill>
                  <a:srgbClr val="219EBC"/>
                </a:solidFill>
                <a:latin typeface="High Tower Text" panose="02040502050506030303" pitchFamily="18" charset="0"/>
              </a:rPr>
              <a:t>Implementation</a:t>
            </a:r>
            <a:endParaRPr lang="en-IN" cap="none" dirty="0">
              <a:solidFill>
                <a:srgbClr val="219EBC"/>
              </a:solidFill>
              <a:latin typeface="High Tower Text" panose="02040502050506030303" pitchFamily="18" charset="0"/>
            </a:endParaRPr>
          </a:p>
        </p:txBody>
      </p:sp>
      <p:sp>
        <p:nvSpPr>
          <p:cNvPr id="4" name="Rectangle 3">
            <a:extLst>
              <a:ext uri="{FF2B5EF4-FFF2-40B4-BE49-F238E27FC236}">
                <a16:creationId xmlns:a16="http://schemas.microsoft.com/office/drawing/2014/main" id="{75E0814E-F4C4-4A0F-CD76-6C7497AC8F34}"/>
              </a:ext>
            </a:extLst>
          </p:cNvPr>
          <p:cNvSpPr/>
          <p:nvPr/>
        </p:nvSpPr>
        <p:spPr>
          <a:xfrm>
            <a:off x="0" y="0"/>
            <a:ext cx="806245" cy="6858000"/>
          </a:xfrm>
          <a:prstGeom prst="rect">
            <a:avLst/>
          </a:prstGeom>
          <a:solidFill>
            <a:srgbClr val="219EBC"/>
          </a:solidFill>
          <a:ln>
            <a:solidFill>
              <a:srgbClr val="219E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rgbClr val="7030A0"/>
              </a:solidFill>
            </a:endParaRPr>
          </a:p>
        </p:txBody>
      </p:sp>
      <p:pic>
        <p:nvPicPr>
          <p:cNvPr id="2050" name="Picture 2" descr="Truminds Software Systems | LinkedIn">
            <a:extLst>
              <a:ext uri="{FF2B5EF4-FFF2-40B4-BE49-F238E27FC236}">
                <a16:creationId xmlns:a16="http://schemas.microsoft.com/office/drawing/2014/main" id="{074CEAAD-016E-FE56-B3FF-512C6E5054DE}"/>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28000" b="69500" l="1500" r="97000">
                        <a14:foregroundMark x1="11000" y1="53000" x2="11000" y2="53000"/>
                        <a14:foregroundMark x1="20000" y1="38500" x2="20000" y2="38500"/>
                        <a14:foregroundMark x1="6000" y1="40500" x2="6000" y2="40500"/>
                        <a14:foregroundMark x1="1500" y1="39500" x2="1500" y2="39500"/>
                        <a14:foregroundMark x1="23500" y1="39500" x2="23500" y2="39500"/>
                        <a14:foregroundMark x1="21000" y1="55500" x2="21000" y2="55500"/>
                        <a14:foregroundMark x1="31500" y1="61500" x2="31500" y2="61500"/>
                        <a14:foregroundMark x1="41500" y1="60000" x2="41500" y2="60000"/>
                        <a14:foregroundMark x1="61000" y1="60000" x2="61000" y2="60000"/>
                        <a14:foregroundMark x1="60500" y1="49000" x2="60500" y2="49000"/>
                        <a14:foregroundMark x1="66500" y1="57000" x2="66500" y2="57000"/>
                        <a14:foregroundMark x1="78000" y1="59000" x2="78000" y2="59000"/>
                        <a14:foregroundMark x1="93500" y1="57000" x2="93500" y2="57000"/>
                        <a14:foregroundMark x1="92500" y1="61500" x2="92500" y2="61500"/>
                        <a14:foregroundMark x1="97000" y1="59000" x2="97000" y2="59000"/>
                      </a14:backgroundRemoval>
                    </a14:imgEffect>
                  </a14:imgLayer>
                </a14:imgProps>
              </a:ext>
              <a:ext uri="{28A0092B-C50C-407E-A947-70E740481C1C}">
                <a14:useLocalDpi xmlns:a14="http://schemas.microsoft.com/office/drawing/2010/main" val="0"/>
              </a:ext>
            </a:extLst>
          </a:blip>
          <a:srcRect t="24194" b="24913"/>
          <a:stretch/>
        </p:blipFill>
        <p:spPr bwMode="auto">
          <a:xfrm>
            <a:off x="10890447" y="108178"/>
            <a:ext cx="1197765" cy="609577"/>
          </a:xfrm>
          <a:prstGeom prst="rect">
            <a:avLst/>
          </a:prstGeom>
          <a:noFill/>
          <a:effectLst>
            <a:glow rad="25400">
              <a:srgbClr val="8ECAE6">
                <a:alpha val="31000"/>
              </a:srgbClr>
            </a:glow>
          </a:effectLst>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5EE2EB2A-5292-FFA8-26E7-BE1DB0FC0A3C}"/>
              </a:ext>
            </a:extLst>
          </p:cNvPr>
          <p:cNvSpPr txBox="1"/>
          <p:nvPr/>
        </p:nvSpPr>
        <p:spPr>
          <a:xfrm>
            <a:off x="7724401" y="1720840"/>
            <a:ext cx="3764928" cy="3000821"/>
          </a:xfrm>
          <a:prstGeom prst="rect">
            <a:avLst/>
          </a:prstGeom>
          <a:noFill/>
        </p:spPr>
        <p:txBody>
          <a:bodyPr wrap="square" rtlCol="0">
            <a:spAutoFit/>
          </a:bodyPr>
          <a:lstStyle/>
          <a:p>
            <a:pPr marL="285750" indent="-285750">
              <a:lnSpc>
                <a:spcPct val="200000"/>
              </a:lnSpc>
              <a:buClr>
                <a:schemeClr val="bg1"/>
              </a:buClr>
              <a:buFont typeface="Wingdings" panose="05000000000000000000" pitchFamily="2" charset="2"/>
              <a:buChar char="v"/>
            </a:pPr>
            <a:r>
              <a:rPr lang="en-US" dirty="0">
                <a:solidFill>
                  <a:srgbClr val="023047"/>
                </a:solidFill>
              </a:rPr>
              <a:t>Parses Command Line Arguments</a:t>
            </a:r>
          </a:p>
          <a:p>
            <a:pPr>
              <a:buClr>
                <a:schemeClr val="bg1"/>
              </a:buClr>
            </a:pPr>
            <a:endParaRPr lang="en-US" dirty="0">
              <a:solidFill>
                <a:srgbClr val="023047"/>
              </a:solidFill>
            </a:endParaRPr>
          </a:p>
          <a:p>
            <a:pPr>
              <a:lnSpc>
                <a:spcPct val="150000"/>
              </a:lnSpc>
              <a:buClr>
                <a:schemeClr val="bg1"/>
              </a:buClr>
            </a:pPr>
            <a:r>
              <a:rPr lang="en-US" dirty="0">
                <a:solidFill>
                  <a:srgbClr val="023047"/>
                </a:solidFill>
                <a:latin typeface="Cascadia Code" panose="020B0609020000020004" pitchFamily="49" charset="0"/>
                <a:ea typeface="Cascadia Code" panose="020B0609020000020004" pitchFamily="49" charset="0"/>
                <a:cs typeface="Cascadia Code" panose="020B0609020000020004" pitchFamily="49" charset="0"/>
              </a:rPr>
              <a:t>program.py –x arg1 –y arg2</a:t>
            </a:r>
          </a:p>
          <a:p>
            <a:pPr algn="ctr">
              <a:lnSpc>
                <a:spcPct val="200000"/>
              </a:lnSpc>
              <a:buClr>
                <a:schemeClr val="bg1"/>
              </a:buClr>
            </a:pPr>
            <a:endParaRPr lang="en-US" dirty="0">
              <a:solidFill>
                <a:srgbClr val="023047"/>
              </a:solidFill>
              <a:latin typeface="Consolas" panose="020B0609020204030204" pitchFamily="49" charset="0"/>
            </a:endParaRPr>
          </a:p>
          <a:p>
            <a:pPr lvl="2">
              <a:buClr>
                <a:schemeClr val="bg1"/>
              </a:buClr>
            </a:pPr>
            <a:r>
              <a:rPr lang="en-US" dirty="0" err="1">
                <a:solidFill>
                  <a:srgbClr val="023047"/>
                </a:solidFill>
                <a:latin typeface="Cascadia Code" panose="020B0609020000020004" pitchFamily="49" charset="0"/>
                <a:ea typeface="Cascadia Code" panose="020B0609020000020004" pitchFamily="49" charset="0"/>
                <a:cs typeface="Cascadia Code" panose="020B0609020000020004" pitchFamily="49" charset="0"/>
              </a:rPr>
              <a:t>args</a:t>
            </a:r>
            <a:r>
              <a:rPr lang="en-US" dirty="0">
                <a:solidFill>
                  <a:srgbClr val="023047"/>
                </a:solidFill>
                <a:latin typeface="Cascadia Code" panose="020B0609020000020004" pitchFamily="49" charset="0"/>
                <a:ea typeface="Cascadia Code" panose="020B0609020000020004" pitchFamily="49" charset="0"/>
                <a:cs typeface="Cascadia Code" panose="020B0609020000020004" pitchFamily="49" charset="0"/>
              </a:rPr>
              <a:t> = {</a:t>
            </a:r>
          </a:p>
          <a:p>
            <a:pPr lvl="2">
              <a:buClr>
                <a:schemeClr val="bg1"/>
              </a:buClr>
            </a:pPr>
            <a:r>
              <a:rPr lang="en-US" dirty="0">
                <a:solidFill>
                  <a:srgbClr val="023047"/>
                </a:solidFill>
                <a:latin typeface="Cascadia Code" panose="020B0609020000020004" pitchFamily="49" charset="0"/>
                <a:ea typeface="Cascadia Code" panose="020B0609020000020004" pitchFamily="49" charset="0"/>
                <a:cs typeface="Cascadia Code" panose="020B0609020000020004" pitchFamily="49" charset="0"/>
              </a:rPr>
              <a:t>    “x”: “arg1”,</a:t>
            </a:r>
          </a:p>
          <a:p>
            <a:pPr lvl="2">
              <a:buClr>
                <a:schemeClr val="bg1"/>
              </a:buClr>
            </a:pPr>
            <a:r>
              <a:rPr lang="en-US" dirty="0">
                <a:solidFill>
                  <a:srgbClr val="023047"/>
                </a:solidFill>
                <a:latin typeface="Cascadia Code" panose="020B0609020000020004" pitchFamily="49" charset="0"/>
                <a:ea typeface="Cascadia Code" panose="020B0609020000020004" pitchFamily="49" charset="0"/>
                <a:cs typeface="Cascadia Code" panose="020B0609020000020004" pitchFamily="49" charset="0"/>
              </a:rPr>
              <a:t>    “y”: “arg2”</a:t>
            </a:r>
          </a:p>
          <a:p>
            <a:pPr lvl="2">
              <a:buClr>
                <a:schemeClr val="bg1"/>
              </a:buClr>
            </a:pPr>
            <a:r>
              <a:rPr lang="en-US" dirty="0">
                <a:solidFill>
                  <a:srgbClr val="023047"/>
                </a:solidFill>
                <a:latin typeface="Cascadia Code" panose="020B0609020000020004" pitchFamily="49" charset="0"/>
                <a:ea typeface="Cascadia Code" panose="020B0609020000020004" pitchFamily="49" charset="0"/>
                <a:cs typeface="Cascadia Code" panose="020B0609020000020004" pitchFamily="49" charset="0"/>
              </a:rPr>
              <a:t>}</a:t>
            </a:r>
          </a:p>
        </p:txBody>
      </p:sp>
      <p:pic>
        <p:nvPicPr>
          <p:cNvPr id="5122" name="Picture 2" descr="How to Use the Argparse Module in Python | VirtualZero Blog">
            <a:extLst>
              <a:ext uri="{FF2B5EF4-FFF2-40B4-BE49-F238E27FC236}">
                <a16:creationId xmlns:a16="http://schemas.microsoft.com/office/drawing/2014/main" id="{0ACD95DC-80FD-B2FC-C59F-55D51FDE86E9}"/>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2162" r="14286"/>
          <a:stretch/>
        </p:blipFill>
        <p:spPr bwMode="auto">
          <a:xfrm>
            <a:off x="1288025" y="2700643"/>
            <a:ext cx="4807975" cy="1945727"/>
          </a:xfrm>
          <a:prstGeom prst="rect">
            <a:avLst/>
          </a:prstGeom>
          <a:noFill/>
          <a:effectLst>
            <a:softEdge rad="63500"/>
          </a:effectLst>
          <a:extLst>
            <a:ext uri="{909E8E84-426E-40DD-AFC4-6F175D3DCCD1}">
              <a14:hiddenFill xmlns:a14="http://schemas.microsoft.com/office/drawing/2010/main">
                <a:solidFill>
                  <a:srgbClr val="FFFFFF"/>
                </a:solidFill>
              </a14:hiddenFill>
            </a:ext>
          </a:extLst>
        </p:spPr>
      </p:pic>
      <p:sp>
        <p:nvSpPr>
          <p:cNvPr id="3" name="Arrow: Down 2">
            <a:extLst>
              <a:ext uri="{FF2B5EF4-FFF2-40B4-BE49-F238E27FC236}">
                <a16:creationId xmlns:a16="http://schemas.microsoft.com/office/drawing/2014/main" id="{053EBB98-DAEF-0525-AABA-96AE66B9152E}"/>
              </a:ext>
            </a:extLst>
          </p:cNvPr>
          <p:cNvSpPr/>
          <p:nvPr/>
        </p:nvSpPr>
        <p:spPr>
          <a:xfrm>
            <a:off x="9399639" y="3097162"/>
            <a:ext cx="442452" cy="331838"/>
          </a:xfrm>
          <a:prstGeom prst="downArrow">
            <a:avLst/>
          </a:prstGeom>
          <a:solidFill>
            <a:srgbClr val="FFB703"/>
          </a:solidFill>
          <a:ln>
            <a:solidFill>
              <a:srgbClr val="FFB70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2F83EEEA-FE0F-9C56-F022-28C5A22D927A}"/>
              </a:ext>
            </a:extLst>
          </p:cNvPr>
          <p:cNvSpPr/>
          <p:nvPr/>
        </p:nvSpPr>
        <p:spPr>
          <a:xfrm>
            <a:off x="7580670" y="2526890"/>
            <a:ext cx="4001729" cy="2399071"/>
          </a:xfrm>
          <a:prstGeom prst="rect">
            <a:avLst/>
          </a:prstGeom>
          <a:noFill/>
          <a:ln w="38100">
            <a:solidFill>
              <a:srgbClr val="219E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827580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F8A85-B563-45E2-967A-8714968EAF51}"/>
              </a:ext>
            </a:extLst>
          </p:cNvPr>
          <p:cNvSpPr>
            <a:spLocks noGrp="1"/>
          </p:cNvSpPr>
          <p:nvPr>
            <p:ph type="title"/>
          </p:nvPr>
        </p:nvSpPr>
        <p:spPr>
          <a:xfrm>
            <a:off x="1203960" y="205518"/>
            <a:ext cx="9784080" cy="1508760"/>
          </a:xfrm>
        </p:spPr>
        <p:txBody>
          <a:bodyPr/>
          <a:lstStyle/>
          <a:p>
            <a:r>
              <a:rPr lang="en-US" cap="none" dirty="0">
                <a:solidFill>
                  <a:srgbClr val="219EBC"/>
                </a:solidFill>
                <a:latin typeface="High Tower Text" panose="02040502050506030303" pitchFamily="18" charset="0"/>
              </a:rPr>
              <a:t>Implementation</a:t>
            </a:r>
            <a:endParaRPr lang="en-IN" cap="none" dirty="0">
              <a:solidFill>
                <a:srgbClr val="219EBC"/>
              </a:solidFill>
              <a:latin typeface="High Tower Text" panose="02040502050506030303" pitchFamily="18" charset="0"/>
            </a:endParaRPr>
          </a:p>
        </p:txBody>
      </p:sp>
      <p:sp>
        <p:nvSpPr>
          <p:cNvPr id="4" name="Rectangle 3">
            <a:extLst>
              <a:ext uri="{FF2B5EF4-FFF2-40B4-BE49-F238E27FC236}">
                <a16:creationId xmlns:a16="http://schemas.microsoft.com/office/drawing/2014/main" id="{75E0814E-F4C4-4A0F-CD76-6C7497AC8F34}"/>
              </a:ext>
            </a:extLst>
          </p:cNvPr>
          <p:cNvSpPr/>
          <p:nvPr/>
        </p:nvSpPr>
        <p:spPr>
          <a:xfrm>
            <a:off x="0" y="0"/>
            <a:ext cx="806245" cy="6858000"/>
          </a:xfrm>
          <a:prstGeom prst="rect">
            <a:avLst/>
          </a:prstGeom>
          <a:solidFill>
            <a:srgbClr val="219EBC"/>
          </a:solidFill>
          <a:ln>
            <a:solidFill>
              <a:srgbClr val="219E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rgbClr val="7030A0"/>
              </a:solidFill>
            </a:endParaRPr>
          </a:p>
        </p:txBody>
      </p:sp>
      <p:pic>
        <p:nvPicPr>
          <p:cNvPr id="2050" name="Picture 2" descr="Truminds Software Systems | LinkedIn">
            <a:extLst>
              <a:ext uri="{FF2B5EF4-FFF2-40B4-BE49-F238E27FC236}">
                <a16:creationId xmlns:a16="http://schemas.microsoft.com/office/drawing/2014/main" id="{074CEAAD-016E-FE56-B3FF-512C6E5054DE}"/>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28000" b="69500" l="1500" r="97000">
                        <a14:foregroundMark x1="11000" y1="53000" x2="11000" y2="53000"/>
                        <a14:foregroundMark x1="20000" y1="38500" x2="20000" y2="38500"/>
                        <a14:foregroundMark x1="6000" y1="40500" x2="6000" y2="40500"/>
                        <a14:foregroundMark x1="1500" y1="39500" x2="1500" y2="39500"/>
                        <a14:foregroundMark x1="23500" y1="39500" x2="23500" y2="39500"/>
                        <a14:foregroundMark x1="21000" y1="55500" x2="21000" y2="55500"/>
                        <a14:foregroundMark x1="31500" y1="61500" x2="31500" y2="61500"/>
                        <a14:foregroundMark x1="41500" y1="60000" x2="41500" y2="60000"/>
                        <a14:foregroundMark x1="61000" y1="60000" x2="61000" y2="60000"/>
                        <a14:foregroundMark x1="60500" y1="49000" x2="60500" y2="49000"/>
                        <a14:foregroundMark x1="66500" y1="57000" x2="66500" y2="57000"/>
                        <a14:foregroundMark x1="78000" y1="59000" x2="78000" y2="59000"/>
                        <a14:foregroundMark x1="93500" y1="57000" x2="93500" y2="57000"/>
                        <a14:foregroundMark x1="92500" y1="61500" x2="92500" y2="61500"/>
                        <a14:foregroundMark x1="97000" y1="59000" x2="97000" y2="59000"/>
                      </a14:backgroundRemoval>
                    </a14:imgEffect>
                  </a14:imgLayer>
                </a14:imgProps>
              </a:ext>
              <a:ext uri="{28A0092B-C50C-407E-A947-70E740481C1C}">
                <a14:useLocalDpi xmlns:a14="http://schemas.microsoft.com/office/drawing/2010/main" val="0"/>
              </a:ext>
            </a:extLst>
          </a:blip>
          <a:srcRect t="24194" b="24913"/>
          <a:stretch/>
        </p:blipFill>
        <p:spPr bwMode="auto">
          <a:xfrm>
            <a:off x="10890447" y="108178"/>
            <a:ext cx="1197765" cy="609577"/>
          </a:xfrm>
          <a:prstGeom prst="rect">
            <a:avLst/>
          </a:prstGeom>
          <a:noFill/>
          <a:effectLst>
            <a:glow rad="25400">
              <a:srgbClr val="8ECAE6">
                <a:alpha val="31000"/>
              </a:srgbClr>
            </a:glow>
          </a:effectLst>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5EE2EB2A-5292-FFA8-26E7-BE1DB0FC0A3C}"/>
              </a:ext>
            </a:extLst>
          </p:cNvPr>
          <p:cNvSpPr txBox="1"/>
          <p:nvPr/>
        </p:nvSpPr>
        <p:spPr>
          <a:xfrm>
            <a:off x="7724400" y="2627936"/>
            <a:ext cx="4231625" cy="2031325"/>
          </a:xfrm>
          <a:prstGeom prst="rect">
            <a:avLst/>
          </a:prstGeom>
          <a:noFill/>
        </p:spPr>
        <p:txBody>
          <a:bodyPr wrap="square" rtlCol="0">
            <a:spAutoFit/>
          </a:bodyPr>
          <a:lstStyle/>
          <a:p>
            <a:pPr marL="285750" indent="-285750">
              <a:lnSpc>
                <a:spcPct val="200000"/>
              </a:lnSpc>
              <a:buClr>
                <a:schemeClr val="bg1"/>
              </a:buClr>
              <a:buFont typeface="Wingdings" panose="05000000000000000000" pitchFamily="2" charset="2"/>
              <a:buChar char="v"/>
            </a:pPr>
            <a:r>
              <a:rPr lang="en-US" dirty="0">
                <a:solidFill>
                  <a:srgbClr val="023047"/>
                </a:solidFill>
              </a:rPr>
              <a:t>Cross-platform graphics library</a:t>
            </a:r>
          </a:p>
          <a:p>
            <a:pPr marL="285750" indent="-285750">
              <a:lnSpc>
                <a:spcPct val="200000"/>
              </a:lnSpc>
              <a:buClr>
                <a:schemeClr val="bg1"/>
              </a:buClr>
              <a:buFont typeface="Wingdings" panose="05000000000000000000" pitchFamily="2" charset="2"/>
              <a:buChar char="v"/>
            </a:pPr>
            <a:r>
              <a:rPr lang="en-US" dirty="0">
                <a:solidFill>
                  <a:srgbClr val="023047"/>
                </a:solidFill>
              </a:rPr>
              <a:t>Separates UI from behavior</a:t>
            </a:r>
          </a:p>
          <a:p>
            <a:pPr marL="285750" indent="-285750">
              <a:lnSpc>
                <a:spcPct val="200000"/>
              </a:lnSpc>
              <a:buClr>
                <a:schemeClr val="bg1"/>
              </a:buClr>
              <a:buFont typeface="Wingdings" panose="05000000000000000000" pitchFamily="2" charset="2"/>
              <a:buChar char="v"/>
            </a:pPr>
            <a:r>
              <a:rPr lang="en-US" dirty="0">
                <a:solidFill>
                  <a:srgbClr val="023047"/>
                </a:solidFill>
              </a:rPr>
              <a:t>Both UI and behavior written in python</a:t>
            </a:r>
          </a:p>
          <a:p>
            <a:pPr>
              <a:buClr>
                <a:schemeClr val="bg1"/>
              </a:buClr>
            </a:pPr>
            <a:endParaRPr lang="en-US" dirty="0">
              <a:solidFill>
                <a:srgbClr val="023047"/>
              </a:solidFill>
            </a:endParaRPr>
          </a:p>
        </p:txBody>
      </p:sp>
      <p:pic>
        <p:nvPicPr>
          <p:cNvPr id="6146" name="Picture 2" descr="GitHub - PySimpleGUI/PySimpleGUI: Launched in 2018. It's 2022 and  PySimpleGUI is actively developed &amp; supported. Create complex windows  simply. Supports tkinter, Qt, WxPython, Remi (in browser). Create GUI  applications trivially with a">
            <a:extLst>
              <a:ext uri="{FF2B5EF4-FFF2-40B4-BE49-F238E27FC236}">
                <a16:creationId xmlns:a16="http://schemas.microsoft.com/office/drawing/2014/main" id="{68C26504-056D-DBD4-E65E-A1C15A7D7DA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04631" y="2526890"/>
            <a:ext cx="5095875" cy="2171700"/>
          </a:xfrm>
          <a:prstGeom prst="rect">
            <a:avLst/>
          </a:prstGeom>
          <a:noFill/>
          <a:ln w="28575">
            <a:solidFill>
              <a:srgbClr val="023047"/>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43703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F8A85-B563-45E2-967A-8714968EAF51}"/>
              </a:ext>
            </a:extLst>
          </p:cNvPr>
          <p:cNvSpPr>
            <a:spLocks noGrp="1"/>
          </p:cNvSpPr>
          <p:nvPr>
            <p:ph type="title"/>
          </p:nvPr>
        </p:nvSpPr>
        <p:spPr>
          <a:xfrm>
            <a:off x="1203960" y="205518"/>
            <a:ext cx="9784080" cy="1508760"/>
          </a:xfrm>
        </p:spPr>
        <p:txBody>
          <a:bodyPr/>
          <a:lstStyle/>
          <a:p>
            <a:r>
              <a:rPr lang="en-US" cap="none" dirty="0">
                <a:solidFill>
                  <a:srgbClr val="00B050"/>
                </a:solidFill>
                <a:latin typeface="High Tower Text" panose="02040502050506030303" pitchFamily="18" charset="0"/>
              </a:rPr>
              <a:t>Command-Line Interface</a:t>
            </a:r>
            <a:endParaRPr lang="en-IN" cap="none" dirty="0">
              <a:solidFill>
                <a:srgbClr val="00B050"/>
              </a:solidFill>
              <a:latin typeface="High Tower Text" panose="02040502050506030303" pitchFamily="18" charset="0"/>
            </a:endParaRPr>
          </a:p>
        </p:txBody>
      </p:sp>
      <p:sp>
        <p:nvSpPr>
          <p:cNvPr id="4" name="Rectangle 3">
            <a:extLst>
              <a:ext uri="{FF2B5EF4-FFF2-40B4-BE49-F238E27FC236}">
                <a16:creationId xmlns:a16="http://schemas.microsoft.com/office/drawing/2014/main" id="{75E0814E-F4C4-4A0F-CD76-6C7497AC8F34}"/>
              </a:ext>
            </a:extLst>
          </p:cNvPr>
          <p:cNvSpPr/>
          <p:nvPr/>
        </p:nvSpPr>
        <p:spPr>
          <a:xfrm>
            <a:off x="0" y="0"/>
            <a:ext cx="806245" cy="6858000"/>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rgbClr val="7030A0"/>
              </a:solidFill>
            </a:endParaRPr>
          </a:p>
        </p:txBody>
      </p:sp>
      <p:pic>
        <p:nvPicPr>
          <p:cNvPr id="2050" name="Picture 2" descr="Truminds Software Systems | LinkedIn">
            <a:extLst>
              <a:ext uri="{FF2B5EF4-FFF2-40B4-BE49-F238E27FC236}">
                <a16:creationId xmlns:a16="http://schemas.microsoft.com/office/drawing/2014/main" id="{074CEAAD-016E-FE56-B3FF-512C6E5054DE}"/>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28000" b="69500" l="1500" r="97000">
                        <a14:foregroundMark x1="11000" y1="53000" x2="11000" y2="53000"/>
                        <a14:foregroundMark x1="20000" y1="38500" x2="20000" y2="38500"/>
                        <a14:foregroundMark x1="6000" y1="40500" x2="6000" y2="40500"/>
                        <a14:foregroundMark x1="1500" y1="39500" x2="1500" y2="39500"/>
                        <a14:foregroundMark x1="23500" y1="39500" x2="23500" y2="39500"/>
                        <a14:foregroundMark x1="21000" y1="55500" x2="21000" y2="55500"/>
                        <a14:foregroundMark x1="31500" y1="61500" x2="31500" y2="61500"/>
                        <a14:foregroundMark x1="41500" y1="60000" x2="41500" y2="60000"/>
                        <a14:foregroundMark x1="61000" y1="60000" x2="61000" y2="60000"/>
                        <a14:foregroundMark x1="60500" y1="49000" x2="60500" y2="49000"/>
                        <a14:foregroundMark x1="66500" y1="57000" x2="66500" y2="57000"/>
                        <a14:foregroundMark x1="78000" y1="59000" x2="78000" y2="59000"/>
                        <a14:foregroundMark x1="93500" y1="57000" x2="93500" y2="57000"/>
                        <a14:foregroundMark x1="92500" y1="61500" x2="92500" y2="61500"/>
                        <a14:foregroundMark x1="97000" y1="59000" x2="97000" y2="59000"/>
                      </a14:backgroundRemoval>
                    </a14:imgEffect>
                  </a14:imgLayer>
                </a14:imgProps>
              </a:ext>
              <a:ext uri="{28A0092B-C50C-407E-A947-70E740481C1C}">
                <a14:useLocalDpi xmlns:a14="http://schemas.microsoft.com/office/drawing/2010/main" val="0"/>
              </a:ext>
            </a:extLst>
          </a:blip>
          <a:srcRect t="24194" b="24913"/>
          <a:stretch/>
        </p:blipFill>
        <p:spPr bwMode="auto">
          <a:xfrm>
            <a:off x="10890447" y="108178"/>
            <a:ext cx="1197765" cy="609577"/>
          </a:xfrm>
          <a:prstGeom prst="rect">
            <a:avLst/>
          </a:prstGeom>
          <a:noFill/>
          <a:effectLst>
            <a:glow rad="25400">
              <a:srgbClr val="8ECAE6">
                <a:alpha val="31000"/>
              </a:srgbClr>
            </a:glow>
          </a:effectLst>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7FCF4F75-B6CE-99AC-BAF3-BA503C7016B5}"/>
              </a:ext>
            </a:extLst>
          </p:cNvPr>
          <p:cNvPicPr>
            <a:picLocks noChangeAspect="1"/>
          </p:cNvPicPr>
          <p:nvPr/>
        </p:nvPicPr>
        <p:blipFill>
          <a:blip r:embed="rId5"/>
          <a:stretch>
            <a:fillRect/>
          </a:stretch>
        </p:blipFill>
        <p:spPr>
          <a:xfrm>
            <a:off x="2330245" y="1541336"/>
            <a:ext cx="7881251" cy="4682483"/>
          </a:xfrm>
          <a:prstGeom prst="rect">
            <a:avLst/>
          </a:prstGeom>
          <a:ln>
            <a:solidFill>
              <a:srgbClr val="002060"/>
            </a:solidFill>
          </a:ln>
        </p:spPr>
      </p:pic>
    </p:spTree>
    <p:extLst>
      <p:ext uri="{BB962C8B-B14F-4D97-AF65-F5344CB8AC3E}">
        <p14:creationId xmlns:p14="http://schemas.microsoft.com/office/powerpoint/2010/main" val="6306132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F8A85-B563-45E2-967A-8714968EAF51}"/>
              </a:ext>
            </a:extLst>
          </p:cNvPr>
          <p:cNvSpPr>
            <a:spLocks noGrp="1"/>
          </p:cNvSpPr>
          <p:nvPr>
            <p:ph type="title"/>
          </p:nvPr>
        </p:nvSpPr>
        <p:spPr>
          <a:xfrm>
            <a:off x="1203960" y="205518"/>
            <a:ext cx="9784080" cy="1508760"/>
          </a:xfrm>
        </p:spPr>
        <p:txBody>
          <a:bodyPr/>
          <a:lstStyle/>
          <a:p>
            <a:r>
              <a:rPr lang="en-US" cap="none" dirty="0">
                <a:solidFill>
                  <a:srgbClr val="00B050"/>
                </a:solidFill>
                <a:latin typeface="High Tower Text" panose="02040502050506030303" pitchFamily="18" charset="0"/>
              </a:rPr>
              <a:t>Command-Line Interface</a:t>
            </a:r>
            <a:endParaRPr lang="en-IN" cap="none" dirty="0">
              <a:solidFill>
                <a:srgbClr val="00B050"/>
              </a:solidFill>
              <a:latin typeface="High Tower Text" panose="02040502050506030303" pitchFamily="18" charset="0"/>
            </a:endParaRPr>
          </a:p>
        </p:txBody>
      </p:sp>
      <p:sp>
        <p:nvSpPr>
          <p:cNvPr id="4" name="Rectangle 3">
            <a:extLst>
              <a:ext uri="{FF2B5EF4-FFF2-40B4-BE49-F238E27FC236}">
                <a16:creationId xmlns:a16="http://schemas.microsoft.com/office/drawing/2014/main" id="{75E0814E-F4C4-4A0F-CD76-6C7497AC8F34}"/>
              </a:ext>
            </a:extLst>
          </p:cNvPr>
          <p:cNvSpPr/>
          <p:nvPr/>
        </p:nvSpPr>
        <p:spPr>
          <a:xfrm>
            <a:off x="0" y="0"/>
            <a:ext cx="806245" cy="6858000"/>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rgbClr val="7030A0"/>
              </a:solidFill>
            </a:endParaRPr>
          </a:p>
        </p:txBody>
      </p:sp>
      <p:pic>
        <p:nvPicPr>
          <p:cNvPr id="2050" name="Picture 2" descr="Truminds Software Systems | LinkedIn">
            <a:extLst>
              <a:ext uri="{FF2B5EF4-FFF2-40B4-BE49-F238E27FC236}">
                <a16:creationId xmlns:a16="http://schemas.microsoft.com/office/drawing/2014/main" id="{074CEAAD-016E-FE56-B3FF-512C6E5054DE}"/>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28000" b="69500" l="1500" r="97000">
                        <a14:foregroundMark x1="11000" y1="53000" x2="11000" y2="53000"/>
                        <a14:foregroundMark x1="20000" y1="38500" x2="20000" y2="38500"/>
                        <a14:foregroundMark x1="6000" y1="40500" x2="6000" y2="40500"/>
                        <a14:foregroundMark x1="1500" y1="39500" x2="1500" y2="39500"/>
                        <a14:foregroundMark x1="23500" y1="39500" x2="23500" y2="39500"/>
                        <a14:foregroundMark x1="21000" y1="55500" x2="21000" y2="55500"/>
                        <a14:foregroundMark x1="31500" y1="61500" x2="31500" y2="61500"/>
                        <a14:foregroundMark x1="41500" y1="60000" x2="41500" y2="60000"/>
                        <a14:foregroundMark x1="61000" y1="60000" x2="61000" y2="60000"/>
                        <a14:foregroundMark x1="60500" y1="49000" x2="60500" y2="49000"/>
                        <a14:foregroundMark x1="66500" y1="57000" x2="66500" y2="57000"/>
                        <a14:foregroundMark x1="78000" y1="59000" x2="78000" y2="59000"/>
                        <a14:foregroundMark x1="93500" y1="57000" x2="93500" y2="57000"/>
                        <a14:foregroundMark x1="92500" y1="61500" x2="92500" y2="61500"/>
                        <a14:foregroundMark x1="97000" y1="59000" x2="97000" y2="59000"/>
                      </a14:backgroundRemoval>
                    </a14:imgEffect>
                  </a14:imgLayer>
                </a14:imgProps>
              </a:ext>
              <a:ext uri="{28A0092B-C50C-407E-A947-70E740481C1C}">
                <a14:useLocalDpi xmlns:a14="http://schemas.microsoft.com/office/drawing/2010/main" val="0"/>
              </a:ext>
            </a:extLst>
          </a:blip>
          <a:srcRect t="24194" b="24913"/>
          <a:stretch/>
        </p:blipFill>
        <p:spPr bwMode="auto">
          <a:xfrm>
            <a:off x="10890447" y="108178"/>
            <a:ext cx="1197765" cy="609577"/>
          </a:xfrm>
          <a:prstGeom prst="rect">
            <a:avLst/>
          </a:prstGeom>
          <a:noFill/>
          <a:effectLst>
            <a:glow rad="25400">
              <a:srgbClr val="8ECAE6">
                <a:alpha val="31000"/>
              </a:srgbClr>
            </a:glow>
          </a:effectLst>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B4F9F825-2B7E-5BB5-AAC3-E79553FB2132}"/>
              </a:ext>
            </a:extLst>
          </p:cNvPr>
          <p:cNvPicPr>
            <a:picLocks noChangeAspect="1"/>
          </p:cNvPicPr>
          <p:nvPr/>
        </p:nvPicPr>
        <p:blipFill>
          <a:blip r:embed="rId5"/>
          <a:stretch>
            <a:fillRect/>
          </a:stretch>
        </p:blipFill>
        <p:spPr>
          <a:xfrm>
            <a:off x="2379406" y="1364037"/>
            <a:ext cx="7433188" cy="4975500"/>
          </a:xfrm>
          <a:prstGeom prst="rect">
            <a:avLst/>
          </a:prstGeom>
          <a:ln>
            <a:solidFill>
              <a:srgbClr val="002060"/>
            </a:solidFill>
          </a:ln>
        </p:spPr>
      </p:pic>
    </p:spTree>
    <p:extLst>
      <p:ext uri="{BB962C8B-B14F-4D97-AF65-F5344CB8AC3E}">
        <p14:creationId xmlns:p14="http://schemas.microsoft.com/office/powerpoint/2010/main" val="273817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F8A85-B563-45E2-967A-8714968EAF51}"/>
              </a:ext>
            </a:extLst>
          </p:cNvPr>
          <p:cNvSpPr>
            <a:spLocks noGrp="1"/>
          </p:cNvSpPr>
          <p:nvPr>
            <p:ph type="title"/>
          </p:nvPr>
        </p:nvSpPr>
        <p:spPr>
          <a:xfrm>
            <a:off x="1203960" y="205518"/>
            <a:ext cx="9784080" cy="1508760"/>
          </a:xfrm>
        </p:spPr>
        <p:txBody>
          <a:bodyPr/>
          <a:lstStyle/>
          <a:p>
            <a:r>
              <a:rPr lang="en-US" cap="none" dirty="0">
                <a:solidFill>
                  <a:srgbClr val="00B050"/>
                </a:solidFill>
                <a:latin typeface="High Tower Text" panose="02040502050506030303" pitchFamily="18" charset="0"/>
              </a:rPr>
              <a:t>Command-Line Interface</a:t>
            </a:r>
            <a:endParaRPr lang="en-IN" cap="none" dirty="0">
              <a:solidFill>
                <a:srgbClr val="00B050"/>
              </a:solidFill>
              <a:latin typeface="High Tower Text" panose="02040502050506030303" pitchFamily="18" charset="0"/>
            </a:endParaRPr>
          </a:p>
        </p:txBody>
      </p:sp>
      <p:sp>
        <p:nvSpPr>
          <p:cNvPr id="4" name="Rectangle 3">
            <a:extLst>
              <a:ext uri="{FF2B5EF4-FFF2-40B4-BE49-F238E27FC236}">
                <a16:creationId xmlns:a16="http://schemas.microsoft.com/office/drawing/2014/main" id="{75E0814E-F4C4-4A0F-CD76-6C7497AC8F34}"/>
              </a:ext>
            </a:extLst>
          </p:cNvPr>
          <p:cNvSpPr/>
          <p:nvPr/>
        </p:nvSpPr>
        <p:spPr>
          <a:xfrm>
            <a:off x="0" y="0"/>
            <a:ext cx="806245" cy="6858000"/>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rgbClr val="7030A0"/>
              </a:solidFill>
            </a:endParaRPr>
          </a:p>
        </p:txBody>
      </p:sp>
      <p:pic>
        <p:nvPicPr>
          <p:cNvPr id="2050" name="Picture 2" descr="Truminds Software Systems | LinkedIn">
            <a:extLst>
              <a:ext uri="{FF2B5EF4-FFF2-40B4-BE49-F238E27FC236}">
                <a16:creationId xmlns:a16="http://schemas.microsoft.com/office/drawing/2014/main" id="{074CEAAD-016E-FE56-B3FF-512C6E5054DE}"/>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28000" b="69500" l="1500" r="97000">
                        <a14:foregroundMark x1="11000" y1="53000" x2="11000" y2="53000"/>
                        <a14:foregroundMark x1="20000" y1="38500" x2="20000" y2="38500"/>
                        <a14:foregroundMark x1="6000" y1="40500" x2="6000" y2="40500"/>
                        <a14:foregroundMark x1="1500" y1="39500" x2="1500" y2="39500"/>
                        <a14:foregroundMark x1="23500" y1="39500" x2="23500" y2="39500"/>
                        <a14:foregroundMark x1="21000" y1="55500" x2="21000" y2="55500"/>
                        <a14:foregroundMark x1="31500" y1="61500" x2="31500" y2="61500"/>
                        <a14:foregroundMark x1="41500" y1="60000" x2="41500" y2="60000"/>
                        <a14:foregroundMark x1="61000" y1="60000" x2="61000" y2="60000"/>
                        <a14:foregroundMark x1="60500" y1="49000" x2="60500" y2="49000"/>
                        <a14:foregroundMark x1="66500" y1="57000" x2="66500" y2="57000"/>
                        <a14:foregroundMark x1="78000" y1="59000" x2="78000" y2="59000"/>
                        <a14:foregroundMark x1="93500" y1="57000" x2="93500" y2="57000"/>
                        <a14:foregroundMark x1="92500" y1="61500" x2="92500" y2="61500"/>
                        <a14:foregroundMark x1="97000" y1="59000" x2="97000" y2="59000"/>
                      </a14:backgroundRemoval>
                    </a14:imgEffect>
                  </a14:imgLayer>
                </a14:imgProps>
              </a:ext>
              <a:ext uri="{28A0092B-C50C-407E-A947-70E740481C1C}">
                <a14:useLocalDpi xmlns:a14="http://schemas.microsoft.com/office/drawing/2010/main" val="0"/>
              </a:ext>
            </a:extLst>
          </a:blip>
          <a:srcRect t="24194" b="24913"/>
          <a:stretch/>
        </p:blipFill>
        <p:spPr bwMode="auto">
          <a:xfrm>
            <a:off x="10890447" y="108178"/>
            <a:ext cx="1197765" cy="609577"/>
          </a:xfrm>
          <a:prstGeom prst="rect">
            <a:avLst/>
          </a:prstGeom>
          <a:noFill/>
          <a:effectLst>
            <a:glow rad="25400">
              <a:srgbClr val="8ECAE6">
                <a:alpha val="31000"/>
              </a:srgbClr>
            </a:glow>
          </a:effectLst>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FE3B8A03-C0C5-D677-6950-3102AB648838}"/>
              </a:ext>
            </a:extLst>
          </p:cNvPr>
          <p:cNvPicPr>
            <a:picLocks noChangeAspect="1"/>
          </p:cNvPicPr>
          <p:nvPr/>
        </p:nvPicPr>
        <p:blipFill>
          <a:blip r:embed="rId5"/>
          <a:stretch>
            <a:fillRect/>
          </a:stretch>
        </p:blipFill>
        <p:spPr>
          <a:xfrm>
            <a:off x="1595079" y="2042571"/>
            <a:ext cx="9392961" cy="3362794"/>
          </a:xfrm>
          <a:prstGeom prst="rect">
            <a:avLst/>
          </a:prstGeom>
          <a:ln>
            <a:solidFill>
              <a:srgbClr val="002060"/>
            </a:solidFill>
          </a:ln>
        </p:spPr>
      </p:pic>
    </p:spTree>
    <p:extLst>
      <p:ext uri="{BB962C8B-B14F-4D97-AF65-F5344CB8AC3E}">
        <p14:creationId xmlns:p14="http://schemas.microsoft.com/office/powerpoint/2010/main" val="36066723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F8A85-B563-45E2-967A-8714968EAF51}"/>
              </a:ext>
            </a:extLst>
          </p:cNvPr>
          <p:cNvSpPr>
            <a:spLocks noGrp="1"/>
          </p:cNvSpPr>
          <p:nvPr>
            <p:ph type="title"/>
          </p:nvPr>
        </p:nvSpPr>
        <p:spPr>
          <a:xfrm>
            <a:off x="1203960" y="205518"/>
            <a:ext cx="9784080" cy="1508760"/>
          </a:xfrm>
        </p:spPr>
        <p:txBody>
          <a:bodyPr/>
          <a:lstStyle/>
          <a:p>
            <a:r>
              <a:rPr lang="en-US" cap="none" dirty="0">
                <a:latin typeface="High Tower Text" panose="02040502050506030303" pitchFamily="18" charset="0"/>
              </a:rPr>
              <a:t>Graphical User Interface</a:t>
            </a:r>
            <a:endParaRPr lang="en-IN" cap="none" dirty="0">
              <a:latin typeface="High Tower Text" panose="02040502050506030303" pitchFamily="18" charset="0"/>
            </a:endParaRPr>
          </a:p>
        </p:txBody>
      </p:sp>
      <p:sp>
        <p:nvSpPr>
          <p:cNvPr id="4" name="Rectangle 3">
            <a:extLst>
              <a:ext uri="{FF2B5EF4-FFF2-40B4-BE49-F238E27FC236}">
                <a16:creationId xmlns:a16="http://schemas.microsoft.com/office/drawing/2014/main" id="{75E0814E-F4C4-4A0F-CD76-6C7497AC8F34}"/>
              </a:ext>
            </a:extLst>
          </p:cNvPr>
          <p:cNvSpPr/>
          <p:nvPr/>
        </p:nvSpPr>
        <p:spPr>
          <a:xfrm>
            <a:off x="0" y="0"/>
            <a:ext cx="806245" cy="6858000"/>
          </a:xfrm>
          <a:prstGeom prst="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rgbClr val="7030A0"/>
              </a:solidFill>
            </a:endParaRPr>
          </a:p>
        </p:txBody>
      </p:sp>
      <p:pic>
        <p:nvPicPr>
          <p:cNvPr id="2050" name="Picture 2" descr="Truminds Software Systems | LinkedIn">
            <a:extLst>
              <a:ext uri="{FF2B5EF4-FFF2-40B4-BE49-F238E27FC236}">
                <a16:creationId xmlns:a16="http://schemas.microsoft.com/office/drawing/2014/main" id="{074CEAAD-016E-FE56-B3FF-512C6E5054DE}"/>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28000" b="69500" l="1500" r="97000">
                        <a14:foregroundMark x1="11000" y1="53000" x2="11000" y2="53000"/>
                        <a14:foregroundMark x1="20000" y1="38500" x2="20000" y2="38500"/>
                        <a14:foregroundMark x1="6000" y1="40500" x2="6000" y2="40500"/>
                        <a14:foregroundMark x1="1500" y1="39500" x2="1500" y2="39500"/>
                        <a14:foregroundMark x1="23500" y1="39500" x2="23500" y2="39500"/>
                        <a14:foregroundMark x1="21000" y1="55500" x2="21000" y2="55500"/>
                        <a14:foregroundMark x1="31500" y1="61500" x2="31500" y2="61500"/>
                        <a14:foregroundMark x1="41500" y1="60000" x2="41500" y2="60000"/>
                        <a14:foregroundMark x1="61000" y1="60000" x2="61000" y2="60000"/>
                        <a14:foregroundMark x1="60500" y1="49000" x2="60500" y2="49000"/>
                        <a14:foregroundMark x1="66500" y1="57000" x2="66500" y2="57000"/>
                        <a14:foregroundMark x1="78000" y1="59000" x2="78000" y2="59000"/>
                        <a14:foregroundMark x1="93500" y1="57000" x2="93500" y2="57000"/>
                        <a14:foregroundMark x1="92500" y1="61500" x2="92500" y2="61500"/>
                        <a14:foregroundMark x1="97000" y1="59000" x2="97000" y2="59000"/>
                      </a14:backgroundRemoval>
                    </a14:imgEffect>
                  </a14:imgLayer>
                </a14:imgProps>
              </a:ext>
              <a:ext uri="{28A0092B-C50C-407E-A947-70E740481C1C}">
                <a14:useLocalDpi xmlns:a14="http://schemas.microsoft.com/office/drawing/2010/main" val="0"/>
              </a:ext>
            </a:extLst>
          </a:blip>
          <a:srcRect t="24194" b="24913"/>
          <a:stretch/>
        </p:blipFill>
        <p:spPr bwMode="auto">
          <a:xfrm>
            <a:off x="10890447" y="108178"/>
            <a:ext cx="1197765" cy="609577"/>
          </a:xfrm>
          <a:prstGeom prst="rect">
            <a:avLst/>
          </a:prstGeom>
          <a:noFill/>
          <a:effectLst>
            <a:glow rad="25400">
              <a:srgbClr val="8ECAE6">
                <a:alpha val="31000"/>
              </a:srgbClr>
            </a:glow>
          </a:effectLst>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4A30BED0-4815-F6F8-D22D-B5EE53D0C60E}"/>
              </a:ext>
            </a:extLst>
          </p:cNvPr>
          <p:cNvPicPr>
            <a:picLocks noChangeAspect="1"/>
          </p:cNvPicPr>
          <p:nvPr/>
        </p:nvPicPr>
        <p:blipFill>
          <a:blip r:embed="rId5"/>
          <a:stretch>
            <a:fillRect/>
          </a:stretch>
        </p:blipFill>
        <p:spPr>
          <a:xfrm>
            <a:off x="2939133" y="1504335"/>
            <a:ext cx="6313734" cy="4891550"/>
          </a:xfrm>
          <a:prstGeom prst="rect">
            <a:avLst/>
          </a:prstGeom>
          <a:ln>
            <a:solidFill>
              <a:srgbClr val="FB8500"/>
            </a:solidFill>
          </a:ln>
        </p:spPr>
      </p:pic>
    </p:spTree>
    <p:extLst>
      <p:ext uri="{BB962C8B-B14F-4D97-AF65-F5344CB8AC3E}">
        <p14:creationId xmlns:p14="http://schemas.microsoft.com/office/powerpoint/2010/main" val="31573241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F8A85-B563-45E2-967A-8714968EAF51}"/>
              </a:ext>
            </a:extLst>
          </p:cNvPr>
          <p:cNvSpPr>
            <a:spLocks noGrp="1"/>
          </p:cNvSpPr>
          <p:nvPr>
            <p:ph type="title"/>
          </p:nvPr>
        </p:nvSpPr>
        <p:spPr>
          <a:xfrm>
            <a:off x="1203960" y="205518"/>
            <a:ext cx="9784080" cy="1508760"/>
          </a:xfrm>
        </p:spPr>
        <p:txBody>
          <a:bodyPr/>
          <a:lstStyle/>
          <a:p>
            <a:r>
              <a:rPr lang="en-US" cap="none" dirty="0">
                <a:latin typeface="High Tower Text" panose="02040502050506030303" pitchFamily="18" charset="0"/>
              </a:rPr>
              <a:t>Graphical User Interface</a:t>
            </a:r>
            <a:endParaRPr lang="en-IN" cap="none" dirty="0">
              <a:latin typeface="High Tower Text" panose="02040502050506030303" pitchFamily="18" charset="0"/>
            </a:endParaRPr>
          </a:p>
        </p:txBody>
      </p:sp>
      <p:sp>
        <p:nvSpPr>
          <p:cNvPr id="4" name="Rectangle 3">
            <a:extLst>
              <a:ext uri="{FF2B5EF4-FFF2-40B4-BE49-F238E27FC236}">
                <a16:creationId xmlns:a16="http://schemas.microsoft.com/office/drawing/2014/main" id="{75E0814E-F4C4-4A0F-CD76-6C7497AC8F34}"/>
              </a:ext>
            </a:extLst>
          </p:cNvPr>
          <p:cNvSpPr/>
          <p:nvPr/>
        </p:nvSpPr>
        <p:spPr>
          <a:xfrm>
            <a:off x="0" y="0"/>
            <a:ext cx="806245" cy="6858000"/>
          </a:xfrm>
          <a:prstGeom prst="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rgbClr val="7030A0"/>
              </a:solidFill>
            </a:endParaRPr>
          </a:p>
        </p:txBody>
      </p:sp>
      <p:pic>
        <p:nvPicPr>
          <p:cNvPr id="2050" name="Picture 2" descr="Truminds Software Systems | LinkedIn">
            <a:extLst>
              <a:ext uri="{FF2B5EF4-FFF2-40B4-BE49-F238E27FC236}">
                <a16:creationId xmlns:a16="http://schemas.microsoft.com/office/drawing/2014/main" id="{074CEAAD-016E-FE56-B3FF-512C6E5054DE}"/>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28000" b="69500" l="1500" r="97000">
                        <a14:foregroundMark x1="11000" y1="53000" x2="11000" y2="53000"/>
                        <a14:foregroundMark x1="20000" y1="38500" x2="20000" y2="38500"/>
                        <a14:foregroundMark x1="6000" y1="40500" x2="6000" y2="40500"/>
                        <a14:foregroundMark x1="1500" y1="39500" x2="1500" y2="39500"/>
                        <a14:foregroundMark x1="23500" y1="39500" x2="23500" y2="39500"/>
                        <a14:foregroundMark x1="21000" y1="55500" x2="21000" y2="55500"/>
                        <a14:foregroundMark x1="31500" y1="61500" x2="31500" y2="61500"/>
                        <a14:foregroundMark x1="41500" y1="60000" x2="41500" y2="60000"/>
                        <a14:foregroundMark x1="61000" y1="60000" x2="61000" y2="60000"/>
                        <a14:foregroundMark x1="60500" y1="49000" x2="60500" y2="49000"/>
                        <a14:foregroundMark x1="66500" y1="57000" x2="66500" y2="57000"/>
                        <a14:foregroundMark x1="78000" y1="59000" x2="78000" y2="59000"/>
                        <a14:foregroundMark x1="93500" y1="57000" x2="93500" y2="57000"/>
                        <a14:foregroundMark x1="92500" y1="61500" x2="92500" y2="61500"/>
                        <a14:foregroundMark x1="97000" y1="59000" x2="97000" y2="59000"/>
                      </a14:backgroundRemoval>
                    </a14:imgEffect>
                  </a14:imgLayer>
                </a14:imgProps>
              </a:ext>
              <a:ext uri="{28A0092B-C50C-407E-A947-70E740481C1C}">
                <a14:useLocalDpi xmlns:a14="http://schemas.microsoft.com/office/drawing/2010/main" val="0"/>
              </a:ext>
            </a:extLst>
          </a:blip>
          <a:srcRect t="24194" b="24913"/>
          <a:stretch/>
        </p:blipFill>
        <p:spPr bwMode="auto">
          <a:xfrm>
            <a:off x="10890447" y="108178"/>
            <a:ext cx="1197765" cy="609577"/>
          </a:xfrm>
          <a:prstGeom prst="rect">
            <a:avLst/>
          </a:prstGeom>
          <a:noFill/>
          <a:effectLst>
            <a:glow rad="25400">
              <a:srgbClr val="8ECAE6">
                <a:alpha val="31000"/>
              </a:srgbClr>
            </a:glow>
          </a:effectLst>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6771B09E-DA08-BE8D-2F5C-76B1EE763345}"/>
              </a:ext>
            </a:extLst>
          </p:cNvPr>
          <p:cNvPicPr>
            <a:picLocks noChangeAspect="1"/>
          </p:cNvPicPr>
          <p:nvPr/>
        </p:nvPicPr>
        <p:blipFill>
          <a:blip r:embed="rId5"/>
          <a:stretch>
            <a:fillRect/>
          </a:stretch>
        </p:blipFill>
        <p:spPr>
          <a:xfrm>
            <a:off x="2359743" y="1458794"/>
            <a:ext cx="7472514" cy="4962968"/>
          </a:xfrm>
          <a:prstGeom prst="rect">
            <a:avLst/>
          </a:prstGeom>
          <a:ln>
            <a:solidFill>
              <a:srgbClr val="FB8500"/>
            </a:solidFill>
          </a:ln>
        </p:spPr>
      </p:pic>
    </p:spTree>
    <p:extLst>
      <p:ext uri="{BB962C8B-B14F-4D97-AF65-F5344CB8AC3E}">
        <p14:creationId xmlns:p14="http://schemas.microsoft.com/office/powerpoint/2010/main" val="39674575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F8A85-B563-45E2-967A-8714968EAF51}"/>
              </a:ext>
            </a:extLst>
          </p:cNvPr>
          <p:cNvSpPr>
            <a:spLocks noGrp="1"/>
          </p:cNvSpPr>
          <p:nvPr>
            <p:ph type="title"/>
          </p:nvPr>
        </p:nvSpPr>
        <p:spPr>
          <a:xfrm>
            <a:off x="1203960" y="205518"/>
            <a:ext cx="9784080" cy="1508760"/>
          </a:xfrm>
        </p:spPr>
        <p:txBody>
          <a:bodyPr>
            <a:normAutofit/>
          </a:bodyPr>
          <a:lstStyle/>
          <a:p>
            <a:r>
              <a:rPr lang="en-US" sz="3600" cap="none" dirty="0">
                <a:solidFill>
                  <a:srgbClr val="FB8500"/>
                </a:solidFill>
                <a:latin typeface="High Tower Text" panose="02040502050506030303" pitchFamily="18" charset="0"/>
              </a:rPr>
              <a:t>Is our program producing valid certificates?</a:t>
            </a:r>
            <a:endParaRPr lang="en-IN" sz="3600" cap="none" dirty="0">
              <a:solidFill>
                <a:srgbClr val="FB8500"/>
              </a:solidFill>
              <a:latin typeface="High Tower Text" panose="02040502050506030303" pitchFamily="18" charset="0"/>
            </a:endParaRPr>
          </a:p>
        </p:txBody>
      </p:sp>
      <p:sp>
        <p:nvSpPr>
          <p:cNvPr id="4" name="Rectangle 3">
            <a:extLst>
              <a:ext uri="{FF2B5EF4-FFF2-40B4-BE49-F238E27FC236}">
                <a16:creationId xmlns:a16="http://schemas.microsoft.com/office/drawing/2014/main" id="{75E0814E-F4C4-4A0F-CD76-6C7497AC8F34}"/>
              </a:ext>
            </a:extLst>
          </p:cNvPr>
          <p:cNvSpPr/>
          <p:nvPr/>
        </p:nvSpPr>
        <p:spPr>
          <a:xfrm>
            <a:off x="0" y="0"/>
            <a:ext cx="806245" cy="6858000"/>
          </a:xfrm>
          <a:prstGeom prst="rect">
            <a:avLst/>
          </a:prstGeom>
          <a:solidFill>
            <a:srgbClr val="FFB703"/>
          </a:solidFill>
          <a:ln>
            <a:solidFill>
              <a:srgbClr val="FFB70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rgbClr val="7030A0"/>
              </a:solidFill>
            </a:endParaRPr>
          </a:p>
        </p:txBody>
      </p:sp>
      <p:pic>
        <p:nvPicPr>
          <p:cNvPr id="2050" name="Picture 2" descr="Truminds Software Systems | LinkedIn">
            <a:extLst>
              <a:ext uri="{FF2B5EF4-FFF2-40B4-BE49-F238E27FC236}">
                <a16:creationId xmlns:a16="http://schemas.microsoft.com/office/drawing/2014/main" id="{074CEAAD-016E-FE56-B3FF-512C6E5054DE}"/>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28000" b="69500" l="1500" r="97000">
                        <a14:foregroundMark x1="11000" y1="53000" x2="11000" y2="53000"/>
                        <a14:foregroundMark x1="20000" y1="38500" x2="20000" y2="38500"/>
                        <a14:foregroundMark x1="6000" y1="40500" x2="6000" y2="40500"/>
                        <a14:foregroundMark x1="1500" y1="39500" x2="1500" y2="39500"/>
                        <a14:foregroundMark x1="23500" y1="39500" x2="23500" y2="39500"/>
                        <a14:foregroundMark x1="21000" y1="55500" x2="21000" y2="55500"/>
                        <a14:foregroundMark x1="31500" y1="61500" x2="31500" y2="61500"/>
                        <a14:foregroundMark x1="41500" y1="60000" x2="41500" y2="60000"/>
                        <a14:foregroundMark x1="61000" y1="60000" x2="61000" y2="60000"/>
                        <a14:foregroundMark x1="60500" y1="49000" x2="60500" y2="49000"/>
                        <a14:foregroundMark x1="66500" y1="57000" x2="66500" y2="57000"/>
                        <a14:foregroundMark x1="78000" y1="59000" x2="78000" y2="59000"/>
                        <a14:foregroundMark x1="93500" y1="57000" x2="93500" y2="57000"/>
                        <a14:foregroundMark x1="92500" y1="61500" x2="92500" y2="61500"/>
                        <a14:foregroundMark x1="97000" y1="59000" x2="97000" y2="59000"/>
                      </a14:backgroundRemoval>
                    </a14:imgEffect>
                  </a14:imgLayer>
                </a14:imgProps>
              </a:ext>
              <a:ext uri="{28A0092B-C50C-407E-A947-70E740481C1C}">
                <a14:useLocalDpi xmlns:a14="http://schemas.microsoft.com/office/drawing/2010/main" val="0"/>
              </a:ext>
            </a:extLst>
          </a:blip>
          <a:srcRect t="24194" b="24913"/>
          <a:stretch/>
        </p:blipFill>
        <p:spPr bwMode="auto">
          <a:xfrm>
            <a:off x="10890447" y="108178"/>
            <a:ext cx="1197765" cy="609577"/>
          </a:xfrm>
          <a:prstGeom prst="rect">
            <a:avLst/>
          </a:prstGeom>
          <a:noFill/>
          <a:effectLst>
            <a:glow rad="25400">
              <a:srgbClr val="8ECAE6">
                <a:alpha val="31000"/>
              </a:srgbClr>
            </a:glow>
          </a:effectLst>
          <a:extLst>
            <a:ext uri="{909E8E84-426E-40DD-AFC4-6F175D3DCCD1}">
              <a14:hiddenFill xmlns:a14="http://schemas.microsoft.com/office/drawing/2010/main">
                <a:solidFill>
                  <a:srgbClr val="FFFFFF"/>
                </a:solidFill>
              </a14:hiddenFill>
            </a:ext>
          </a:extLst>
        </p:spPr>
      </p:pic>
      <p:pic>
        <p:nvPicPr>
          <p:cNvPr id="7172" name="Picture 4" descr="Type-safe, TPM Backed TLS">
            <a:extLst>
              <a:ext uri="{FF2B5EF4-FFF2-40B4-BE49-F238E27FC236}">
                <a16:creationId xmlns:a16="http://schemas.microsoft.com/office/drawing/2014/main" id="{57C1ABDB-49AB-F784-A5BC-5A4D05A631D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79542" y="1988573"/>
            <a:ext cx="4872196" cy="3656744"/>
          </a:xfrm>
          <a:prstGeom prst="rect">
            <a:avLst/>
          </a:prstGeom>
          <a:noFill/>
          <a:ln>
            <a:solidFill>
              <a:srgbClr val="023047"/>
            </a:solidFill>
          </a:ln>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01BE82D9-1B7C-8A7B-E602-6A307236C90A}"/>
              </a:ext>
            </a:extLst>
          </p:cNvPr>
          <p:cNvSpPr/>
          <p:nvPr/>
        </p:nvSpPr>
        <p:spPr>
          <a:xfrm>
            <a:off x="3106726" y="3365113"/>
            <a:ext cx="1507144" cy="923330"/>
          </a:xfrm>
          <a:prstGeom prst="rect">
            <a:avLst/>
          </a:prstGeom>
          <a:noFill/>
        </p:spPr>
        <p:txBody>
          <a:bodyPr wrap="none" lIns="91440" tIns="45720" rIns="91440" bIns="45720">
            <a:spAutoFit/>
          </a:bodyPr>
          <a:lstStyle/>
          <a:p>
            <a:pPr algn="ctr"/>
            <a:r>
              <a:rPr lang="en-US" sz="5400" b="1" spc="50" dirty="0">
                <a:ln w="0"/>
                <a:solidFill>
                  <a:schemeClr val="bg2"/>
                </a:solidFill>
                <a:effectLst>
                  <a:innerShdw blurRad="63500" dist="50800" dir="13500000">
                    <a:srgbClr val="000000">
                      <a:alpha val="50000"/>
                    </a:srgbClr>
                  </a:innerShdw>
                </a:effectLst>
              </a:rPr>
              <a:t>TLS</a:t>
            </a:r>
            <a:r>
              <a:rPr lang="en-US" sz="5400" b="0" cap="none" spc="0" dirty="0">
                <a:ln w="0"/>
                <a:solidFill>
                  <a:schemeClr val="accent1"/>
                </a:solidFill>
                <a:effectLst>
                  <a:outerShdw blurRad="38100" dist="25400" dir="5400000" algn="ctr" rotWithShape="0">
                    <a:srgbClr val="6E747A">
                      <a:alpha val="43000"/>
                    </a:srgbClr>
                  </a:outerShdw>
                </a:effectLst>
              </a:rPr>
              <a:t> </a:t>
            </a:r>
          </a:p>
        </p:txBody>
      </p:sp>
      <p:sp>
        <p:nvSpPr>
          <p:cNvPr id="5" name="Isosceles Triangle 4">
            <a:extLst>
              <a:ext uri="{FF2B5EF4-FFF2-40B4-BE49-F238E27FC236}">
                <a16:creationId xmlns:a16="http://schemas.microsoft.com/office/drawing/2014/main" id="{5FB24568-D397-2AB1-9EED-47116392B143}"/>
              </a:ext>
            </a:extLst>
          </p:cNvPr>
          <p:cNvSpPr/>
          <p:nvPr/>
        </p:nvSpPr>
        <p:spPr>
          <a:xfrm rot="16200000">
            <a:off x="3464567" y="3109023"/>
            <a:ext cx="3656744" cy="1415845"/>
          </a:xfrm>
          <a:prstGeom prst="triangle">
            <a:avLst/>
          </a:prstGeom>
          <a:solidFill>
            <a:schemeClr val="accent1">
              <a:lumMod val="40000"/>
              <a:lumOff val="60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9824370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F8A85-B563-45E2-967A-8714968EAF51}"/>
              </a:ext>
            </a:extLst>
          </p:cNvPr>
          <p:cNvSpPr>
            <a:spLocks noGrp="1"/>
          </p:cNvSpPr>
          <p:nvPr>
            <p:ph type="title"/>
          </p:nvPr>
        </p:nvSpPr>
        <p:spPr>
          <a:xfrm>
            <a:off x="1203960" y="205518"/>
            <a:ext cx="9784080" cy="1508760"/>
          </a:xfrm>
        </p:spPr>
        <p:txBody>
          <a:bodyPr>
            <a:normAutofit/>
          </a:bodyPr>
          <a:lstStyle/>
          <a:p>
            <a:r>
              <a:rPr lang="en-US" sz="3600" cap="none" dirty="0">
                <a:solidFill>
                  <a:srgbClr val="FB8500"/>
                </a:solidFill>
                <a:latin typeface="High Tower Text" panose="02040502050506030303" pitchFamily="18" charset="0"/>
              </a:rPr>
              <a:t>Is our program producing valid certificates?</a:t>
            </a:r>
            <a:endParaRPr lang="en-IN" sz="3600" cap="none" dirty="0">
              <a:solidFill>
                <a:srgbClr val="FB8500"/>
              </a:solidFill>
              <a:latin typeface="High Tower Text" panose="02040502050506030303" pitchFamily="18" charset="0"/>
            </a:endParaRPr>
          </a:p>
        </p:txBody>
      </p:sp>
      <p:sp>
        <p:nvSpPr>
          <p:cNvPr id="4" name="Rectangle 3">
            <a:extLst>
              <a:ext uri="{FF2B5EF4-FFF2-40B4-BE49-F238E27FC236}">
                <a16:creationId xmlns:a16="http://schemas.microsoft.com/office/drawing/2014/main" id="{75E0814E-F4C4-4A0F-CD76-6C7497AC8F34}"/>
              </a:ext>
            </a:extLst>
          </p:cNvPr>
          <p:cNvSpPr/>
          <p:nvPr/>
        </p:nvSpPr>
        <p:spPr>
          <a:xfrm>
            <a:off x="0" y="0"/>
            <a:ext cx="806245" cy="6858000"/>
          </a:xfrm>
          <a:prstGeom prst="rect">
            <a:avLst/>
          </a:prstGeom>
          <a:solidFill>
            <a:srgbClr val="FFB703"/>
          </a:solidFill>
          <a:ln>
            <a:solidFill>
              <a:srgbClr val="FFB70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rgbClr val="7030A0"/>
              </a:solidFill>
            </a:endParaRPr>
          </a:p>
        </p:txBody>
      </p:sp>
      <p:pic>
        <p:nvPicPr>
          <p:cNvPr id="2050" name="Picture 2" descr="Truminds Software Systems | LinkedIn">
            <a:extLst>
              <a:ext uri="{FF2B5EF4-FFF2-40B4-BE49-F238E27FC236}">
                <a16:creationId xmlns:a16="http://schemas.microsoft.com/office/drawing/2014/main" id="{074CEAAD-016E-FE56-B3FF-512C6E5054DE}"/>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28000" b="69500" l="1500" r="97000">
                        <a14:foregroundMark x1="11000" y1="53000" x2="11000" y2="53000"/>
                        <a14:foregroundMark x1="20000" y1="38500" x2="20000" y2="38500"/>
                        <a14:foregroundMark x1="6000" y1="40500" x2="6000" y2="40500"/>
                        <a14:foregroundMark x1="1500" y1="39500" x2="1500" y2="39500"/>
                        <a14:foregroundMark x1="23500" y1="39500" x2="23500" y2="39500"/>
                        <a14:foregroundMark x1="21000" y1="55500" x2="21000" y2="55500"/>
                        <a14:foregroundMark x1="31500" y1="61500" x2="31500" y2="61500"/>
                        <a14:foregroundMark x1="41500" y1="60000" x2="41500" y2="60000"/>
                        <a14:foregroundMark x1="61000" y1="60000" x2="61000" y2="60000"/>
                        <a14:foregroundMark x1="60500" y1="49000" x2="60500" y2="49000"/>
                        <a14:foregroundMark x1="66500" y1="57000" x2="66500" y2="57000"/>
                        <a14:foregroundMark x1="78000" y1="59000" x2="78000" y2="59000"/>
                        <a14:foregroundMark x1="93500" y1="57000" x2="93500" y2="57000"/>
                        <a14:foregroundMark x1="92500" y1="61500" x2="92500" y2="61500"/>
                        <a14:foregroundMark x1="97000" y1="59000" x2="97000" y2="59000"/>
                      </a14:backgroundRemoval>
                    </a14:imgEffect>
                  </a14:imgLayer>
                </a14:imgProps>
              </a:ext>
              <a:ext uri="{28A0092B-C50C-407E-A947-70E740481C1C}">
                <a14:useLocalDpi xmlns:a14="http://schemas.microsoft.com/office/drawing/2010/main" val="0"/>
              </a:ext>
            </a:extLst>
          </a:blip>
          <a:srcRect t="24194" b="24913"/>
          <a:stretch/>
        </p:blipFill>
        <p:spPr bwMode="auto">
          <a:xfrm>
            <a:off x="10890447" y="108178"/>
            <a:ext cx="1197765" cy="609577"/>
          </a:xfrm>
          <a:prstGeom prst="rect">
            <a:avLst/>
          </a:prstGeom>
          <a:noFill/>
          <a:effectLst>
            <a:glow rad="25400">
              <a:srgbClr val="8ECAE6">
                <a:alpha val="31000"/>
              </a:srgbClr>
            </a:glow>
          </a:effectLst>
          <a:extLst>
            <a:ext uri="{909E8E84-426E-40DD-AFC4-6F175D3DCCD1}">
              <a14:hiddenFill xmlns:a14="http://schemas.microsoft.com/office/drawing/2010/main">
                <a:solidFill>
                  <a:srgbClr val="FFFFFF"/>
                </a:solidFill>
              </a14:hiddenFill>
            </a:ext>
          </a:extLst>
        </p:spPr>
      </p:pic>
      <p:pic>
        <p:nvPicPr>
          <p:cNvPr id="8194" name="Picture 2" descr="tls1.3 - Filter TLS 1.3 traffic in Wireshark - Stack Overflow">
            <a:extLst>
              <a:ext uri="{FF2B5EF4-FFF2-40B4-BE49-F238E27FC236}">
                <a16:creationId xmlns:a16="http://schemas.microsoft.com/office/drawing/2014/main" id="{55AB78C4-14B5-C6CF-BAA4-30EF7590CAF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93424" y="2219325"/>
            <a:ext cx="7277100" cy="2419350"/>
          </a:xfrm>
          <a:prstGeom prst="rect">
            <a:avLst/>
          </a:prstGeom>
          <a:noFill/>
          <a:ln>
            <a:solidFill>
              <a:srgbClr val="002060"/>
            </a:solidFill>
          </a:ln>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05437D72-9645-7090-AE19-DF8983659A9E}"/>
              </a:ext>
            </a:extLst>
          </p:cNvPr>
          <p:cNvSpPr txBox="1"/>
          <p:nvPr/>
        </p:nvSpPr>
        <p:spPr>
          <a:xfrm>
            <a:off x="5329083" y="4886632"/>
            <a:ext cx="2005781" cy="369332"/>
          </a:xfrm>
          <a:prstGeom prst="rect">
            <a:avLst/>
          </a:prstGeom>
          <a:noFill/>
        </p:spPr>
        <p:txBody>
          <a:bodyPr wrap="square" rtlCol="0">
            <a:spAutoFit/>
          </a:bodyPr>
          <a:lstStyle/>
          <a:p>
            <a:r>
              <a:rPr lang="en-US" dirty="0">
                <a:solidFill>
                  <a:srgbClr val="023047"/>
                </a:solidFill>
              </a:rPr>
              <a:t>Wireshark Capture</a:t>
            </a:r>
            <a:endParaRPr lang="en-IN" dirty="0">
              <a:solidFill>
                <a:srgbClr val="023047"/>
              </a:solidFill>
            </a:endParaRPr>
          </a:p>
        </p:txBody>
      </p:sp>
    </p:spTree>
    <p:extLst>
      <p:ext uri="{BB962C8B-B14F-4D97-AF65-F5344CB8AC3E}">
        <p14:creationId xmlns:p14="http://schemas.microsoft.com/office/powerpoint/2010/main" val="16770082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F8A85-B563-45E2-967A-8714968EAF51}"/>
              </a:ext>
            </a:extLst>
          </p:cNvPr>
          <p:cNvSpPr>
            <a:spLocks noGrp="1"/>
          </p:cNvSpPr>
          <p:nvPr>
            <p:ph type="title"/>
          </p:nvPr>
        </p:nvSpPr>
        <p:spPr>
          <a:xfrm>
            <a:off x="1203960" y="244847"/>
            <a:ext cx="9784080" cy="1508760"/>
          </a:xfrm>
        </p:spPr>
        <p:txBody>
          <a:bodyPr/>
          <a:lstStyle/>
          <a:p>
            <a:r>
              <a:rPr lang="en-US" cap="none" dirty="0">
                <a:solidFill>
                  <a:srgbClr val="FB8500"/>
                </a:solidFill>
                <a:latin typeface="High Tower Text" panose="02040502050506030303" pitchFamily="18" charset="0"/>
              </a:rPr>
              <a:t>Summary</a:t>
            </a:r>
            <a:endParaRPr lang="en-IN" cap="none" dirty="0">
              <a:solidFill>
                <a:srgbClr val="FB8500"/>
              </a:solidFill>
              <a:latin typeface="High Tower Text" panose="02040502050506030303" pitchFamily="18" charset="0"/>
            </a:endParaRPr>
          </a:p>
        </p:txBody>
      </p:sp>
      <p:sp>
        <p:nvSpPr>
          <p:cNvPr id="4" name="Rectangle 3">
            <a:extLst>
              <a:ext uri="{FF2B5EF4-FFF2-40B4-BE49-F238E27FC236}">
                <a16:creationId xmlns:a16="http://schemas.microsoft.com/office/drawing/2014/main" id="{75E0814E-F4C4-4A0F-CD76-6C7497AC8F34}"/>
              </a:ext>
            </a:extLst>
          </p:cNvPr>
          <p:cNvSpPr/>
          <p:nvPr/>
        </p:nvSpPr>
        <p:spPr>
          <a:xfrm>
            <a:off x="0" y="0"/>
            <a:ext cx="806245" cy="6858000"/>
          </a:xfrm>
          <a:prstGeom prst="rect">
            <a:avLst/>
          </a:prstGeom>
          <a:solidFill>
            <a:srgbClr val="219EBC"/>
          </a:solidFill>
          <a:ln>
            <a:solidFill>
              <a:srgbClr val="219E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rgbClr val="219EBC"/>
              </a:solidFill>
            </a:endParaRPr>
          </a:p>
        </p:txBody>
      </p:sp>
      <p:pic>
        <p:nvPicPr>
          <p:cNvPr id="2050" name="Picture 2" descr="Truminds Software Systems | LinkedIn">
            <a:extLst>
              <a:ext uri="{FF2B5EF4-FFF2-40B4-BE49-F238E27FC236}">
                <a16:creationId xmlns:a16="http://schemas.microsoft.com/office/drawing/2014/main" id="{074CEAAD-016E-FE56-B3FF-512C6E5054DE}"/>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28000" b="69500" l="1500" r="97000">
                        <a14:foregroundMark x1="11000" y1="53000" x2="11000" y2="53000"/>
                        <a14:foregroundMark x1="20000" y1="38500" x2="20000" y2="38500"/>
                        <a14:foregroundMark x1="6000" y1="40500" x2="6000" y2="40500"/>
                        <a14:foregroundMark x1="1500" y1="39500" x2="1500" y2="39500"/>
                        <a14:foregroundMark x1="23500" y1="39500" x2="23500" y2="39500"/>
                        <a14:foregroundMark x1="21000" y1="55500" x2="21000" y2="55500"/>
                        <a14:foregroundMark x1="31500" y1="61500" x2="31500" y2="61500"/>
                        <a14:foregroundMark x1="41500" y1="60000" x2="41500" y2="60000"/>
                        <a14:foregroundMark x1="61000" y1="60000" x2="61000" y2="60000"/>
                        <a14:foregroundMark x1="60500" y1="49000" x2="60500" y2="49000"/>
                        <a14:foregroundMark x1="66500" y1="57000" x2="66500" y2="57000"/>
                        <a14:foregroundMark x1="78000" y1="59000" x2="78000" y2="59000"/>
                        <a14:foregroundMark x1="93500" y1="57000" x2="93500" y2="57000"/>
                        <a14:foregroundMark x1="92500" y1="61500" x2="92500" y2="61500"/>
                        <a14:foregroundMark x1="97000" y1="59000" x2="97000" y2="59000"/>
                      </a14:backgroundRemoval>
                    </a14:imgEffect>
                  </a14:imgLayer>
                </a14:imgProps>
              </a:ext>
              <a:ext uri="{28A0092B-C50C-407E-A947-70E740481C1C}">
                <a14:useLocalDpi xmlns:a14="http://schemas.microsoft.com/office/drawing/2010/main" val="0"/>
              </a:ext>
            </a:extLst>
          </a:blip>
          <a:srcRect t="24194" b="24913"/>
          <a:stretch/>
        </p:blipFill>
        <p:spPr bwMode="auto">
          <a:xfrm>
            <a:off x="10890447" y="108178"/>
            <a:ext cx="1197765" cy="609577"/>
          </a:xfrm>
          <a:prstGeom prst="rect">
            <a:avLst/>
          </a:prstGeom>
          <a:noFill/>
          <a:effectLst>
            <a:glow rad="25400">
              <a:srgbClr val="8ECAE6">
                <a:alpha val="31000"/>
              </a:srgbClr>
            </a:glow>
          </a:effectLst>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68B74E7-DE5D-0089-8EBD-1510453EE7F3}"/>
              </a:ext>
            </a:extLst>
          </p:cNvPr>
          <p:cNvSpPr txBox="1"/>
          <p:nvPr/>
        </p:nvSpPr>
        <p:spPr>
          <a:xfrm>
            <a:off x="1396181" y="2376482"/>
            <a:ext cx="8052619" cy="3508653"/>
          </a:xfrm>
          <a:prstGeom prst="rect">
            <a:avLst/>
          </a:prstGeom>
          <a:noFill/>
        </p:spPr>
        <p:txBody>
          <a:bodyPr wrap="square" rtlCol="0">
            <a:spAutoFit/>
          </a:bodyPr>
          <a:lstStyle/>
          <a:p>
            <a:pPr marL="285750" indent="-285750">
              <a:buFont typeface="Wingdings" panose="05000000000000000000" pitchFamily="2" charset="2"/>
              <a:buChar char="§"/>
            </a:pPr>
            <a:r>
              <a:rPr lang="en-US" sz="2400" dirty="0">
                <a:solidFill>
                  <a:srgbClr val="023047"/>
                </a:solidFill>
              </a:rPr>
              <a:t>Concept of Digital Certificates</a:t>
            </a:r>
          </a:p>
          <a:p>
            <a:pPr marL="285750" indent="-285750">
              <a:buFont typeface="Wingdings" panose="05000000000000000000" pitchFamily="2" charset="2"/>
              <a:buChar char="§"/>
            </a:pPr>
            <a:r>
              <a:rPr lang="en-US" sz="2400" dirty="0">
                <a:solidFill>
                  <a:srgbClr val="023047"/>
                </a:solidFill>
              </a:rPr>
              <a:t>Requirements</a:t>
            </a:r>
          </a:p>
          <a:p>
            <a:pPr marL="285750" indent="-285750">
              <a:buFont typeface="Wingdings" panose="05000000000000000000" pitchFamily="2" charset="2"/>
              <a:buChar char="§"/>
            </a:pPr>
            <a:r>
              <a:rPr lang="en-US" sz="2400" dirty="0">
                <a:solidFill>
                  <a:srgbClr val="023047"/>
                </a:solidFill>
              </a:rPr>
              <a:t>Action Plan – Agile Methodology &amp; Progress Tracking</a:t>
            </a:r>
          </a:p>
          <a:p>
            <a:pPr marL="285750" indent="-285750">
              <a:buFont typeface="Wingdings" panose="05000000000000000000" pitchFamily="2" charset="2"/>
              <a:buChar char="§"/>
            </a:pPr>
            <a:r>
              <a:rPr lang="en-US" sz="2400" dirty="0">
                <a:solidFill>
                  <a:srgbClr val="023047"/>
                </a:solidFill>
              </a:rPr>
              <a:t>Architecture</a:t>
            </a:r>
          </a:p>
          <a:p>
            <a:pPr marL="285750" indent="-285750">
              <a:buFont typeface="Wingdings" panose="05000000000000000000" pitchFamily="2" charset="2"/>
              <a:buChar char="§"/>
            </a:pPr>
            <a:r>
              <a:rPr lang="en-US" sz="2400" dirty="0">
                <a:solidFill>
                  <a:srgbClr val="023047"/>
                </a:solidFill>
              </a:rPr>
              <a:t>Implementation</a:t>
            </a:r>
          </a:p>
          <a:p>
            <a:pPr marL="285750" indent="-285750">
              <a:buFont typeface="Wingdings" panose="05000000000000000000" pitchFamily="2" charset="2"/>
              <a:buChar char="§"/>
            </a:pPr>
            <a:r>
              <a:rPr lang="en-US" sz="2400" dirty="0">
                <a:solidFill>
                  <a:srgbClr val="023047"/>
                </a:solidFill>
              </a:rPr>
              <a:t>Results &amp; Features</a:t>
            </a:r>
          </a:p>
          <a:p>
            <a:pPr marL="285750" indent="-285750">
              <a:buFont typeface="Wingdings" panose="05000000000000000000" pitchFamily="2" charset="2"/>
              <a:buChar char="§"/>
            </a:pPr>
            <a:r>
              <a:rPr lang="en-US" sz="2400" dirty="0">
                <a:solidFill>
                  <a:srgbClr val="023047"/>
                </a:solidFill>
              </a:rPr>
              <a:t>Testing</a:t>
            </a:r>
          </a:p>
          <a:p>
            <a:pPr marL="285750" indent="-285750">
              <a:buFont typeface="Wingdings" panose="05000000000000000000" pitchFamily="2" charset="2"/>
              <a:buChar char="§"/>
            </a:pPr>
            <a:endParaRPr lang="en-US" dirty="0">
              <a:solidFill>
                <a:srgbClr val="023047"/>
              </a:solidFill>
            </a:endParaRPr>
          </a:p>
          <a:p>
            <a:pPr marL="285750" indent="-285750">
              <a:buFont typeface="Wingdings" panose="05000000000000000000" pitchFamily="2" charset="2"/>
              <a:buChar char="§"/>
            </a:pPr>
            <a:endParaRPr lang="en-US" dirty="0">
              <a:solidFill>
                <a:srgbClr val="023047"/>
              </a:solidFill>
            </a:endParaRPr>
          </a:p>
          <a:p>
            <a:pPr marL="285750" indent="-285750">
              <a:buFont typeface="Wingdings" panose="05000000000000000000" pitchFamily="2" charset="2"/>
              <a:buChar char="§"/>
            </a:pPr>
            <a:endParaRPr lang="en-IN" dirty="0">
              <a:solidFill>
                <a:srgbClr val="023047"/>
              </a:solidFill>
            </a:endParaRPr>
          </a:p>
        </p:txBody>
      </p:sp>
    </p:spTree>
    <p:extLst>
      <p:ext uri="{BB962C8B-B14F-4D97-AF65-F5344CB8AC3E}">
        <p14:creationId xmlns:p14="http://schemas.microsoft.com/office/powerpoint/2010/main" val="24606801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219EB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5EB71-731A-0039-875B-4C692E6BED02}"/>
              </a:ext>
            </a:extLst>
          </p:cNvPr>
          <p:cNvSpPr>
            <a:spLocks noGrp="1"/>
          </p:cNvSpPr>
          <p:nvPr>
            <p:ph type="ctrTitle"/>
          </p:nvPr>
        </p:nvSpPr>
        <p:spPr>
          <a:xfrm>
            <a:off x="1524000" y="1854075"/>
            <a:ext cx="9144000" cy="2387600"/>
          </a:xfrm>
        </p:spPr>
        <p:txBody>
          <a:bodyPr/>
          <a:lstStyle/>
          <a:p>
            <a:r>
              <a:rPr lang="en-US" b="1" cap="none" dirty="0">
                <a:solidFill>
                  <a:srgbClr val="FB8500"/>
                </a:solidFill>
                <a:latin typeface="High Tower Text" panose="02040502050506030303" pitchFamily="18" charset="0"/>
              </a:rPr>
              <a:t>Certificate Generator</a:t>
            </a:r>
            <a:endParaRPr lang="en-IN" b="1" cap="none" dirty="0">
              <a:solidFill>
                <a:srgbClr val="FB8500"/>
              </a:solidFill>
              <a:latin typeface="High Tower Text" panose="02040502050506030303" pitchFamily="18" charset="0"/>
            </a:endParaRPr>
          </a:p>
        </p:txBody>
      </p:sp>
      <p:sp>
        <p:nvSpPr>
          <p:cNvPr id="4" name="Subtitle 2">
            <a:extLst>
              <a:ext uri="{FF2B5EF4-FFF2-40B4-BE49-F238E27FC236}">
                <a16:creationId xmlns:a16="http://schemas.microsoft.com/office/drawing/2014/main" id="{81CEDFE2-DBF6-A731-B91B-230C4F2C5B87}"/>
              </a:ext>
            </a:extLst>
          </p:cNvPr>
          <p:cNvSpPr txBox="1">
            <a:spLocks/>
          </p:cNvSpPr>
          <p:nvPr/>
        </p:nvSpPr>
        <p:spPr>
          <a:xfrm>
            <a:off x="174700" y="5425069"/>
            <a:ext cx="4004009" cy="1321435"/>
          </a:xfrm>
          <a:prstGeom prst="rect">
            <a:avLst/>
          </a:prstGeom>
        </p:spPr>
        <p:txBody>
          <a:bodyPr vert="horz" lIns="91440" tIns="45720" rIns="91440" bIns="4572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2200" dirty="0"/>
              <a:t>Internal Supervisor</a:t>
            </a:r>
          </a:p>
          <a:p>
            <a:pPr algn="l">
              <a:lnSpc>
                <a:spcPct val="110000"/>
              </a:lnSpc>
            </a:pPr>
            <a:r>
              <a:rPr lang="en-US" sz="2200" b="1" dirty="0"/>
              <a:t>Dr. Sanjay Sharma</a:t>
            </a:r>
          </a:p>
          <a:p>
            <a:pPr algn="l">
              <a:spcBef>
                <a:spcPts val="0"/>
              </a:spcBef>
            </a:pPr>
            <a:r>
              <a:rPr lang="en-IN" sz="1600" dirty="0"/>
              <a:t>Professor</a:t>
            </a:r>
          </a:p>
          <a:p>
            <a:pPr algn="l">
              <a:spcBef>
                <a:spcPts val="0"/>
              </a:spcBef>
            </a:pPr>
            <a:r>
              <a:rPr lang="en-IN" sz="1600" dirty="0"/>
              <a:t>Maulana Azad National Institute of Technology</a:t>
            </a:r>
          </a:p>
          <a:p>
            <a:pPr algn="l">
              <a:spcBef>
                <a:spcPts val="0"/>
              </a:spcBef>
            </a:pPr>
            <a:r>
              <a:rPr lang="en-IN" sz="1600" dirty="0"/>
              <a:t>Bhopal</a:t>
            </a:r>
          </a:p>
        </p:txBody>
      </p:sp>
      <p:sp>
        <p:nvSpPr>
          <p:cNvPr id="8" name="Rectangle 7">
            <a:extLst>
              <a:ext uri="{FF2B5EF4-FFF2-40B4-BE49-F238E27FC236}">
                <a16:creationId xmlns:a16="http://schemas.microsoft.com/office/drawing/2014/main" id="{C6581D3D-B79A-0EE9-C778-EB5CBF986067}"/>
              </a:ext>
            </a:extLst>
          </p:cNvPr>
          <p:cNvSpPr/>
          <p:nvPr/>
        </p:nvSpPr>
        <p:spPr>
          <a:xfrm>
            <a:off x="0" y="2018448"/>
            <a:ext cx="12192000" cy="94006"/>
          </a:xfrm>
          <a:prstGeom prst="rect">
            <a:avLst/>
          </a:prstGeom>
          <a:solidFill>
            <a:srgbClr val="0230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246A89CE-61F7-C954-5760-D4564EB5308A}"/>
              </a:ext>
            </a:extLst>
          </p:cNvPr>
          <p:cNvSpPr/>
          <p:nvPr/>
        </p:nvSpPr>
        <p:spPr>
          <a:xfrm>
            <a:off x="0" y="3857150"/>
            <a:ext cx="12192000" cy="94006"/>
          </a:xfrm>
          <a:prstGeom prst="rect">
            <a:avLst/>
          </a:prstGeom>
          <a:solidFill>
            <a:srgbClr val="0230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6" name="Picture 2" descr="Maulana Azad National Institute of Technology - Wikipedia">
            <a:extLst>
              <a:ext uri="{FF2B5EF4-FFF2-40B4-BE49-F238E27FC236}">
                <a16:creationId xmlns:a16="http://schemas.microsoft.com/office/drawing/2014/main" id="{441C09D3-0D5F-4B3C-B14F-B7FA85DE95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702" y="111496"/>
            <a:ext cx="1683595" cy="1776823"/>
          </a:xfrm>
          <a:prstGeom prst="rect">
            <a:avLst/>
          </a:prstGeom>
          <a:noFill/>
          <a:extLst>
            <a:ext uri="{909E8E84-426E-40DD-AFC4-6F175D3DCCD1}">
              <a14:hiddenFill xmlns:a14="http://schemas.microsoft.com/office/drawing/2010/main">
                <a:solidFill>
                  <a:srgbClr val="FFFFFF"/>
                </a:solidFill>
              </a14:hiddenFill>
            </a:ext>
          </a:extLst>
        </p:spPr>
      </p:pic>
      <p:sp>
        <p:nvSpPr>
          <p:cNvPr id="13" name="Subtitle 2">
            <a:extLst>
              <a:ext uri="{FF2B5EF4-FFF2-40B4-BE49-F238E27FC236}">
                <a16:creationId xmlns:a16="http://schemas.microsoft.com/office/drawing/2014/main" id="{CC6BFFFB-8EF1-ACF1-93F5-3207A066B11C}"/>
              </a:ext>
            </a:extLst>
          </p:cNvPr>
          <p:cNvSpPr txBox="1">
            <a:spLocks/>
          </p:cNvSpPr>
          <p:nvPr/>
        </p:nvSpPr>
        <p:spPr>
          <a:xfrm>
            <a:off x="9547123" y="527251"/>
            <a:ext cx="2470175" cy="1150374"/>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spcBef>
                <a:spcPts val="500"/>
              </a:spcBef>
            </a:pPr>
            <a:r>
              <a:rPr lang="en-US" sz="2000" dirty="0">
                <a:latin typeface="+mj-lt"/>
                <a:cs typeface="Times New Roman" panose="02020603050405020304" pitchFamily="18" charset="0"/>
              </a:rPr>
              <a:t>MCA-722</a:t>
            </a:r>
          </a:p>
          <a:p>
            <a:pPr algn="r">
              <a:spcBef>
                <a:spcPts val="500"/>
              </a:spcBef>
            </a:pPr>
            <a:r>
              <a:rPr lang="en-US" sz="2000" dirty="0">
                <a:latin typeface="+mj-lt"/>
                <a:cs typeface="Times New Roman" panose="02020603050405020304" pitchFamily="18" charset="0"/>
              </a:rPr>
              <a:t>Project Presentation</a:t>
            </a:r>
          </a:p>
          <a:p>
            <a:pPr algn="r">
              <a:spcBef>
                <a:spcPts val="500"/>
              </a:spcBef>
            </a:pPr>
            <a:r>
              <a:rPr lang="en-US" sz="2000" b="1" dirty="0">
                <a:latin typeface="+mj-lt"/>
                <a:cs typeface="Times New Roman" panose="02020603050405020304" pitchFamily="18" charset="0"/>
              </a:rPr>
              <a:t>MAY 2022</a:t>
            </a:r>
            <a:endParaRPr lang="en-IN" sz="2000" b="1" dirty="0">
              <a:latin typeface="+mj-lt"/>
              <a:cs typeface="Times New Roman" panose="02020603050405020304" pitchFamily="18" charset="0"/>
            </a:endParaRPr>
          </a:p>
        </p:txBody>
      </p:sp>
      <p:sp>
        <p:nvSpPr>
          <p:cNvPr id="3" name="Subtitle 2">
            <a:extLst>
              <a:ext uri="{FF2B5EF4-FFF2-40B4-BE49-F238E27FC236}">
                <a16:creationId xmlns:a16="http://schemas.microsoft.com/office/drawing/2014/main" id="{E56295D9-4C7C-76A6-7A33-373D08EADE89}"/>
              </a:ext>
            </a:extLst>
          </p:cNvPr>
          <p:cNvSpPr>
            <a:spLocks noGrp="1"/>
          </p:cNvSpPr>
          <p:nvPr>
            <p:ph type="subTitle" idx="1"/>
          </p:nvPr>
        </p:nvSpPr>
        <p:spPr>
          <a:xfrm>
            <a:off x="0" y="3964960"/>
            <a:ext cx="12191999" cy="544099"/>
          </a:xfrm>
          <a:solidFill>
            <a:srgbClr val="023047"/>
          </a:solidFill>
          <a:ln w="28575">
            <a:noFill/>
            <a:prstDash val="dash"/>
          </a:ln>
        </p:spPr>
        <p:txBody>
          <a:bodyPr anchor="ctr">
            <a:normAutofit/>
          </a:bodyPr>
          <a:lstStyle/>
          <a:p>
            <a:r>
              <a:rPr lang="en-US" sz="2400" b="1" dirty="0">
                <a:solidFill>
                  <a:srgbClr val="FFB703"/>
                </a:solidFill>
                <a:latin typeface="+mj-lt"/>
              </a:rPr>
              <a:t>Utkarsh Gupta (192120009)</a:t>
            </a:r>
            <a:endParaRPr lang="en-IN" sz="2400" b="1" dirty="0">
              <a:solidFill>
                <a:srgbClr val="FFB703"/>
              </a:solidFill>
              <a:latin typeface="+mj-lt"/>
            </a:endParaRPr>
          </a:p>
        </p:txBody>
      </p:sp>
      <p:sp>
        <p:nvSpPr>
          <p:cNvPr id="14" name="Subtitle 2">
            <a:extLst>
              <a:ext uri="{FF2B5EF4-FFF2-40B4-BE49-F238E27FC236}">
                <a16:creationId xmlns:a16="http://schemas.microsoft.com/office/drawing/2014/main" id="{8A99DBCF-0F80-59D4-0548-30D9D79D1AAA}"/>
              </a:ext>
            </a:extLst>
          </p:cNvPr>
          <p:cNvSpPr txBox="1">
            <a:spLocks/>
          </p:cNvSpPr>
          <p:nvPr/>
        </p:nvSpPr>
        <p:spPr>
          <a:xfrm>
            <a:off x="8013293" y="5425068"/>
            <a:ext cx="4004009" cy="1321435"/>
          </a:xfrm>
          <a:prstGeom prst="rect">
            <a:avLst/>
          </a:prstGeom>
        </p:spPr>
        <p:txBody>
          <a:bodyPr vert="horz" lIns="91440" tIns="45720" rIns="91440" bIns="4572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sz="2200" dirty="0"/>
              <a:t>External Supervisor</a:t>
            </a:r>
          </a:p>
          <a:p>
            <a:pPr algn="r"/>
            <a:r>
              <a:rPr lang="en-US" sz="2200" b="1" dirty="0"/>
              <a:t>Mr. Pankaj Choudhary</a:t>
            </a:r>
          </a:p>
          <a:p>
            <a:pPr algn="r">
              <a:spcBef>
                <a:spcPts val="0"/>
              </a:spcBef>
            </a:pPr>
            <a:r>
              <a:rPr lang="en-IN" sz="1600" dirty="0"/>
              <a:t>Senior Technical Lead</a:t>
            </a:r>
          </a:p>
          <a:p>
            <a:pPr algn="r">
              <a:spcBef>
                <a:spcPts val="0"/>
              </a:spcBef>
            </a:pPr>
            <a:r>
              <a:rPr lang="en-IN" sz="1600" dirty="0"/>
              <a:t>Truminds Software Systems</a:t>
            </a:r>
          </a:p>
          <a:p>
            <a:pPr algn="r">
              <a:spcBef>
                <a:spcPts val="0"/>
              </a:spcBef>
            </a:pPr>
            <a:r>
              <a:rPr lang="en-IN" sz="1600" dirty="0"/>
              <a:t>Gurugram</a:t>
            </a:r>
          </a:p>
        </p:txBody>
      </p:sp>
    </p:spTree>
    <p:extLst>
      <p:ext uri="{BB962C8B-B14F-4D97-AF65-F5344CB8AC3E}">
        <p14:creationId xmlns:p14="http://schemas.microsoft.com/office/powerpoint/2010/main" val="131352017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anded">
  <a:themeElements>
    <a:clrScheme name="Banded">
      <a:dk1>
        <a:srgbClr val="2C2C2C"/>
      </a:dk1>
      <a:lt1>
        <a:srgbClr val="FFFFFF"/>
      </a:lt1>
      <a:dk2>
        <a:srgbClr val="099BDD"/>
      </a:dk2>
      <a:lt2>
        <a:srgbClr val="F2F2F2"/>
      </a:lt2>
      <a:accent1>
        <a:srgbClr val="FFC000"/>
      </a:accent1>
      <a:accent2>
        <a:srgbClr val="A5D028"/>
      </a:accent2>
      <a:accent3>
        <a:srgbClr val="08CC78"/>
      </a:accent3>
      <a:accent4>
        <a:srgbClr val="F24099"/>
      </a:accent4>
      <a:accent5>
        <a:srgbClr val="828288"/>
      </a:accent5>
      <a:accent6>
        <a:srgbClr val="F56617"/>
      </a:accent6>
      <a:hlink>
        <a:srgbClr val="005DBA"/>
      </a:hlink>
      <a:folHlink>
        <a:srgbClr val="6C606A"/>
      </a:folHlink>
    </a:clrScheme>
    <a:fontScheme name="Banded">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nded">
      <a:fillStyleLst>
        <a:solidFill>
          <a:schemeClr val="phClr"/>
        </a:solidFill>
        <a:gradFill rotWithShape="1">
          <a:gsLst>
            <a:gs pos="0">
              <a:schemeClr val="phClr">
                <a:tint val="65000"/>
                <a:satMod val="120000"/>
                <a:lumMod val="107000"/>
              </a:schemeClr>
            </a:gs>
            <a:gs pos="50000">
              <a:schemeClr val="phClr">
                <a:tint val="70000"/>
                <a:satMod val="124000"/>
                <a:lumMod val="103000"/>
              </a:schemeClr>
            </a:gs>
            <a:gs pos="100000">
              <a:schemeClr val="phClr">
                <a:tint val="85000"/>
                <a:satMod val="120000"/>
                <a:lumMod val="100000"/>
              </a:schemeClr>
            </a:gs>
          </a:gsLst>
          <a:lin ang="5400000" scaled="0"/>
        </a:gradFill>
        <a:gradFill rotWithShape="1">
          <a:gsLst>
            <a:gs pos="0">
              <a:schemeClr val="phClr">
                <a:tint val="85000"/>
                <a:shade val="98000"/>
                <a:satMod val="110000"/>
                <a:lumMod val="103000"/>
              </a:schemeClr>
            </a:gs>
            <a:gs pos="50000">
              <a:schemeClr val="phClr">
                <a:shade val="85000"/>
                <a:satMod val="105000"/>
                <a:lumMod val="100000"/>
              </a:schemeClr>
            </a:gs>
            <a:gs pos="100000">
              <a:schemeClr val="phClr">
                <a:shade val="60000"/>
                <a:satMod val="12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15875" dir="5400000" algn="ctr" rotWithShape="0">
              <a:srgbClr val="000000">
                <a:alpha val="68000"/>
              </a:srgbClr>
            </a:outerShdw>
          </a:effectLst>
        </a:effectStyle>
        <a:effectStyle>
          <a:effectLst>
            <a:outerShdw blurRad="88900" dist="27940" dir="5400000" algn="ctr" rotWithShape="0">
              <a:srgbClr val="000000">
                <a:alpha val="63000"/>
              </a:srgbClr>
            </a:outerShdw>
          </a:effectLst>
        </a:effectStyle>
      </a:effectStyleLst>
      <a:bgFillStyleLst>
        <a:solidFill>
          <a:schemeClr val="phClr"/>
        </a:solidFill>
        <a:blipFill rotWithShape="1">
          <a:blip xmlns:r="http://schemas.openxmlformats.org/officeDocument/2006/relationships" r:embed="rId1">
            <a:duotone>
              <a:schemeClr val="phClr"/>
              <a:schemeClr val="phClr">
                <a:shade val="91000"/>
                <a:satMod val="105000"/>
              </a:schemeClr>
            </a:duotone>
          </a:blip>
          <a:tile tx="0" ty="0" sx="100000" sy="100000" flip="none" algn="tl"/>
        </a:blipFill>
        <a:gradFill rotWithShape="1">
          <a:gsLst>
            <a:gs pos="0">
              <a:schemeClr val="phClr">
                <a:tint val="100000"/>
                <a:shade val="0"/>
                <a:satMod val="100000"/>
              </a:schemeClr>
            </a:gs>
            <a:gs pos="100000">
              <a:schemeClr val="phClr">
                <a:shade val="10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Banded" id="{98DFF888-2449-4D28-977C-6306C017633E}" vid="{9792607F-9579-4224-82FF-9C88C3E1E53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TM03090430[[fn=Banded]]</Template>
  <TotalTime>792</TotalTime>
  <Words>1980</Words>
  <Application>Microsoft Office PowerPoint</Application>
  <PresentationFormat>Widescreen</PresentationFormat>
  <Paragraphs>256</Paragraphs>
  <Slides>29</Slides>
  <Notes>29</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29</vt:i4>
      </vt:variant>
    </vt:vector>
  </HeadingPairs>
  <TitlesOfParts>
    <vt:vector size="40" baseType="lpstr">
      <vt:lpstr>Arial</vt:lpstr>
      <vt:lpstr>Calibri</vt:lpstr>
      <vt:lpstr>Cascadia Code</vt:lpstr>
      <vt:lpstr>Consolas</vt:lpstr>
      <vt:lpstr>Corbel</vt:lpstr>
      <vt:lpstr>Franklin Gothic Book</vt:lpstr>
      <vt:lpstr>High Tower Text</vt:lpstr>
      <vt:lpstr>Segoe UI Variable Display</vt:lpstr>
      <vt:lpstr>Segoe UI Variable Static Text</vt:lpstr>
      <vt:lpstr>Wingdings</vt:lpstr>
      <vt:lpstr>Banded</vt:lpstr>
      <vt:lpstr>Certificate Generator</vt:lpstr>
      <vt:lpstr>Company Profile</vt:lpstr>
      <vt:lpstr>Digital Certificates</vt:lpstr>
      <vt:lpstr>Digital Certificates</vt:lpstr>
      <vt:lpstr>Digital Certificates</vt:lpstr>
      <vt:lpstr>Digital Certificates</vt:lpstr>
      <vt:lpstr>Digital Certificates</vt:lpstr>
      <vt:lpstr>Digital Certificates</vt:lpstr>
      <vt:lpstr>Digital Certificates</vt:lpstr>
      <vt:lpstr>PowerPoint Presentation</vt:lpstr>
      <vt:lpstr>Certificate Generator</vt:lpstr>
      <vt:lpstr>Requirements</vt:lpstr>
      <vt:lpstr>Action Plan</vt:lpstr>
      <vt:lpstr>Action Plan</vt:lpstr>
      <vt:lpstr>Architecture</vt:lpstr>
      <vt:lpstr>Core Libraries</vt:lpstr>
      <vt:lpstr>Common Modules</vt:lpstr>
      <vt:lpstr>Implementation</vt:lpstr>
      <vt:lpstr>Implementation</vt:lpstr>
      <vt:lpstr>Implementation</vt:lpstr>
      <vt:lpstr>Command-Line Interface</vt:lpstr>
      <vt:lpstr>Command-Line Interface</vt:lpstr>
      <vt:lpstr>Command-Line Interface</vt:lpstr>
      <vt:lpstr>Graphical User Interface</vt:lpstr>
      <vt:lpstr>Graphical User Interface</vt:lpstr>
      <vt:lpstr>Is our program producing valid certificates?</vt:lpstr>
      <vt:lpstr>Is our program producing valid certificates?</vt:lpstr>
      <vt:lpstr>Summary</vt:lpstr>
      <vt:lpstr>Certificate Generator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Certificate Generator</dc:title>
  <dc:creator>Utkarsh Gupta</dc:creator>
  <cp:lastModifiedBy>Utkarsh Gupta</cp:lastModifiedBy>
  <cp:revision>197</cp:revision>
  <cp:lastPrinted>2022-05-05T12:07:38Z</cp:lastPrinted>
  <dcterms:created xsi:type="dcterms:W3CDTF">2022-05-03T04:03:50Z</dcterms:created>
  <dcterms:modified xsi:type="dcterms:W3CDTF">2022-05-07T10:06:15Z</dcterms:modified>
</cp:coreProperties>
</file>